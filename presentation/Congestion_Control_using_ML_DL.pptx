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9.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a059452-4585-5d5f-9c73-30a042c8cb44}">
          <p14:sldIdLst>
            <p14:sldId id="256"/>
            <p14:sldId id="257"/>
            <p14:sldId id="258"/>
            <p14:sldId id="259"/>
            <p14:sldId id="260"/>
          </p14:sldIdLst>
        </p14:section>
        <p14:section name="Stage 1 · Simulator and baselines" id="{0ea0dd65-7496-64b4-ec06-18842c6a09ec}">
          <p14:sldIdLst>
            <p14:sldId id="261"/>
            <p14:sldId id="262"/>
            <p14:sldId id="263"/>
            <p14:sldId id="264"/>
            <p14:sldId id="265"/>
          </p14:sldIdLst>
        </p14:section>
        <p14:section name="Stage 2 · Machine learning" id="{2ec012f4-7561-3f26-f220-46cafc2cc4a5}">
          <p14:sldIdLst>
            <p14:sldId id="266"/>
            <p14:sldId id="267"/>
            <p14:sldId id="268"/>
            <p14:sldId id="269"/>
            <p14:sldId id="270"/>
            <p14:sldId id="271"/>
          </p14:sldIdLst>
        </p14:section>
        <p14:section name="Stage 3 · Deep learning" id="{b4184795-c694-8448-6035-dfbd475149a4}">
          <p14:sldIdLst>
            <p14:sldId id="272"/>
            <p14:sldId id="273"/>
            <p14:sldId id="274"/>
          </p14:sldIdLst>
        </p14:section>
        <p14:section name="Stage 4 · Reinforcement learning" id="{c6bee5d9-73f0-c92a-e474-8ace060ac38b}">
          <p14:sldIdLst>
            <p14:sldId id="275"/>
            <p14:sldId id="276"/>
            <p14:sldId id="277"/>
            <p14:sldId id="278"/>
          </p14:sldIdLst>
        </p14:section>
        <p14:section name="Stage 5 · Comparison" id="{6a9ce0cd-d994-3c95-c220-03afd301ce56}">
          <p14:sldIdLst>
            <p14:sldId id="279"/>
            <p14:sldId id="280"/>
            <p14:sldId id="281"/>
            <p14:sldId id="282"/>
            <p14:sldId id="283"/>
            <p14:sldId id="284"/>
          </p14:sldIdLst>
        </p14:section>
        <p14:section name="Stage 6 · Fixes" id="{f8c24edf-8bc9-a1a3-dbe7-8466f9b2e9c0}">
          <p14:sldIdLst>
            <p14:sldId id="285"/>
            <p14:sldId id="286"/>
            <p14:sldId id="287"/>
          </p14:sldIdLst>
        </p14:section>
        <p14:section name="Stage 7 · Real network" id="{45335aef-fc49-2bd6-0f86-630bef6b5c1c}">
          <p14:sldIdLst>
            <p14:sldId id="288"/>
            <p14:sldId id="289"/>
            <p14:sldId id="290"/>
          </p14:sldIdLst>
        </p14:section>
        <p14:section name="Stage 8 · Learning from Wi-Fi" id="{1f4441e0-8f20-778d-c8da-9aee4ce93a05}">
          <p14:sldIdLst>
            <p14:sldId id="291"/>
            <p14:sldId id="292"/>
          </p14:sldIdLst>
        </p14:section>
        <p14:section name="Conclusion" id="{5f3f447c-7cda-d13e-a7bc-df6986200fd8}">
          <p14:sldIdLst>
            <p14:sldId id="293"/>
            <p14:sldId id="294"/>
            <p14:sldId id="295"/>
            <p14:sldId id="296"/>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Macro F1 on 100 unseen scenarios</a:t>
            </a:r>
          </a:p>
        </c:rich>
      </c:tx>
      <c:layout/>
      <c:overlay val="0"/>
    </c:title>
    <c:autoTitleDeleted val="0"/>
    <c:plotArea>
      <c:layout/>
      <c:barChart>
        <c:barDir val="bar"/>
        <c:grouping val="clustered"/>
        <c:varyColors val="0"/>
        <c:ser>
          <c:idx val="0"/>
          <c:order val="0"/>
          <c:tx>
            <c:strRef>
              <c:f>Sheet1!$B$1</c:f>
              <c:strCache>
                <c:ptCount val="1"/>
                <c:pt idx="0">
                  <c:v>Macro F1 on 100 unseen scenarios</c:v>
                </c:pt>
              </c:strCache>
            </c:strRef>
          </c:tx>
          <c:spPr>
            <a:solidFill>
              <a:srgbClr val="9AA5B1"/>
            </a:solidFill>
            <a:effectLst/>
          </c:spPr>
          <c:invertIfNegative val="0"/>
          <c:dLbls>
            <c:numFmt formatCode="0.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9AA5B1"/>
              </a:solidFill>
              <a:effectLst/>
            </c:spPr>
          </c:dPt>
          <c:dPt>
            <c:idx val="2"/>
            <c:invertIfNegative val="0"/>
            <c:bubble3D val="0"/>
            <c:spPr>
              <a:solidFill>
                <a:srgbClr val="9AA5B1"/>
              </a:solidFill>
              <a:effectLst/>
            </c:spPr>
          </c:dPt>
          <c:dPt>
            <c:idx val="3"/>
            <c:invertIfNegative val="0"/>
            <c:bubble3D val="0"/>
            <c:spPr>
              <a:solidFill>
                <a:srgbClr val="0F766E"/>
              </a:solidFill>
              <a:effectLst/>
            </c:spPr>
          </c:dPt>
          <c:cat>
            <c:multiLvlStrRef>
              <c:f>Sheet1!$A$2:$A$5</c:f>
              <c:multiLvlStrCache>
                <c:ptCount val="4"/>
                <c:lvl>
                  <c:pt idx="0">
                    <c:v>Single-threshold rule</c:v>
                  </c:pt>
                  <c:pt idx="1">
                    <c:v>Logistic regression</c:v>
                  </c:pt>
                  <c:pt idx="2">
                    <c:v>Random forest</c:v>
                  </c:pt>
                  <c:pt idx="3">
                    <c:v>XGBoost (deployed)</c:v>
                  </c:pt>
                </c:lvl>
              </c:multiLvlStrCache>
            </c:multiLvlStrRef>
          </c:cat>
          <c:val>
            <c:numRef>
              <c:f>Sheet1!$B$2:$B$5</c:f>
              <c:numCache>
                <c:formatCode>General</c:formatCode>
                <c:ptCount val="4"/>
                <c:pt idx="0">
                  <c:v>0.852</c:v>
                </c:pt>
                <c:pt idx="1">
                  <c:v>0.848</c:v>
                </c:pt>
                <c:pt idx="2">
                  <c:v>0.883</c:v>
                </c:pt>
                <c:pt idx="3">
                  <c:v>0.882</c:v>
                </c:pt>
              </c:numCache>
            </c:numRef>
          </c:val>
        </c:ser>
        <c:dLbls>
          <c:numFmt formatCode="0.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0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Mean absolute error, RTT 0.5 s ahead (ms)</a:t>
            </a:r>
          </a:p>
        </c:rich>
      </c:tx>
      <c:layout/>
      <c:overlay val="0"/>
    </c:title>
    <c:autoTitleDeleted val="0"/>
    <c:plotArea>
      <c:layout/>
      <c:barChart>
        <c:barDir val="bar"/>
        <c:grouping val="clustered"/>
        <c:varyColors val="0"/>
        <c:ser>
          <c:idx val="0"/>
          <c:order val="0"/>
          <c:tx>
            <c:strRef>
              <c:f>Sheet1!$B$1</c:f>
              <c:strCache>
                <c:ptCount val="1"/>
                <c:pt idx="0">
                  <c:v>Mean absolute error, RTT 0.5 s ahead (ms)</c:v>
                </c:pt>
              </c:strCache>
            </c:strRef>
          </c:tx>
          <c:spPr>
            <a:solidFill>
              <a:srgbClr val="9AA5B1"/>
            </a:solidFill>
            <a:effectLst/>
          </c:spPr>
          <c:invertIfNegative val="0"/>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9AA5B1"/>
              </a:solidFill>
              <a:effectLst/>
            </c:spPr>
          </c:dPt>
          <c:dPt>
            <c:idx val="2"/>
            <c:invertIfNegative val="0"/>
            <c:bubble3D val="0"/>
            <c:spPr>
              <a:solidFill>
                <a:srgbClr val="9AA5B1"/>
              </a:solidFill>
              <a:effectLst/>
            </c:spPr>
          </c:dPt>
          <c:dPt>
            <c:idx val="3"/>
            <c:invertIfNegative val="0"/>
            <c:bubble3D val="0"/>
            <c:spPr>
              <a:solidFill>
                <a:srgbClr val="0F766E"/>
              </a:solidFill>
              <a:effectLst/>
            </c:spPr>
          </c:dPt>
          <c:cat>
            <c:multiLvlStrRef>
              <c:f>Sheet1!$A$2:$A$5</c:f>
              <c:multiLvlStrCache>
                <c:ptCount val="4"/>
                <c:lvl>
                  <c:pt idx="0">
                    <c:v>Last value</c:v>
                  </c:pt>
                  <c:pt idx="1">
                    <c:v>Moving average</c:v>
                  </c:pt>
                  <c:pt idx="2">
                    <c:v>Linear extrapolation</c:v>
                  </c:pt>
                  <c:pt idx="3">
                    <c:v>LSTM</c:v>
                  </c:pt>
                </c:lvl>
              </c:multiLvlStrCache>
            </c:multiLvlStrRef>
          </c:cat>
          <c:val>
            <c:numRef>
              <c:f>Sheet1!$B$2:$B$5</c:f>
              <c:numCache>
                <c:formatCode>General</c:formatCode>
                <c:ptCount val="4"/>
                <c:pt idx="0">
                  <c:v>8.95</c:v>
                </c:pt>
                <c:pt idx="1">
                  <c:v>9.06</c:v>
                </c:pt>
                <c:pt idx="2">
                  <c:v>15.69</c:v>
                </c:pt>
                <c:pt idx="3">
                  <c:v>7.91</c:v>
                </c:pt>
              </c:numCache>
            </c:numRef>
          </c:val>
        </c:ser>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Link utilisation (%)</a:t>
            </a:r>
          </a:p>
        </c:rich>
      </c:tx>
      <c:layout/>
      <c:overlay val="0"/>
    </c:title>
    <c:autoTitleDeleted val="0"/>
    <c:plotArea>
      <c:layout/>
      <c:barChart>
        <c:barDir val="bar"/>
        <c:grouping val="clustered"/>
        <c:varyColors val="0"/>
        <c:ser>
          <c:idx val="0"/>
          <c:order val="0"/>
          <c:tx>
            <c:strRef>
              <c:f>Sheet1!$B$1</c:f>
              <c:strCache>
                <c:ptCount val="1"/>
                <c:pt idx="0">
                  <c:v>Link utilisation (%)</c:v>
                </c:pt>
              </c:strCache>
            </c:strRef>
          </c:tx>
          <c:spPr>
            <a:solidFill>
              <a:srgbClr val="2A78D6"/>
            </a:solidFill>
            <a:effectLst/>
          </c:spPr>
          <c:invertIfNegative val="0"/>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1BAF7A"/>
              </a:solidFill>
              <a:effectLst/>
            </c:spPr>
          </c:dPt>
          <c:dPt>
            <c:idx val="3"/>
            <c:invertIfNegative val="0"/>
            <c:bubble3D val="0"/>
            <c:spPr>
              <a:solidFill>
                <a:srgbClr val="EDA100"/>
              </a:solidFill>
              <a:effectLst/>
            </c:spPr>
          </c:dPt>
          <c:dPt>
            <c:idx val="4"/>
            <c:invertIfNegative val="0"/>
            <c:bubble3D val="0"/>
            <c:spPr>
              <a:solidFill>
                <a:srgbClr val="4A3AA7"/>
              </a:solidFill>
              <a:effectLst/>
            </c:spPr>
          </c:dPt>
          <c:dPt>
            <c:idx val="5"/>
            <c:invertIfNegative val="0"/>
            <c:bubble3D val="0"/>
            <c:spPr>
              <a:solidFill>
                <a:srgbClr val="E87BA4"/>
              </a:solidFill>
              <a:effectLst/>
            </c:spPr>
          </c:dPt>
          <c:cat>
            <c:multiLvlStrRef>
              <c:f>Sheet1!$A$2:$A$7</c:f>
              <c:multiLvlStrCache>
                <c:ptCount val="6"/>
                <c:lvl>
                  <c:pt idx="0">
                    <c:v>Reno</c:v>
                  </c:pt>
                  <c:pt idx="1">
                    <c:v>CUBIC</c:v>
                  </c:pt>
                  <c:pt idx="2">
                    <c:v>BBR</c:v>
                  </c:pt>
                  <c:pt idx="3">
                    <c:v>CUBIC+ML</c:v>
                  </c:pt>
                  <c:pt idx="4">
                    <c:v>PPO</c:v>
                  </c:pt>
                  <c:pt idx="5">
                    <c:v>CUBIC+PPO</c:v>
                  </c:pt>
                </c:lvl>
              </c:multiLvlStrCache>
            </c:multiLvlStrRef>
          </c:cat>
          <c:val>
            <c:numRef>
              <c:f>Sheet1!$B$2:$B$7</c:f>
              <c:numCache>
                <c:formatCode>General</c:formatCode>
                <c:ptCount val="6"/>
                <c:pt idx="0">
                  <c:v>81.6</c:v>
                </c:pt>
                <c:pt idx="1">
                  <c:v>83.2</c:v>
                </c:pt>
                <c:pt idx="2">
                  <c:v>98.3</c:v>
                </c:pt>
                <c:pt idx="3">
                  <c:v>99.5</c:v>
                </c:pt>
                <c:pt idx="4">
                  <c:v>98.8</c:v>
                </c:pt>
                <c:pt idx="5">
                  <c:v>95.8</c:v>
                </c:pt>
              </c:numCache>
            </c:numRef>
          </c:val>
        </c:ser>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Average RTT ÷ base RTT (lower is better)</a:t>
            </a:r>
          </a:p>
        </c:rich>
      </c:tx>
      <c:layout/>
      <c:overlay val="0"/>
    </c:title>
    <c:autoTitleDeleted val="0"/>
    <c:plotArea>
      <c:layout/>
      <c:barChart>
        <c:barDir val="bar"/>
        <c:grouping val="clustered"/>
        <c:varyColors val="0"/>
        <c:ser>
          <c:idx val="0"/>
          <c:order val="0"/>
          <c:tx>
            <c:strRef>
              <c:f>Sheet1!$B$1</c:f>
              <c:strCache>
                <c:ptCount val="1"/>
                <c:pt idx="0">
                  <c:v>Average RTT ÷ base RTT (lower is better)</c:v>
                </c:pt>
              </c:strCache>
            </c:strRef>
          </c:tx>
          <c:spPr>
            <a:solidFill>
              <a:srgbClr val="2A78D6"/>
            </a:solidFill>
            <a:effectLst/>
          </c:spPr>
          <c:invertIfNegative val="0"/>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1BAF7A"/>
              </a:solidFill>
              <a:effectLst/>
            </c:spPr>
          </c:dPt>
          <c:dPt>
            <c:idx val="3"/>
            <c:invertIfNegative val="0"/>
            <c:bubble3D val="0"/>
            <c:spPr>
              <a:solidFill>
                <a:srgbClr val="EDA100"/>
              </a:solidFill>
              <a:effectLst/>
            </c:spPr>
          </c:dPt>
          <c:dPt>
            <c:idx val="4"/>
            <c:invertIfNegative val="0"/>
            <c:bubble3D val="0"/>
            <c:spPr>
              <a:solidFill>
                <a:srgbClr val="4A3AA7"/>
              </a:solidFill>
              <a:effectLst/>
            </c:spPr>
          </c:dPt>
          <c:dPt>
            <c:idx val="5"/>
            <c:invertIfNegative val="0"/>
            <c:bubble3D val="0"/>
            <c:spPr>
              <a:solidFill>
                <a:srgbClr val="E87BA4"/>
              </a:solidFill>
              <a:effectLst/>
            </c:spPr>
          </c:dPt>
          <c:cat>
            <c:multiLvlStrRef>
              <c:f>Sheet1!$A$2:$A$7</c:f>
              <c:multiLvlStrCache>
                <c:ptCount val="6"/>
                <c:lvl>
                  <c:pt idx="0">
                    <c:v>Reno</c:v>
                  </c:pt>
                  <c:pt idx="1">
                    <c:v>CUBIC</c:v>
                  </c:pt>
                  <c:pt idx="2">
                    <c:v>BBR</c:v>
                  </c:pt>
                  <c:pt idx="3">
                    <c:v>CUBIC+ML</c:v>
                  </c:pt>
                  <c:pt idx="4">
                    <c:v>PPO</c:v>
                  </c:pt>
                  <c:pt idx="5">
                    <c:v>CUBIC+PPO</c:v>
                  </c:pt>
                </c:lvl>
              </c:multiLvlStrCache>
            </c:multiLvlStrRef>
          </c:cat>
          <c:val>
            <c:numRef>
              <c:f>Sheet1!$B$2:$B$7</c:f>
              <c:numCache>
                <c:formatCode>General</c:formatCode>
                <c:ptCount val="6"/>
                <c:pt idx="0">
                  <c:v>1.63</c:v>
                </c:pt>
                <c:pt idx="1">
                  <c:v>1.77</c:v>
                </c:pt>
                <c:pt idx="2">
                  <c:v>1.18</c:v>
                </c:pt>
                <c:pt idx="3">
                  <c:v>1.88</c:v>
                </c:pt>
                <c:pt idx="4">
                  <c:v>1.07</c:v>
                </c:pt>
                <c:pt idx="5">
                  <c:v>1.15</c:v>
                </c:pt>
              </c:numCache>
            </c:numRef>
          </c:val>
        </c:ser>
        <c:dLbls>
          <c:numFmt formatCode="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2.2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Classical controllers</a:t>
            </a:r>
          </a:p>
        </c:rich>
      </c:tx>
      <c:layout/>
      <c:overlay val="0"/>
    </c:title>
    <c:autoTitleDeleted val="0"/>
    <c:plotArea>
      <c:layout/>
      <c:lineChart>
        <c:varyColors val="0"/>
        <c:ser>
          <c:idx val="0"/>
          <c:order val="0"/>
          <c:tx>
            <c:strRef>
              <c:f>Sheet1!$B$1</c:f>
              <c:strCache>
                <c:ptCount val="1"/>
                <c:pt idx="0">
                  <c:v>Reno</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Sheet1!$A$2:$A$7</c:f>
              <c:multiLvlStrCache>
                <c:ptCount val="6"/>
                <c:lvl>
                  <c:pt idx="0">
                    <c:v>0%</c:v>
                  </c:pt>
                  <c:pt idx="1">
                    <c:v>0.1%</c:v>
                  </c:pt>
                  <c:pt idx="2">
                    <c:v>0.5%</c:v>
                  </c:pt>
                  <c:pt idx="3">
                    <c:v>1%</c:v>
                  </c:pt>
                  <c:pt idx="4">
                    <c:v>2%</c:v>
                  </c:pt>
                  <c:pt idx="5">
                    <c:v>5%</c:v>
                  </c:pt>
                </c:lvl>
              </c:multiLvlStrCache>
            </c:multiLvlStrRef>
          </c:cat>
          <c:val>
            <c:numRef>
              <c:f>Sheet1!$B$2:$B$7</c:f>
              <c:numCache>
                <c:formatCode>General</c:formatCode>
                <c:ptCount val="6"/>
                <c:pt idx="0">
                  <c:v>10</c:v>
                </c:pt>
                <c:pt idx="1">
                  <c:v>9.28</c:v>
                </c:pt>
                <c:pt idx="2">
                  <c:v>5.58</c:v>
                </c:pt>
                <c:pt idx="3">
                  <c:v>3.88</c:v>
                </c:pt>
                <c:pt idx="4">
                  <c:v>2.76</c:v>
                </c:pt>
                <c:pt idx="5">
                  <c:v>1.7</c:v>
                </c:pt>
              </c:numCache>
            </c:numRef>
          </c:val>
          <c:smooth val="0"/>
        </c:ser>
        <c:ser>
          <c:idx val="1"/>
          <c:order val="1"/>
          <c:tx>
            <c:strRef>
              <c:f>Sheet1!$C$1</c:f>
              <c:strCache>
                <c:ptCount val="1"/>
                <c:pt idx="0">
                  <c:v>CUBIC</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Sheet1!$A$2:$A$7</c:f>
              <c:multiLvlStrCache>
                <c:ptCount val="6"/>
                <c:lvl>
                  <c:pt idx="0">
                    <c:v>0%</c:v>
                  </c:pt>
                  <c:pt idx="1">
                    <c:v>0.1%</c:v>
                  </c:pt>
                  <c:pt idx="2">
                    <c:v>0.5%</c:v>
                  </c:pt>
                  <c:pt idx="3">
                    <c:v>1%</c:v>
                  </c:pt>
                  <c:pt idx="4">
                    <c:v>2%</c:v>
                  </c:pt>
                  <c:pt idx="5">
                    <c:v>5%</c:v>
                  </c:pt>
                </c:lvl>
              </c:multiLvlStrCache>
            </c:multiLvlStrRef>
          </c:cat>
          <c:val>
            <c:numRef>
              <c:f>Sheet1!$C$2:$C$7</c:f>
              <c:numCache>
                <c:formatCode>General</c:formatCode>
                <c:ptCount val="6"/>
                <c:pt idx="0">
                  <c:v>10</c:v>
                </c:pt>
                <c:pt idx="1">
                  <c:v>9.65</c:v>
                </c:pt>
                <c:pt idx="2">
                  <c:v>5.39</c:v>
                </c:pt>
                <c:pt idx="3">
                  <c:v>3.71</c:v>
                </c:pt>
                <c:pt idx="4">
                  <c:v>2.59</c:v>
                </c:pt>
                <c:pt idx="5">
                  <c:v>1.57</c:v>
                </c:pt>
              </c:numCache>
            </c:numRef>
          </c:val>
          <c:smooth val="0"/>
        </c:ser>
        <c:ser>
          <c:idx val="2"/>
          <c:order val="2"/>
          <c:tx>
            <c:strRef>
              <c:f>Sheet1!$D$1</c:f>
              <c:strCache>
                <c:ptCount val="1"/>
                <c:pt idx="0">
                  <c:v>BBR</c:v>
                </c:pt>
              </c:strCache>
            </c:strRef>
          </c:tx>
          <c:spPr>
            <a:solidFill>
              <a:srgbClr val="1BAF7A"/>
            </a:solidFill>
            <a:ln w="31750" cap="flat">
              <a:solidFill>
                <a:srgbClr val="1BAF7A"/>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Sheet1!$A$2:$A$7</c:f>
              <c:multiLvlStrCache>
                <c:ptCount val="6"/>
                <c:lvl>
                  <c:pt idx="0">
                    <c:v>0%</c:v>
                  </c:pt>
                  <c:pt idx="1">
                    <c:v>0.1%</c:v>
                  </c:pt>
                  <c:pt idx="2">
                    <c:v>0.5%</c:v>
                  </c:pt>
                  <c:pt idx="3">
                    <c:v>1%</c:v>
                  </c:pt>
                  <c:pt idx="4">
                    <c:v>2%</c:v>
                  </c:pt>
                  <c:pt idx="5">
                    <c:v>5%</c:v>
                  </c:pt>
                </c:lvl>
              </c:multiLvlStrCache>
            </c:multiLvlStrRef>
          </c:cat>
          <c:val>
            <c:numRef>
              <c:f>Sheet1!$D$2:$D$7</c:f>
              <c:numCache>
                <c:formatCode>General</c:formatCode>
                <c:ptCount val="6"/>
                <c:pt idx="0">
                  <c:v>9.83</c:v>
                </c:pt>
                <c:pt idx="1">
                  <c:v>9.99</c:v>
                </c:pt>
                <c:pt idx="2">
                  <c:v>9.95</c:v>
                </c:pt>
                <c:pt idx="3">
                  <c:v>9.9</c:v>
                </c:pt>
                <c:pt idx="4">
                  <c:v>9.79</c:v>
                </c:pt>
                <c:pt idx="5">
                  <c:v>9.48</c:v>
                </c:pt>
              </c:numCache>
            </c:numRef>
          </c:val>
          <c:smooth val="0"/>
        </c:ser>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4A5568"/>
                    </a:solidFill>
                    <a:latin typeface="+mn-lt"/>
                  </a:defRPr>
                </a:pPr>
                <a:r>
                  <a:rPr sz="1100" b="0" i="0" u="none" strike="noStrike">
                    <a:solidFill>
                      <a:srgbClr val="4A5568"/>
                    </a:solidFill>
                    <a:latin typeface="+mn-lt"/>
                  </a:rPr>
                  <a:t>Random packet loss rate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4A5568"/>
                    </a:solidFill>
                    <a:latin typeface="+mn-lt"/>
                  </a:defRPr>
                </a:pPr>
                <a:r>
                  <a:rPr sz="1100" b="0" i="0" u="none" strike="noStrike">
                    <a:solidFill>
                      <a:srgbClr val="4A5568"/>
                    </a:solidFill>
                    <a:latin typeface="+mn-lt"/>
                  </a:rPr>
                  <a:t>Throughput (Mbps)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Learned controllers</a:t>
            </a:r>
          </a:p>
        </c:rich>
      </c:tx>
      <c:layout/>
      <c:overlay val="0"/>
    </c:title>
    <c:autoTitleDeleted val="0"/>
    <c:plotArea>
      <c:layout/>
      <c:lineChart>
        <c:varyColors val="0"/>
        <c:ser>
          <c:idx val="0"/>
          <c:order val="0"/>
          <c:tx>
            <c:strRef>
              <c:f>Sheet1!$B$1</c:f>
              <c:strCache>
                <c:ptCount val="1"/>
                <c:pt idx="0">
                  <c:v>CUBIC+ML</c:v>
                </c:pt>
              </c:strCache>
            </c:strRef>
          </c:tx>
          <c:spPr>
            <a:solidFill>
              <a:srgbClr val="EDA100"/>
            </a:solidFill>
            <a:ln w="31750" cap="flat">
              <a:solidFill>
                <a:srgbClr val="EDA100"/>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EDA100"/>
              </a:solidFill>
              <a:ln w="9525" cap="flat">
                <a:solidFill>
                  <a:srgbClr val="EDA100"/>
                </a:solidFill>
                <a:prstDash val="solid"/>
                <a:round/>
              </a:ln>
              <a:effectLst/>
            </c:spPr>
          </c:marker>
          <c:cat>
            <c:multiLvlStrRef>
              <c:f>Sheet1!$A$2:$A$7</c:f>
              <c:multiLvlStrCache>
                <c:ptCount val="6"/>
                <c:lvl>
                  <c:pt idx="0">
                    <c:v>0%</c:v>
                  </c:pt>
                  <c:pt idx="1">
                    <c:v>0.1%</c:v>
                  </c:pt>
                  <c:pt idx="2">
                    <c:v>0.5%</c:v>
                  </c:pt>
                  <c:pt idx="3">
                    <c:v>1%</c:v>
                  </c:pt>
                  <c:pt idx="4">
                    <c:v>2%</c:v>
                  </c:pt>
                  <c:pt idx="5">
                    <c:v>5%</c:v>
                  </c:pt>
                </c:lvl>
              </c:multiLvlStrCache>
            </c:multiLvlStrRef>
          </c:cat>
          <c:val>
            <c:numRef>
              <c:f>Sheet1!$B$2:$B$7</c:f>
              <c:numCache>
                <c:formatCode>General</c:formatCode>
                <c:ptCount val="6"/>
                <c:pt idx="0">
                  <c:v>10</c:v>
                </c:pt>
                <c:pt idx="1">
                  <c:v>10</c:v>
                </c:pt>
                <c:pt idx="2">
                  <c:v>10</c:v>
                </c:pt>
                <c:pt idx="3">
                  <c:v>10</c:v>
                </c:pt>
                <c:pt idx="4">
                  <c:v>9.97</c:v>
                </c:pt>
                <c:pt idx="5">
                  <c:v>9.59</c:v>
                </c:pt>
              </c:numCache>
            </c:numRef>
          </c:val>
          <c:smooth val="0"/>
        </c:ser>
        <c:ser>
          <c:idx val="1"/>
          <c:order val="1"/>
          <c:tx>
            <c:strRef>
              <c:f>Sheet1!$C$1</c:f>
              <c:strCache>
                <c:ptCount val="1"/>
                <c:pt idx="0">
                  <c:v>PPO</c:v>
                </c:pt>
              </c:strCache>
            </c:strRef>
          </c:tx>
          <c:spPr>
            <a:solidFill>
              <a:srgbClr val="4A3AA7"/>
            </a:solidFill>
            <a:ln w="31750" cap="flat">
              <a:solidFill>
                <a:srgbClr val="4A3AA7"/>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4A3AA7"/>
              </a:solidFill>
              <a:ln w="9525" cap="flat">
                <a:solidFill>
                  <a:srgbClr val="4A3AA7"/>
                </a:solidFill>
                <a:prstDash val="solid"/>
                <a:round/>
              </a:ln>
              <a:effectLst/>
            </c:spPr>
          </c:marker>
          <c:cat>
            <c:multiLvlStrRef>
              <c:f>Sheet1!$A$2:$A$7</c:f>
              <c:multiLvlStrCache>
                <c:ptCount val="6"/>
                <c:lvl>
                  <c:pt idx="0">
                    <c:v>0%</c:v>
                  </c:pt>
                  <c:pt idx="1">
                    <c:v>0.1%</c:v>
                  </c:pt>
                  <c:pt idx="2">
                    <c:v>0.5%</c:v>
                  </c:pt>
                  <c:pt idx="3">
                    <c:v>1%</c:v>
                  </c:pt>
                  <c:pt idx="4">
                    <c:v>2%</c:v>
                  </c:pt>
                  <c:pt idx="5">
                    <c:v>5%</c:v>
                  </c:pt>
                </c:lvl>
              </c:multiLvlStrCache>
            </c:multiLvlStrRef>
          </c:cat>
          <c:val>
            <c:numRef>
              <c:f>Sheet1!$C$2:$C$7</c:f>
              <c:numCache>
                <c:formatCode>General</c:formatCode>
                <c:ptCount val="6"/>
                <c:pt idx="0">
                  <c:v>10</c:v>
                </c:pt>
                <c:pt idx="1">
                  <c:v>10</c:v>
                </c:pt>
                <c:pt idx="2">
                  <c:v>9.98</c:v>
                </c:pt>
                <c:pt idx="3">
                  <c:v>9.96</c:v>
                </c:pt>
                <c:pt idx="4">
                  <c:v>9.89</c:v>
                </c:pt>
                <c:pt idx="5">
                  <c:v>9.54</c:v>
                </c:pt>
              </c:numCache>
            </c:numRef>
          </c:val>
          <c:smooth val="0"/>
        </c:ser>
        <c:ser>
          <c:idx val="2"/>
          <c:order val="2"/>
          <c:tx>
            <c:strRef>
              <c:f>Sheet1!$D$1</c:f>
              <c:strCache>
                <c:ptCount val="1"/>
                <c:pt idx="0">
                  <c:v>CUBIC+PPO</c:v>
                </c:pt>
              </c:strCache>
            </c:strRef>
          </c:tx>
          <c:spPr>
            <a:solidFill>
              <a:srgbClr val="E87BA4"/>
            </a:solidFill>
            <a:ln w="31750" cap="flat">
              <a:solidFill>
                <a:srgbClr val="E87BA4"/>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E87BA4"/>
              </a:solidFill>
              <a:ln w="9525" cap="flat">
                <a:solidFill>
                  <a:srgbClr val="E87BA4"/>
                </a:solidFill>
                <a:prstDash val="solid"/>
                <a:round/>
              </a:ln>
              <a:effectLst/>
            </c:spPr>
          </c:marker>
          <c:cat>
            <c:multiLvlStrRef>
              <c:f>Sheet1!$A$2:$A$7</c:f>
              <c:multiLvlStrCache>
                <c:ptCount val="6"/>
                <c:lvl>
                  <c:pt idx="0">
                    <c:v>0%</c:v>
                  </c:pt>
                  <c:pt idx="1">
                    <c:v>0.1%</c:v>
                  </c:pt>
                  <c:pt idx="2">
                    <c:v>0.5%</c:v>
                  </c:pt>
                  <c:pt idx="3">
                    <c:v>1%</c:v>
                  </c:pt>
                  <c:pt idx="4">
                    <c:v>2%</c:v>
                  </c:pt>
                  <c:pt idx="5">
                    <c:v>5%</c:v>
                  </c:pt>
                </c:lvl>
              </c:multiLvlStrCache>
            </c:multiLvlStrRef>
          </c:cat>
          <c:val>
            <c:numRef>
              <c:f>Sheet1!$D$2:$D$7</c:f>
              <c:numCache>
                <c:formatCode>General</c:formatCode>
                <c:ptCount val="6"/>
                <c:pt idx="0">
                  <c:v>10</c:v>
                </c:pt>
                <c:pt idx="1">
                  <c:v>9.76</c:v>
                </c:pt>
                <c:pt idx="2">
                  <c:v>9.03</c:v>
                </c:pt>
                <c:pt idx="3">
                  <c:v>8.4</c:v>
                </c:pt>
                <c:pt idx="4">
                  <c:v>7.3</c:v>
                </c:pt>
                <c:pt idx="5">
                  <c:v>4.43</c:v>
                </c:pt>
              </c:numCache>
            </c:numRef>
          </c:val>
          <c:smooth val="0"/>
        </c:ser>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4A5568"/>
                    </a:solidFill>
                    <a:latin typeface="+mn-lt"/>
                  </a:defRPr>
                </a:pPr>
                <a:r>
                  <a:rPr sz="1100" b="0" i="0" u="none" strike="noStrike">
                    <a:solidFill>
                      <a:srgbClr val="4A5568"/>
                    </a:solidFill>
                    <a:latin typeface="+mn-lt"/>
                  </a:rPr>
                  <a:t>Random packet loss rate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4A5568"/>
                    </a:solidFill>
                    <a:latin typeface="+mn-lt"/>
                  </a:defRPr>
                </a:pPr>
                <a:r>
                  <a:rPr sz="1100" b="0" i="0" u="none" strike="noStrike">
                    <a:solidFill>
                      <a:srgbClr val="4A5568"/>
                    </a:solidFill>
                    <a:latin typeface="+mn-lt"/>
                  </a:rPr>
                  <a:t>Throughput (Mbps)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Share of a link beside one CUBIC flow (%)</a:t>
            </a:r>
          </a:p>
        </c:rich>
      </c:tx>
      <c:layout/>
      <c:overlay val="0"/>
    </c:title>
    <c:autoTitleDeleted val="0"/>
    <c:plotArea>
      <c:layout/>
      <c:barChart>
        <c:barDir val="bar"/>
        <c:grouping val="clustered"/>
        <c:varyColors val="0"/>
        <c:ser>
          <c:idx val="0"/>
          <c:order val="0"/>
          <c:tx>
            <c:strRef>
              <c:f>Sheet1!$B$1</c:f>
              <c:strCache>
                <c:ptCount val="1"/>
                <c:pt idx="0">
                  <c:v>Share of a link beside one CUBIC flow (%)</c:v>
                </c:pt>
              </c:strCache>
            </c:strRef>
          </c:tx>
          <c:spPr>
            <a:solidFill>
              <a:srgbClr val="2A78D6"/>
            </a:solidFill>
            <a:effectLst/>
          </c:spPr>
          <c:invertIfNegative val="0"/>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1BAF7A"/>
              </a:solidFill>
              <a:effectLst/>
            </c:spPr>
          </c:dPt>
          <c:dPt>
            <c:idx val="3"/>
            <c:invertIfNegative val="0"/>
            <c:bubble3D val="0"/>
            <c:spPr>
              <a:solidFill>
                <a:srgbClr val="EDA100"/>
              </a:solidFill>
              <a:effectLst/>
            </c:spPr>
          </c:dPt>
          <c:dPt>
            <c:idx val="4"/>
            <c:invertIfNegative val="0"/>
            <c:bubble3D val="0"/>
            <c:spPr>
              <a:solidFill>
                <a:srgbClr val="4A3AA7"/>
              </a:solidFill>
              <a:effectLst/>
            </c:spPr>
          </c:dPt>
          <c:dPt>
            <c:idx val="5"/>
            <c:invertIfNegative val="0"/>
            <c:bubble3D val="0"/>
            <c:spPr>
              <a:solidFill>
                <a:srgbClr val="E87BA4"/>
              </a:solidFill>
              <a:effectLst/>
            </c:spPr>
          </c:dPt>
          <c:cat>
            <c:multiLvlStrRef>
              <c:f>Sheet1!$A$2:$A$7</c:f>
              <c:multiLvlStrCache>
                <c:ptCount val="6"/>
                <c:lvl>
                  <c:pt idx="0">
                    <c:v>Reno</c:v>
                  </c:pt>
                  <c:pt idx="1">
                    <c:v>CUBIC</c:v>
                  </c:pt>
                  <c:pt idx="2">
                    <c:v>BBR</c:v>
                  </c:pt>
                  <c:pt idx="3">
                    <c:v>CUBIC+ML</c:v>
                  </c:pt>
                  <c:pt idx="4">
                    <c:v>PPO</c:v>
                  </c:pt>
                  <c:pt idx="5">
                    <c:v>CUBIC+PPO</c:v>
                  </c:pt>
                </c:lvl>
              </c:multiLvlStrCache>
            </c:multiLvlStrRef>
          </c:cat>
          <c:val>
            <c:numRef>
              <c:f>Sheet1!$B$2:$B$7</c:f>
              <c:numCache>
                <c:formatCode>General</c:formatCode>
                <c:ptCount val="6"/>
                <c:pt idx="0">
                  <c:v>41.6</c:v>
                </c:pt>
                <c:pt idx="1">
                  <c:v>50</c:v>
                </c:pt>
                <c:pt idx="2">
                  <c:v>61.4</c:v>
                </c:pt>
                <c:pt idx="3">
                  <c:v>50.5</c:v>
                </c:pt>
                <c:pt idx="4">
                  <c:v>2</c:v>
                </c:pt>
                <c:pt idx="5">
                  <c:v>4.9</c:v>
                </c:pt>
              </c:numCache>
            </c:numRef>
          </c:val>
        </c:ser>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Jain index, two flows of the same controller</a:t>
            </a:r>
          </a:p>
        </c:rich>
      </c:tx>
      <c:layout/>
      <c:overlay val="0"/>
    </c:title>
    <c:autoTitleDeleted val="0"/>
    <c:plotArea>
      <c:layout/>
      <c:barChart>
        <c:barDir val="bar"/>
        <c:grouping val="clustered"/>
        <c:varyColors val="0"/>
        <c:ser>
          <c:idx val="0"/>
          <c:order val="0"/>
          <c:tx>
            <c:strRef>
              <c:f>Sheet1!$B$1</c:f>
              <c:strCache>
                <c:ptCount val="1"/>
                <c:pt idx="0">
                  <c:v>Jain index, two flows of the same controller</c:v>
                </c:pt>
              </c:strCache>
            </c:strRef>
          </c:tx>
          <c:spPr>
            <a:solidFill>
              <a:srgbClr val="2A78D6"/>
            </a:solidFill>
            <a:effectLst/>
          </c:spPr>
          <c:invertIfNegative val="0"/>
          <c:dLbls>
            <c:numFmt formatCode="0.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1BAF7A"/>
              </a:solidFill>
              <a:effectLst/>
            </c:spPr>
          </c:dPt>
          <c:dPt>
            <c:idx val="3"/>
            <c:invertIfNegative val="0"/>
            <c:bubble3D val="0"/>
            <c:spPr>
              <a:solidFill>
                <a:srgbClr val="EDA100"/>
              </a:solidFill>
              <a:effectLst/>
            </c:spPr>
          </c:dPt>
          <c:dPt>
            <c:idx val="4"/>
            <c:invertIfNegative val="0"/>
            <c:bubble3D val="0"/>
            <c:spPr>
              <a:solidFill>
                <a:srgbClr val="4A3AA7"/>
              </a:solidFill>
              <a:effectLst/>
            </c:spPr>
          </c:dPt>
          <c:dPt>
            <c:idx val="5"/>
            <c:invertIfNegative val="0"/>
            <c:bubble3D val="0"/>
            <c:spPr>
              <a:solidFill>
                <a:srgbClr val="E87BA4"/>
              </a:solidFill>
              <a:effectLst/>
            </c:spPr>
          </c:dPt>
          <c:cat>
            <c:multiLvlStrRef>
              <c:f>Sheet1!$A$2:$A$7</c:f>
              <c:multiLvlStrCache>
                <c:ptCount val="6"/>
                <c:lvl>
                  <c:pt idx="0">
                    <c:v>Reno</c:v>
                  </c:pt>
                  <c:pt idx="1">
                    <c:v>CUBIC</c:v>
                  </c:pt>
                  <c:pt idx="2">
                    <c:v>BBR</c:v>
                  </c:pt>
                  <c:pt idx="3">
                    <c:v>CUBIC+ML</c:v>
                  </c:pt>
                  <c:pt idx="4">
                    <c:v>PPO</c:v>
                  </c:pt>
                  <c:pt idx="5">
                    <c:v>CUBIC+PPO</c:v>
                  </c:pt>
                </c:lvl>
              </c:multiLvlStrCache>
            </c:multiLvlStrRef>
          </c:cat>
          <c:val>
            <c:numRef>
              <c:f>Sheet1!$B$2:$B$7</c:f>
              <c:numCache>
                <c:formatCode>General</c:formatCode>
                <c:ptCount val="6"/>
                <c:pt idx="0">
                  <c:v>1</c:v>
                </c:pt>
                <c:pt idx="1">
                  <c:v>1</c:v>
                </c:pt>
                <c:pt idx="2">
                  <c:v>0.999</c:v>
                </c:pt>
                <c:pt idx="3">
                  <c:v>1</c:v>
                </c:pt>
                <c:pt idx="4">
                  <c:v>0.609</c:v>
                </c:pt>
                <c:pt idx="5">
                  <c:v>0.992</c:v>
                </c:pt>
              </c:numCache>
            </c:numRef>
          </c:val>
        </c:ser>
        <c:dLbls>
          <c:numFmt formatCode="0.0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Link utilisation (%) under random RTT jitter</a:t>
            </a:r>
          </a:p>
        </c:rich>
      </c:tx>
      <c:layout/>
      <c:overlay val="0"/>
    </c:title>
    <c:autoTitleDeleted val="0"/>
    <c:plotArea>
      <c:layout/>
      <c:lineChart>
        <c:varyColors val="0"/>
        <c:ser>
          <c:idx val="0"/>
          <c:order val="0"/>
          <c:tx>
            <c:strRef>
              <c:f>Sheet1!$B$1</c:f>
              <c:strCache>
                <c:ptCount val="1"/>
                <c:pt idx="0">
                  <c:v>CUBIC</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Sheet1!$A$2:$A$6</c:f>
              <c:multiLvlStrCache>
                <c:ptCount val="5"/>
                <c:lvl>
                  <c:pt idx="0">
                    <c:v>0 ms</c:v>
                  </c:pt>
                  <c:pt idx="1">
                    <c:v>1 ms</c:v>
                  </c:pt>
                  <c:pt idx="2">
                    <c:v>2 ms</c:v>
                  </c:pt>
                  <c:pt idx="3">
                    <c:v>4 ms</c:v>
                  </c:pt>
                  <c:pt idx="4">
                    <c:v>8 ms</c:v>
                  </c:pt>
                </c:lvl>
              </c:multiLvlStrCache>
            </c:multiLvlStrRef>
          </c:cat>
          <c:val>
            <c:numRef>
              <c:f>Sheet1!$B$2:$B$6</c:f>
              <c:numCache>
                <c:formatCode>General</c:formatCode>
                <c:ptCount val="5"/>
                <c:pt idx="0">
                  <c:v>100</c:v>
                </c:pt>
                <c:pt idx="1">
                  <c:v>100</c:v>
                </c:pt>
                <c:pt idx="2">
                  <c:v>100</c:v>
                </c:pt>
                <c:pt idx="3">
                  <c:v>100</c:v>
                </c:pt>
                <c:pt idx="4">
                  <c:v>98.7</c:v>
                </c:pt>
              </c:numCache>
            </c:numRef>
          </c:val>
          <c:smooth val="0"/>
        </c:ser>
        <c:ser>
          <c:idx val="1"/>
          <c:order val="1"/>
          <c:tx>
            <c:strRef>
              <c:f>Sheet1!$C$1</c:f>
              <c:strCache>
                <c:ptCount val="1"/>
                <c:pt idx="0">
                  <c:v>BBR</c:v>
                </c:pt>
              </c:strCache>
            </c:strRef>
          </c:tx>
          <c:spPr>
            <a:solidFill>
              <a:srgbClr val="1BAF7A"/>
            </a:solidFill>
            <a:ln w="31750" cap="flat">
              <a:solidFill>
                <a:srgbClr val="1BAF7A"/>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Sheet1!$A$2:$A$6</c:f>
              <c:multiLvlStrCache>
                <c:ptCount val="5"/>
                <c:lvl>
                  <c:pt idx="0">
                    <c:v>0 ms</c:v>
                  </c:pt>
                  <c:pt idx="1">
                    <c:v>1 ms</c:v>
                  </c:pt>
                  <c:pt idx="2">
                    <c:v>2 ms</c:v>
                  </c:pt>
                  <c:pt idx="3">
                    <c:v>4 ms</c:v>
                  </c:pt>
                  <c:pt idx="4">
                    <c:v>8 ms</c:v>
                  </c:pt>
                </c:lvl>
              </c:multiLvlStrCache>
            </c:multiLvlStrRef>
          </c:cat>
          <c:val>
            <c:numRef>
              <c:f>Sheet1!$C$2:$C$6</c:f>
              <c:numCache>
                <c:formatCode>General</c:formatCode>
                <c:ptCount val="5"/>
                <c:pt idx="0">
                  <c:v>98.2</c:v>
                </c:pt>
                <c:pt idx="1">
                  <c:v>98.2</c:v>
                </c:pt>
                <c:pt idx="2">
                  <c:v>98.2</c:v>
                </c:pt>
                <c:pt idx="3">
                  <c:v>98.1</c:v>
                </c:pt>
                <c:pt idx="4">
                  <c:v>97.9</c:v>
                </c:pt>
              </c:numCache>
            </c:numRef>
          </c:val>
          <c:smooth val="0"/>
        </c:ser>
        <c:ser>
          <c:idx val="2"/>
          <c:order val="2"/>
          <c:tx>
            <c:strRef>
              <c:f>Sheet1!$D$1</c:f>
              <c:strCache>
                <c:ptCount val="1"/>
                <c:pt idx="0">
                  <c:v>PPO</c:v>
                </c:pt>
              </c:strCache>
            </c:strRef>
          </c:tx>
          <c:spPr>
            <a:solidFill>
              <a:srgbClr val="4A3AA7"/>
            </a:solidFill>
            <a:ln w="31750" cap="flat">
              <a:solidFill>
                <a:srgbClr val="4A3AA7"/>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4A3AA7"/>
              </a:solidFill>
              <a:ln w="9525" cap="flat">
                <a:solidFill>
                  <a:srgbClr val="4A3AA7"/>
                </a:solidFill>
                <a:prstDash val="solid"/>
                <a:round/>
              </a:ln>
              <a:effectLst/>
            </c:spPr>
          </c:marker>
          <c:cat>
            <c:multiLvlStrRef>
              <c:f>Sheet1!$A$2:$A$6</c:f>
              <c:multiLvlStrCache>
                <c:ptCount val="5"/>
                <c:lvl>
                  <c:pt idx="0">
                    <c:v>0 ms</c:v>
                  </c:pt>
                  <c:pt idx="1">
                    <c:v>1 ms</c:v>
                  </c:pt>
                  <c:pt idx="2">
                    <c:v>2 ms</c:v>
                  </c:pt>
                  <c:pt idx="3">
                    <c:v>4 ms</c:v>
                  </c:pt>
                  <c:pt idx="4">
                    <c:v>8 ms</c:v>
                  </c:pt>
                </c:lvl>
              </c:multiLvlStrCache>
            </c:multiLvlStrRef>
          </c:cat>
          <c:val>
            <c:numRef>
              <c:f>Sheet1!$D$2:$D$6</c:f>
              <c:numCache>
                <c:formatCode>General</c:formatCode>
                <c:ptCount val="5"/>
                <c:pt idx="0">
                  <c:v>100</c:v>
                </c:pt>
                <c:pt idx="1">
                  <c:v>99.4</c:v>
                </c:pt>
                <c:pt idx="2">
                  <c:v>20.6</c:v>
                </c:pt>
                <c:pt idx="3">
                  <c:v>2.8</c:v>
                </c:pt>
                <c:pt idx="4">
                  <c:v>2.5</c:v>
                </c:pt>
              </c:numCache>
            </c:numRef>
          </c:val>
          <c:smooth val="0"/>
        </c:ser>
        <c:ser>
          <c:idx val="3"/>
          <c:order val="3"/>
          <c:tx>
            <c:strRef>
              <c:f>Sheet1!$E$1</c:f>
              <c:strCache>
                <c:ptCount val="1"/>
                <c:pt idx="0">
                  <c:v>PPO-J</c:v>
                </c:pt>
              </c:strCache>
            </c:strRef>
          </c:tx>
          <c:spPr>
            <a:solidFill>
              <a:srgbClr val="1F6F8B"/>
            </a:solidFill>
            <a:ln w="31750" cap="flat">
              <a:solidFill>
                <a:srgbClr val="1F6F8B"/>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1F6F8B"/>
              </a:solidFill>
              <a:ln w="9525" cap="flat">
                <a:solidFill>
                  <a:srgbClr val="1F6F8B"/>
                </a:solidFill>
                <a:prstDash val="solid"/>
                <a:round/>
              </a:ln>
              <a:effectLst/>
            </c:spPr>
          </c:marker>
          <c:cat>
            <c:multiLvlStrRef>
              <c:f>Sheet1!$A$2:$A$6</c:f>
              <c:multiLvlStrCache>
                <c:ptCount val="5"/>
                <c:lvl>
                  <c:pt idx="0">
                    <c:v>0 ms</c:v>
                  </c:pt>
                  <c:pt idx="1">
                    <c:v>1 ms</c:v>
                  </c:pt>
                  <c:pt idx="2">
                    <c:v>2 ms</c:v>
                  </c:pt>
                  <c:pt idx="3">
                    <c:v>4 ms</c:v>
                  </c:pt>
                  <c:pt idx="4">
                    <c:v>8 ms</c:v>
                  </c:pt>
                </c:lvl>
              </c:multiLvlStrCache>
            </c:multiLvlStrRef>
          </c:cat>
          <c:val>
            <c:numRef>
              <c:f>Sheet1!$E$2:$E$6</c:f>
              <c:numCache>
                <c:formatCode>General</c:formatCode>
                <c:ptCount val="5"/>
                <c:pt idx="0">
                  <c:v>99.9</c:v>
                </c:pt>
                <c:pt idx="1">
                  <c:v>99.8</c:v>
                </c:pt>
                <c:pt idx="2">
                  <c:v>99.7</c:v>
                </c:pt>
                <c:pt idx="3">
                  <c:v>99.2</c:v>
                </c:pt>
                <c:pt idx="4">
                  <c:v>89.1</c:v>
                </c:pt>
              </c:numCache>
            </c:numRef>
          </c:val>
          <c:smooth val="0"/>
        </c:ser>
        <c:dLbls>
          <c:numFmt formatCode="#,##0" sourceLinked="0"/>
          <c:txPr>
            <a:bodyPr/>
            <a:lstStyle/>
            <a:p>
              <a:pPr>
                <a:defRPr b="0" i="0" strike="noStrike" sz="1100" u="none">
                  <a:solidFill>
                    <a:srgbClr val="1421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4A5568"/>
                    </a:solidFill>
                    <a:latin typeface="+mn-lt"/>
                  </a:defRPr>
                </a:pPr>
                <a:r>
                  <a:rPr sz="1100" b="0" i="0" u="none" strike="noStrike">
                    <a:solidFill>
                      <a:srgbClr val="4A5568"/>
                    </a:solidFill>
                    <a:latin typeface="+mn-lt"/>
                  </a:rPr>
                  <a:t>Mean random RTT jitter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title. One sentence: this project asks whether machine learning can fix two known weaknesses of TCP congestion control, and tests the answer in a simulator built for the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told in the order we did it. Stages 1 to 4 built the simulator and the three learned components. Stage 5 compared all six controllers and found two weaknesses in the agent. Stages 6 to 8 responded: we fixed the weaknesses in simulation, tested everything on a real Wi-Fi network, and finally trained the agent on recordings of that network. Each stage was prompted by what the one before found. The dots at the top right of every slide show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Congestion control decides how fast a sender transmits. Senders share a queue in front of the slowest link. If they send too slowly, capacity is wasted. If they send too fast, the queue fills, delay rises and packets are dropped. The only feedback is the stream of acknowledgements coming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Reno and CUBIC follow fixed rules: increase until a packet is lost, then cut. First weakness: every loss is read as congestion, so on a noisy wireless link the sender slows down for nothing. In our simulator CUBIC drops from 10 to 3.7 megabits at only 1% random loss. Second weakness: the sender reacts only after the queue overflows, so the queue stays nearly full and the round-trip time roughly doubles.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to test whether learned components can fix both weaknesses, and to say honestly where they cannot. Six objectives: build the simulator and baselines; a machine-learning classifier for loss type; a deep-learning forecaster for round-trip time; a reinforcement-learning agent plus a hybrid; a comparison of all six controllers; and, added as the project went on, fixing the weaknesses found and testing on a real Wi-Fi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builds the test bench: a packet-level simulator of a bottleneck link, and Reno, CUBIC and BBR as the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simulator does three jobs. It generates the labelled data for the classifier and the forecaster, it is the environment in which the PPO agent is trained, and it is the test bench for all six controllers. The classifier goes into CUBIC+ML, and the trained policies drive PPO and CUBIC+PPO. The forecaster is evaluated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is written in Python. Time moves in one-millisecond steps and packets are 1500 bytes. The queue is drop-tail: a packet arriving at a full queue is dropped. The link can also drop packets at random, like a wireless link. Every lost packet is tagged with its true cause, which gives us labels for training; controllers cannot read the tag. All six controllers plug in through the same small interface. As a check, Reno at 1% loss gives 3.9 megabits and the Mathis formula predicts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classical controllers and three learned ones. Reno and CUBIC react to loss. BBR estimates the link rate and ignores loss. CUBIC+ML is CUBIC with a classifier in front of its loss reaction. PPO is a neural-network policy that sets the sending rate. CUBIC+PPO keeps CUBIC running and lets a policy scale its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flow alone on a 10 megabit link. Top row is the congestion window, bottom row the round-trip time. Reno and CUBIC show the classic sawtooth: they grow until the queue overflows and then cut back, so the RTT swings between about 55 and 100 milliseconds on a 40 millisecond path. BBR stays near 40. Reno's throughput under loss matches the Mathis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trains a classifier on losses whose cause the simulator knows, and puts it inside CUBIC.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network never tells you why a packet was lost, but the simulator knows. So we ran 400 random scenarios of 30 seconds each, with one to three Reno, CUBIC or BBR flows, and saved every loss together with its true cause: 64 thousand labelled losses. Whole scenarios are held out for testing, 297 for training and 100 for testing, so the test measures networks the classifier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loss is described by ten numbers that a real sender can compute from its own ACKs and loss reports. All are ratios, so they do not depend on the link's absolute speed. The intuition: a congestion loss happens when the queue is full, so the RTT is near its peak. A random loss can come at any moment, including when the RTT is at its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were trained on the same data. A single threshold on one signal, which is how older schemes work, reaches a macro F1 of 0.852. The two tree ensembles reach 0.88. XGBoost is the one deployed: it matches the random forest and is far faster at classifying one loss at a time. Its errors are on the safe side: it misses 5.4% of congestion losses, the dangerous error, and misreads 18.6% of random losses, which only costs some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on the test set: how much macro F1 falls when each signal is shuffled. The classifier relies most on how close the RTT is to its recent peak, then on the recent loss rate, then on how losses are spaced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CUBIC+ML is ordinary CUBIC with one change. At each loss it computes the ten signals and asks the classifier. If the probability of congestion is below 0.2, meaning the classifier is at least 80% sure the loss was random, the loss is ignored. Otherwise CUBIC cuts its window as usual. The threshold is cautious on purpose: at 50% the controller ignored some real congestion losses and took 73% of a link from a normal CUBIC flow; at 80% they share evenly.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trains an LSTM to forecast the round-trip time half a second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deep-learning component forecasts a flow's round-trip time half a second ahead. The input is the last three seconds of the flow's own measurements: 30 samples of six signals. One LSTM layer with 64 units feeds a dense layer of 32 and a single output, about 20,500 parameters. It predicts the change in RTT, so a model that outputs zero is exactly the naive forecast of repeating the last value. Training data comes from the same 400 scenarios, split by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held-out scenarios the LSTM's mean error is 7.9 milliseconds against 8.95 for simply repeating the last value: 12% better, and better than a moving average or linear extrapolation. We are honest about the size of this: it is a modest gain. The root mean square error falls by 21%, so the LSTM mainly avoids the largest misses, but it cannot predict jumps caused by things outside the flow, and no controller uses the forecast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trains a PPO agent that sets the sending rate, and a hybrid that adjusts CUBIC.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decides once per monitor interval, about one and a half round trips. Its state is four scale-free signals for each of the last eight intervals: whether delay is rising, how much queueing delay there is, whether it sends faster than ACKs return, and the loss rate. The action multiplies the sending rate. The reward is throughput minus delay minus congestion loss, each normalised by the link's own capacity and base RTT so one policy works on slow and fast links. Random loss is not penalised because the sender did not cause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uses PPO from Stable-Baselines3 with a policy network of two hidden layers of 64 units. Each episode is 200 decisions on a newly generated random link, so the agent cannot memorise one network. Eight environments run in parallel; after each batch of 8,192 decisions the policy is updated. The main agent was trained for one million decisions, about 20 minutes on a laptop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progress of the two main policies. The PPO agent passes 90% of link capacity after about 200 thousand decisions and keeps lowering its queueing delay after that. The hybrid's curve sits lower partly because 30% of its training episodes include a competing flow, where delay cannot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compares all six controllers on unseen links, random loss, changing capacity, extreme conditions and shared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controller runs alone for 30 seconds on the same 30 random links it has never seen; half have random loss and half have changing capacity. PPO uses 98.8% of capacity with an RTT only 7% above the minimum. BBR is close on throughput but adds more delay. Reno and CUBIC lose throughput on the lossy links and still nearly double the delay. CUBIC+ML reaches the highest utilisation but, being loss-based, still fills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of one flow on a 10 megabit link as random loss rises. On the left, Reno and CUBIC collapse. On the right, CUBIC+ML holds almost the full 10 megabits up to 2% loss and 9.6 at 5%, six times plain CUBIC. PPO does as well although nothing tells it which losses are random: it learned that loss without rising delay is no reason to slow down. The hybrid only partly recovers.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link whose capacity jumps every ten seconds, like a mobile connection. Every controller follows the capacity and uses at least 97% of it, so throughput does not separate them. Delay does. When capacity drops, Reno, CUBIC and BBR are left with a full queue: CUBIC's 95th percentile RTT is 4.6 times the base and BBR's is 3.1. PPO and the hybrid stay at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conditions outside what the learned controllers saw in training: a 100 megabit link, a 400 millisecond RTT, 8% random loss, a five-packet buffer and a half-megabit link. PPO keeps at least 98% utilisation in four of the five; under 8% loss it falls to 82%. The hybrid does not generalise: 30% under heavy loss and 31% with the tiny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negative result. When the PPO agent shares a link with one ordinary CUBIC flow it ends up with 2% of the link. CUBIC keeps the queue full; the agent reads the delay as a signal to slow down, and CUBIC takes whatever it releases. Two PPO flows also split a link unevenly. This is a known weakness of delay-sensitive controllers. CUBIC+ML does not have it: it takes 50.5% beside CUBIC.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adds a competitive mode for sharing, and retrains the agent with random jitter.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lost almost all its bandwidth beside CUBIC because it read CUBIC's full queue as its own congestion. PPO-Switch borrows Copa's competitive mode. It runs the learned policy normally. When another flow is clearly holding the queue, either the delay stays high for six intervals or the agent's rate slides steadily to half while a queue persists, it hands control to our loss-aware CUBIC. Every few seconds it briefly drains its own share of the queue, like BBR's ProbeRTT; if the RTT drops to the base RTT, the other flow has gone and the policy takes over again. Beside CUBIC it now gets 47% instead of 2%, and alone it never switched by mistake. The timeline shows CUBIC joining at 20 seconds and leaving at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real network every round-trip sample carries a few milliseconds of random delay from Wi-Fi and operating-system timers. Our original agent was trained on perfectly clean RTTs, so with only 2 milliseconds of jitter it saw a growing queue that was not there and slowed down to 21% utilisation; at 4 milliseconds, 3%. CUBIC and BBR keep their throughput. PPO-J fixes this with two changes: it is trained with random jitter in three quarters of its episodes, which is called domain randomisation, and it reads the minimum RTT of each half interval instead of the average, as Copa does, because jitter inflates the average but hardly the minimum. It keeps 99% utilisation at 4 milliseconds and loses almost nothing on clean links. The cost is a slightly larger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runs every controller over Wi-Fi between our two laptops, and records what the Wi-Fi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took every controller off the simulator. The same controller code sends real UDP packets from the Windows laptop to a receiver script on the MacBook over Wi-Fi, so round-trip times, jitter and losses come from a real wireless link and two real operating systems. To compare with the simulator on equal terms, the receiver adds the simulator's standard bottleneck: a 10 megabit queue of 50 packets and a 40 millisecond base round-trip time. We ran the whole test twice and got nearly the same numbers. Two things carried over: the loss classifier, CUBIC+ML keeps 8.7 megabits with 1% random loss where CUBIC keeps 2.9, and the fairness fix, PPO-Switch takes 45% of the link beside CUBIC. The learned rate controllers did not: the original PPO got 0.3 megabits and PPO-J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the learned agents struggle? We recorded the bare Wi-Fi path for 29 minutes, about 700,000 packets. Most packets arrive within 4 milliseconds of the minimum, but about twice a second the link stalls for roughly 75 milliseconds: nothing gets through, then everything arrives at once. That is what the sawtooth in the close-up shows. A stall looks exactly like congestion to a delay-based agent. And with a 50-packet queue, the backlog of each stall floods the bottleneck afterwards, so on this path nobody can have full throughput and low delay at the same time. Replaying these recordings in our simulator reproduced every controller's real throughput within 1.3 megabits, including BBR's heavy packet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records 29 minutes of our Wi-Fi, replays it in the simulator, and trains a new agent, PPO-W,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trained the agent on our own Wi-Fi. PPO-W is trained like PPO-J, but half of its training episodes replay the first 70% of each recording; the last 30% is kept for testing. Our first attempt learned to hold back, because its reward also punished stall delay that no sender can remove. Scoring only the queue the sender builds itself fixed that. On the real Wi-Fi it delivers 5.8 megabits, against 3.3 for PPO-J and 0.3 for the original agent, almost exactly the 6.0 that the replay predicted, and with less delay than CUBIC. CUBIC still gets more throughput on this path because it accepts a full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runs the simulator live. Choose a network preset or set the link by hand, pick up to four controllers, and run them side by side or competing on one link. Demo plan: Lossy Wi-Fi with CUBIC, CUBIC+ML and PPO side by side; then Home broadband with CUBIC, BBR and PPO to show the queue; then competing mode with CUBIC and PPO to show the fairness limit, and with CUBIC and PPO-Switch to show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in one table, in the order we did it. Each stage answered a question and raised the next one: the baselines showed the two weaknesses; the classifier fixed random loss; the forecaster was a modest gain; the agent fixed full queues on its own link; the comparison showed it could not share or cope with jitter; the fixes solved both in simulation; the real Wi-Fi test showed what transfers; and training on recordings of that Wi-Fi closed much of the remaining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measurements in one table; the shaded cell is the best in each row. PPO is best on delay and close to best on throughput when alone. CUBIC+ML is best under random loss and shares a link fairly. PPO and the hybrid fail the fairness row and PPO fails under jitter. The last column is PPO-Switch, the improved agent from the next section: it keeps PPO's low delay, shares fairly with CUBIC and survives jitter.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limits on what these results show, before the conclusions. The real-network test covers one Wi-Fi path, as user-space UDP rather than a kernel TCP stack, and PPO-W is trained on recordings of that same path. On that stalling path the learned agents still get less throughput than CUBIC, though with less delay. PPO-Switch shares fairly with CUBIC, but two learned flows still split a link unevenly. The hybrid is not robust outside its training range. Random loss is modelled as independent per packet, while real loss comes in bursts. Each policy was trained once. And the LSTM forecast is not used by any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we take from the project. One: the most reliable gain was a small learned part inside a proven algorithm; CUBIC+ML worked in simulation and on real Wi-Fi. Two: reinforcement learning beats the rules on its own link, but sharing needs explicit design; more training did not fix it, a competitive mode did. Three: a learned controller is only as good as its training conditions; trained on exact RTTs it failed with 2 milliseconds of jitter. Four: measuring the real network and replaying it works; 29 minutes of recordings predicted real results within 1.3 megabits, and training on them took the agent from 0.3 to 5.8. Five: the reward must count only what the agent controls; that alone raised it from 42 to 60 percent on the replay. Six: a simulated result is a hypothesis until tested on a real network; the simulator ranked the agent first, real Wi-Fi did not. So: learned components can fix both weaknesses, but learned rate control still needs real data, the right reward and a mechanism for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the project builds on. Aurora is the source of the agent's state and action; Orca is the idea behind the hybrid; Copa and Astraea describe the fairness problem and two ways to address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If asked for a demo: Lossy Wi-Fi preset with CUBIC, CUBIC+ML and PPO side by side; then Home broadband with CUBIC, BBR and PPO; then competing mode with CUBIC and PPO to show the fairness limit, and CUBIC with PPO-Switch to show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880360"/>
            <a:ext cx="749808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rtlCol="0"/>
          <a:lstStyle>
            <a:lvl1pPr algn="l" indent="0" marL="0">
              <a:buNone/>
              <a:defRPr lang="en-US" sz="1100" b="1" spc="2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tx2"/>
                </a:solidFill>
              </a:rPr>
              <a:t>Congestion Control using ML/DL</a:t>
            </a:r>
            <a:endParaRPr lang="en-US" sz="10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rtlCol="0"/>
          <a:lstStyle>
            <a:lvl1pPr algn="l" indent="0" marL="0">
              <a:buNone/>
              <a:defRPr lang="en-US" sz="1100" b="1" spc="200" kern="0" dirty="0">
                <a:solidFill>
                  <a:schemeClr val="accent2"/>
                </a:solidFill>
              </a:defRPr>
            </a:lvl1pPr>
          </a:lstStyle>
          <a:p>
            <a:pPr algn="l" indent="0" marL="0">
              <a:buNone/>
            </a:pP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Congestion Control using ML/DL</a:t>
            </a:r>
            <a:endParaRPr lang="en-US" sz="10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Queue packet 1"/>
          <p:cNvSpPr/>
          <p:nvPr/>
        </p:nvSpPr>
        <p:spPr>
          <a:xfrm>
            <a:off x="548640" y="868680"/>
            <a:ext cx="201168" cy="201168"/>
          </a:xfrm>
          <a:prstGeom prst="roundRect">
            <a:avLst>
              <a:gd name="adj" fmla="val 18182"/>
            </a:avLst>
          </a:prstGeom>
          <a:solidFill>
            <a:schemeClr val="accent1"/>
          </a:solidFill>
          <a:ln w="6350">
            <a:solidFill>
              <a:schemeClr val="accent1"/>
            </a:solidFill>
            <a:prstDash val="solid"/>
          </a:ln>
        </p:spPr>
      </p:sp>
      <p:sp>
        <p:nvSpPr>
          <p:cNvPr id="3" name="Queue packet 2"/>
          <p:cNvSpPr/>
          <p:nvPr/>
        </p:nvSpPr>
        <p:spPr>
          <a:xfrm>
            <a:off x="822960" y="868680"/>
            <a:ext cx="201168" cy="201168"/>
          </a:xfrm>
          <a:prstGeom prst="roundRect">
            <a:avLst>
              <a:gd name="adj" fmla="val 18182"/>
            </a:avLst>
          </a:prstGeom>
          <a:solidFill>
            <a:schemeClr val="accent1"/>
          </a:solidFill>
          <a:ln w="6350">
            <a:solidFill>
              <a:schemeClr val="accent1"/>
            </a:solidFill>
            <a:prstDash val="solid"/>
          </a:ln>
        </p:spPr>
      </p:sp>
      <p:sp>
        <p:nvSpPr>
          <p:cNvPr id="4" name="Queue packet 3"/>
          <p:cNvSpPr/>
          <p:nvPr/>
        </p:nvSpPr>
        <p:spPr>
          <a:xfrm>
            <a:off x="1097280" y="868680"/>
            <a:ext cx="201168" cy="201168"/>
          </a:xfrm>
          <a:prstGeom prst="roundRect">
            <a:avLst>
              <a:gd name="adj" fmla="val 18182"/>
            </a:avLst>
          </a:prstGeom>
          <a:solidFill>
            <a:schemeClr val="accent1"/>
          </a:solidFill>
          <a:ln w="6350">
            <a:solidFill>
              <a:schemeClr val="accent1"/>
            </a:solidFill>
            <a:prstDash val="solid"/>
          </a:ln>
        </p:spPr>
      </p:sp>
      <p:sp>
        <p:nvSpPr>
          <p:cNvPr id="5" name="Queue packet 4"/>
          <p:cNvSpPr/>
          <p:nvPr/>
        </p:nvSpPr>
        <p:spPr>
          <a:xfrm>
            <a:off x="1371600" y="868680"/>
            <a:ext cx="201168" cy="201168"/>
          </a:xfrm>
          <a:prstGeom prst="roundRect">
            <a:avLst>
              <a:gd name="adj" fmla="val 18182"/>
            </a:avLst>
          </a:prstGeom>
          <a:solidFill>
            <a:schemeClr val="accent1"/>
          </a:solidFill>
          <a:ln w="6350">
            <a:solidFill>
              <a:schemeClr val="accent1"/>
            </a:solidFill>
            <a:prstDash val="solid"/>
          </a:ln>
        </p:spPr>
      </p:sp>
      <p:sp>
        <p:nvSpPr>
          <p:cNvPr id="6" name="Queue packet 5"/>
          <p:cNvSpPr/>
          <p:nvPr/>
        </p:nvSpPr>
        <p:spPr>
          <a:xfrm>
            <a:off x="1645920" y="868680"/>
            <a:ext cx="201168" cy="201168"/>
          </a:xfrm>
          <a:prstGeom prst="roundRect">
            <a:avLst>
              <a:gd name="adj" fmla="val 18182"/>
            </a:avLst>
          </a:prstGeom>
          <a:solidFill>
            <a:schemeClr val="accent2"/>
          </a:solidFill>
          <a:ln w="6350">
            <a:solidFill>
              <a:schemeClr val="accent2"/>
            </a:solidFill>
            <a:prstDash val="solid"/>
          </a:ln>
        </p:spPr>
      </p:sp>
      <p:sp>
        <p:nvSpPr>
          <p:cNvPr id="7" name="Queue packet 6"/>
          <p:cNvSpPr/>
          <p:nvPr/>
        </p:nvSpPr>
        <p:spPr>
          <a:xfrm>
            <a:off x="1920240" y="868680"/>
            <a:ext cx="201168" cy="201168"/>
          </a:xfrm>
          <a:prstGeom prst="roundRect">
            <a:avLst>
              <a:gd name="adj" fmla="val 18182"/>
            </a:avLst>
          </a:prstGeom>
          <a:solidFill>
            <a:schemeClr val="accent2"/>
          </a:solidFill>
          <a:ln w="6350">
            <a:solidFill>
              <a:schemeClr val="accent2"/>
            </a:solidFill>
            <a:prstDash val="solid"/>
          </a:ln>
        </p:spPr>
      </p:sp>
      <p:sp>
        <p:nvSpPr>
          <p:cNvPr id="8"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r>
              <a:rPr lang="en-US" sz="4400" b="1" dirty="0">
                <a:solidFill>
                  <a:schemeClr val="bg1"/>
                </a:solidFill>
              </a:rPr>
              <a:t>Congestion Control using ML/DL</a:t>
            </a:r>
            <a:endParaRPr lang="en-US" sz="4400" dirty="0"/>
          </a:p>
        </p:txBody>
      </p:sp>
      <p:sp>
        <p:nvSpPr>
          <p:cNvPr id="9"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r>
              <a:rPr lang="en-US" sz="2000" dirty="0">
                <a:solidFill>
                  <a:schemeClr val="bg2"/>
                </a:solidFill>
              </a:rPr>
              <a:t>From a simulator to a real Wi-Fi network, in eight stages</a:t>
            </a:r>
            <a:endParaRPr lang="en-US" sz="2000" dirty="0"/>
          </a:p>
        </p:txBody>
      </p:sp>
      <p:sp>
        <p:nvSpPr>
          <p:cNvPr id="10" name="Text 8"/>
          <p:cNvSpPr txBox="1"/>
          <p:nvPr/>
        </p:nvSpPr>
        <p:spPr>
          <a:xfrm>
            <a:off x="548640" y="4297680"/>
            <a:ext cx="8046720" cy="320040"/>
          </a:xfrm>
          <a:prstGeom prst="rect">
            <a:avLst/>
          </a:prstGeom>
          <a:noFill/>
          <a:ln/>
        </p:spPr>
        <p:txBody>
          <a:bodyPr wrap="square" lIns="0" tIns="0" rIns="0" bIns="0" rtlCol="0" anchor="t"/>
          <a:lstStyle/>
          <a:p>
            <a:pPr algn="l" indent="0" marL="0">
              <a:buNone/>
            </a:pPr>
            <a:r>
              <a:rPr lang="en-US" sz="1400" dirty="0">
                <a:solidFill>
                  <a:schemeClr val="accent5"/>
                </a:solidFill>
              </a:rPr>
              <a:t>Nirupam Raut (24BAI0345)  ·  Aaditya Yadav (24BDS0450)  ·  Computer Networks, Slot F2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INTRODUCTION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How the project progressed</a:t>
            </a:r>
            <a:endParaRPr lang="en-US" sz="3600" dirty="0"/>
          </a:p>
        </p:txBody>
      </p:sp>
      <p:pic>
        <p:nvPicPr>
          <p:cNvPr id="5" name="Image 0" descr="Eight stages in two rows: simulator and baselines, loss classifier, RTT forecaster, PPO agent, comparison, fixes, real Wi-Fi test, and PPO-W trained on recorded Wi-Fi, each with its key result.">    </p:cNvPr>
          <p:cNvPicPr>
            <a:picLocks noChangeAspect="1"/>
          </p:cNvPicPr>
          <p:nvPr/>
        </p:nvPicPr>
        <p:blipFill>
          <a:blip r:embed="rId1"/>
          <a:stretch>
            <a:fillRect/>
          </a:stretch>
        </p:blipFill>
        <p:spPr>
          <a:xfrm>
            <a:off x="457200" y="1337310"/>
            <a:ext cx="8229600" cy="3086100"/>
          </a:xfrm>
          <a:prstGeom prst="rect">
            <a:avLst/>
          </a:prstGeom>
        </p:spPr>
      </p:pic>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INTRODUCTION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What congestion control does</a:t>
            </a:r>
            <a:endParaRPr lang="en-US" sz="3600" dirty="0"/>
          </a:p>
        </p:txBody>
      </p:sp>
      <p:sp>
        <p:nvSpPr>
          <p:cNvPr id="5" name="Sender 1"/>
          <p:cNvSpPr txBox="1"/>
          <p:nvPr/>
        </p:nvSpPr>
        <p:spPr>
          <a:xfrm>
            <a:off x="457200" y="1600200"/>
            <a:ext cx="960120" cy="457200"/>
          </a:xfrm>
          <a:prstGeom prst="roundRect">
            <a:avLst>
              <a:gd name="adj" fmla="val 16000"/>
            </a:avLst>
          </a:prstGeom>
          <a:solidFill>
            <a:schemeClr val="bg2"/>
          </a:solidFill>
          <a:ln w="6350">
            <a:solidFill>
              <a:schemeClr val="bg2"/>
            </a:solidFill>
          </a:ln>
        </p:spPr>
        <p:txBody>
          <a:bodyPr wrap="square" lIns="762" tIns="762" rIns="762" bIns="762" rtlCol="0" anchor="ctr"/>
          <a:lstStyle/>
          <a:p>
            <a:pPr algn="ctr" indent="0" marL="0">
              <a:buNone/>
            </a:pPr>
            <a:r>
              <a:rPr lang="en-US" sz="1200" dirty="0">
                <a:solidFill>
                  <a:schemeClr val="tx1"/>
                </a:solidFill>
              </a:rPr>
              <a:t>Sender 1</a:t>
            </a:r>
            <a:endParaRPr lang="en-US" sz="1200" dirty="0"/>
          </a:p>
        </p:txBody>
      </p:sp>
      <p:sp>
        <p:nvSpPr>
          <p:cNvPr id="6" name="Shape 3"/>
          <p:cNvSpPr/>
          <p:nvPr/>
        </p:nvSpPr>
        <p:spPr>
          <a:xfrm>
            <a:off x="1417320" y="1828800"/>
            <a:ext cx="594360" cy="0"/>
          </a:xfrm>
          <a:prstGeom prst="line">
            <a:avLst/>
          </a:prstGeom>
          <a:noFill/>
          <a:ln w="15875">
            <a:solidFill>
              <a:schemeClr val="tx2"/>
            </a:solidFill>
            <a:prstDash val="solid"/>
            <a:tailEnd type="triangle"/>
          </a:ln>
        </p:spPr>
      </p:sp>
      <p:sp>
        <p:nvSpPr>
          <p:cNvPr id="7" name="Sender 2"/>
          <p:cNvSpPr txBox="1"/>
          <p:nvPr/>
        </p:nvSpPr>
        <p:spPr>
          <a:xfrm>
            <a:off x="457200" y="2286000"/>
            <a:ext cx="960120" cy="457200"/>
          </a:xfrm>
          <a:prstGeom prst="roundRect">
            <a:avLst>
              <a:gd name="adj" fmla="val 16000"/>
            </a:avLst>
          </a:prstGeom>
          <a:solidFill>
            <a:schemeClr val="bg2"/>
          </a:solidFill>
          <a:ln w="6350">
            <a:solidFill>
              <a:schemeClr val="bg2"/>
            </a:solidFill>
          </a:ln>
        </p:spPr>
        <p:txBody>
          <a:bodyPr wrap="square" lIns="762" tIns="762" rIns="762" bIns="762" rtlCol="0" anchor="ctr"/>
          <a:lstStyle/>
          <a:p>
            <a:pPr algn="ctr" indent="0" marL="0">
              <a:buNone/>
            </a:pPr>
            <a:r>
              <a:rPr lang="en-US" sz="1200" dirty="0">
                <a:solidFill>
                  <a:schemeClr val="tx1"/>
                </a:solidFill>
              </a:rPr>
              <a:t>Sender 2</a:t>
            </a:r>
            <a:endParaRPr lang="en-US" sz="1200" dirty="0"/>
          </a:p>
        </p:txBody>
      </p:sp>
      <p:sp>
        <p:nvSpPr>
          <p:cNvPr id="8" name="Shape 5"/>
          <p:cNvSpPr/>
          <p:nvPr/>
        </p:nvSpPr>
        <p:spPr>
          <a:xfrm>
            <a:off x="1417320" y="2514600"/>
            <a:ext cx="594360" cy="0"/>
          </a:xfrm>
          <a:prstGeom prst="line">
            <a:avLst/>
          </a:prstGeom>
          <a:noFill/>
          <a:ln w="15875">
            <a:solidFill>
              <a:schemeClr val="tx2"/>
            </a:solidFill>
            <a:prstDash val="solid"/>
            <a:tailEnd type="triangle"/>
          </a:ln>
        </p:spPr>
      </p:sp>
      <p:sp>
        <p:nvSpPr>
          <p:cNvPr id="9" name="Sender 3"/>
          <p:cNvSpPr txBox="1"/>
          <p:nvPr/>
        </p:nvSpPr>
        <p:spPr>
          <a:xfrm>
            <a:off x="457200" y="2971800"/>
            <a:ext cx="960120" cy="457200"/>
          </a:xfrm>
          <a:prstGeom prst="roundRect">
            <a:avLst>
              <a:gd name="adj" fmla="val 16000"/>
            </a:avLst>
          </a:prstGeom>
          <a:solidFill>
            <a:schemeClr val="bg2"/>
          </a:solidFill>
          <a:ln w="6350">
            <a:solidFill>
              <a:schemeClr val="bg2"/>
            </a:solidFill>
          </a:ln>
        </p:spPr>
        <p:txBody>
          <a:bodyPr wrap="square" lIns="762" tIns="762" rIns="762" bIns="762" rtlCol="0" anchor="ctr"/>
          <a:lstStyle/>
          <a:p>
            <a:pPr algn="ctr" indent="0" marL="0">
              <a:buNone/>
            </a:pPr>
            <a:r>
              <a:rPr lang="en-US" sz="1200" dirty="0">
                <a:solidFill>
                  <a:schemeClr val="tx1"/>
                </a:solidFill>
              </a:rPr>
              <a:t>Sender 3</a:t>
            </a:r>
            <a:endParaRPr lang="en-US" sz="1200" dirty="0"/>
          </a:p>
        </p:txBody>
      </p:sp>
      <p:sp>
        <p:nvSpPr>
          <p:cNvPr id="10" name="Shape 7"/>
          <p:cNvSpPr/>
          <p:nvPr/>
        </p:nvSpPr>
        <p:spPr>
          <a:xfrm>
            <a:off x="1417320" y="3200400"/>
            <a:ext cx="594360" cy="0"/>
          </a:xfrm>
          <a:prstGeom prst="line">
            <a:avLst/>
          </a:prstGeom>
          <a:noFill/>
          <a:ln w="15875">
            <a:solidFill>
              <a:schemeClr val="tx2"/>
            </a:solidFill>
            <a:prstDash val="solid"/>
            <a:tailEnd type="triangle"/>
          </a:ln>
        </p:spPr>
      </p:sp>
      <p:sp>
        <p:nvSpPr>
          <p:cNvPr id="11" name="Shape 8"/>
          <p:cNvSpPr/>
          <p:nvPr/>
        </p:nvSpPr>
        <p:spPr>
          <a:xfrm>
            <a:off x="932688" y="3429000"/>
            <a:ext cx="0" cy="502920"/>
          </a:xfrm>
          <a:prstGeom prst="line">
            <a:avLst/>
          </a:prstGeom>
          <a:noFill/>
          <a:ln w="15875">
            <a:solidFill>
              <a:schemeClr val="tx2"/>
            </a:solidFill>
            <a:prstDash val="dash"/>
          </a:ln>
        </p:spPr>
      </p:sp>
      <p:sp>
        <p:nvSpPr>
          <p:cNvPr id="12" name="Queue container"/>
          <p:cNvSpPr/>
          <p:nvPr/>
        </p:nvSpPr>
        <p:spPr>
          <a:xfrm>
            <a:off x="2011680" y="1600200"/>
            <a:ext cx="1600200" cy="1828800"/>
          </a:xfrm>
          <a:prstGeom prst="roundRect">
            <a:avLst>
              <a:gd name="adj" fmla="val 4571"/>
            </a:avLst>
          </a:prstGeom>
          <a:solidFill>
            <a:schemeClr val="bg2"/>
          </a:solidFill>
          <a:ln w="6350">
            <a:solidFill>
              <a:schemeClr val="bg2"/>
            </a:solidFill>
            <a:prstDash val="solid"/>
          </a:ln>
        </p:spPr>
      </p:sp>
      <p:sp>
        <p:nvSpPr>
          <p:cNvPr id="13" name="Text 10"/>
          <p:cNvSpPr txBox="1"/>
          <p:nvPr/>
        </p:nvSpPr>
        <p:spPr>
          <a:xfrm>
            <a:off x="2011680" y="1664208"/>
            <a:ext cx="1600200" cy="274320"/>
          </a:xfrm>
          <a:prstGeom prst="rect">
            <a:avLst/>
          </a:prstGeom>
          <a:noFill/>
          <a:ln/>
        </p:spPr>
        <p:txBody>
          <a:bodyPr wrap="square" lIns="0" tIns="0" rIns="0" bIns="0" rtlCol="0" anchor="t"/>
          <a:lstStyle/>
          <a:p>
            <a:pPr algn="ctr" indent="0" marL="0">
              <a:buNone/>
            </a:pPr>
            <a:r>
              <a:rPr lang="en-US" sz="1200" b="1" dirty="0">
                <a:solidFill>
                  <a:schemeClr val="tx1"/>
                </a:solidFill>
              </a:rPr>
              <a:t>Queue</a:t>
            </a:r>
            <a:endParaRPr lang="en-US" sz="1200" dirty="0"/>
          </a:p>
        </p:txBody>
      </p:sp>
      <p:sp>
        <p:nvSpPr>
          <p:cNvPr id="14" name="Queue slot 1"/>
          <p:cNvSpPr/>
          <p:nvPr/>
        </p:nvSpPr>
        <p:spPr>
          <a:xfrm>
            <a:off x="2130552" y="2148840"/>
            <a:ext cx="228600" cy="731520"/>
          </a:xfrm>
          <a:prstGeom prst="roundRect">
            <a:avLst>
              <a:gd name="adj" fmla="val 12000"/>
            </a:avLst>
          </a:prstGeom>
          <a:solidFill>
            <a:schemeClr val="bg1"/>
          </a:solidFill>
          <a:ln w="12700">
            <a:solidFill>
              <a:schemeClr val="accent1"/>
            </a:solidFill>
            <a:prstDash val="solid"/>
          </a:ln>
        </p:spPr>
      </p:sp>
      <p:sp>
        <p:nvSpPr>
          <p:cNvPr id="15" name="Queue slot 2"/>
          <p:cNvSpPr/>
          <p:nvPr/>
        </p:nvSpPr>
        <p:spPr>
          <a:xfrm>
            <a:off x="2414016" y="2148840"/>
            <a:ext cx="228600" cy="731520"/>
          </a:xfrm>
          <a:prstGeom prst="roundRect">
            <a:avLst>
              <a:gd name="adj" fmla="val 12000"/>
            </a:avLst>
          </a:prstGeom>
          <a:solidFill>
            <a:schemeClr val="accent1"/>
          </a:solidFill>
          <a:ln w="12700">
            <a:solidFill>
              <a:schemeClr val="accent1"/>
            </a:solidFill>
            <a:prstDash val="solid"/>
          </a:ln>
        </p:spPr>
      </p:sp>
      <p:sp>
        <p:nvSpPr>
          <p:cNvPr id="16" name="Queue slot 3"/>
          <p:cNvSpPr/>
          <p:nvPr/>
        </p:nvSpPr>
        <p:spPr>
          <a:xfrm>
            <a:off x="2697480" y="2148840"/>
            <a:ext cx="228600" cy="731520"/>
          </a:xfrm>
          <a:prstGeom prst="roundRect">
            <a:avLst>
              <a:gd name="adj" fmla="val 12000"/>
            </a:avLst>
          </a:prstGeom>
          <a:solidFill>
            <a:schemeClr val="accent1"/>
          </a:solidFill>
          <a:ln w="12700">
            <a:solidFill>
              <a:schemeClr val="accent1"/>
            </a:solidFill>
            <a:prstDash val="solid"/>
          </a:ln>
        </p:spPr>
      </p:sp>
      <p:sp>
        <p:nvSpPr>
          <p:cNvPr id="17" name="Queue slot 4"/>
          <p:cNvSpPr/>
          <p:nvPr/>
        </p:nvSpPr>
        <p:spPr>
          <a:xfrm>
            <a:off x="2980944" y="2148840"/>
            <a:ext cx="228600" cy="731520"/>
          </a:xfrm>
          <a:prstGeom prst="roundRect">
            <a:avLst>
              <a:gd name="adj" fmla="val 12000"/>
            </a:avLst>
          </a:prstGeom>
          <a:solidFill>
            <a:schemeClr val="accent1"/>
          </a:solidFill>
          <a:ln w="12700">
            <a:solidFill>
              <a:schemeClr val="accent1"/>
            </a:solidFill>
            <a:prstDash val="solid"/>
          </a:ln>
        </p:spPr>
      </p:sp>
      <p:sp>
        <p:nvSpPr>
          <p:cNvPr id="18" name="Queue slot 5"/>
          <p:cNvSpPr/>
          <p:nvPr/>
        </p:nvSpPr>
        <p:spPr>
          <a:xfrm>
            <a:off x="3264408" y="2148840"/>
            <a:ext cx="228600" cy="731520"/>
          </a:xfrm>
          <a:prstGeom prst="roundRect">
            <a:avLst>
              <a:gd name="adj" fmla="val 12000"/>
            </a:avLst>
          </a:prstGeom>
          <a:solidFill>
            <a:schemeClr val="accent1"/>
          </a:solidFill>
          <a:ln w="12700">
            <a:solidFill>
              <a:schemeClr val="accent1"/>
            </a:solidFill>
            <a:prstDash val="solid"/>
          </a:ln>
        </p:spPr>
      </p:sp>
      <p:sp>
        <p:nvSpPr>
          <p:cNvPr id="19" name="Text 16"/>
          <p:cNvSpPr txBox="1"/>
          <p:nvPr/>
        </p:nvSpPr>
        <p:spPr>
          <a:xfrm>
            <a:off x="2011680" y="2999232"/>
            <a:ext cx="1600200" cy="274320"/>
          </a:xfrm>
          <a:prstGeom prst="rect">
            <a:avLst/>
          </a:prstGeom>
          <a:noFill/>
          <a:ln/>
        </p:spPr>
        <p:txBody>
          <a:bodyPr wrap="square" lIns="0" tIns="0" rIns="0" bIns="0" rtlCol="0" anchor="t"/>
          <a:lstStyle/>
          <a:p>
            <a:pPr algn="ctr" indent="0" marL="0">
              <a:buNone/>
            </a:pPr>
            <a:r>
              <a:rPr lang="en-US" sz="1200" dirty="0">
                <a:solidFill>
                  <a:schemeClr val="tx2"/>
                </a:solidFill>
              </a:rPr>
              <a:t>drops when full</a:t>
            </a:r>
            <a:endParaRPr lang="en-US" sz="1200" dirty="0"/>
          </a:p>
        </p:txBody>
      </p:sp>
      <p:sp>
        <p:nvSpPr>
          <p:cNvPr id="20" name="Shape 17"/>
          <p:cNvSpPr/>
          <p:nvPr/>
        </p:nvSpPr>
        <p:spPr>
          <a:xfrm>
            <a:off x="3611880" y="2514600"/>
            <a:ext cx="502920" cy="0"/>
          </a:xfrm>
          <a:prstGeom prst="line">
            <a:avLst/>
          </a:prstGeom>
          <a:noFill/>
          <a:ln w="15875">
            <a:solidFill>
              <a:schemeClr val="tx2"/>
            </a:solidFill>
            <a:prstDash val="solid"/>
            <a:tailEnd type="triangle"/>
          </a:ln>
        </p:spPr>
      </p:sp>
      <p:sp>
        <p:nvSpPr>
          <p:cNvPr id="21" name="Text 18"/>
          <p:cNvSpPr txBox="1"/>
          <p:nvPr/>
        </p:nvSpPr>
        <p:spPr>
          <a:xfrm>
            <a:off x="3611880" y="2221992"/>
            <a:ext cx="502920" cy="228600"/>
          </a:xfrm>
          <a:prstGeom prst="rect">
            <a:avLst/>
          </a:prstGeom>
          <a:noFill/>
          <a:ln/>
        </p:spPr>
        <p:txBody>
          <a:bodyPr wrap="square" lIns="0" tIns="0" rIns="0" bIns="0" rtlCol="0" anchor="t"/>
          <a:lstStyle/>
          <a:p>
            <a:pPr algn="ctr" indent="0" marL="0">
              <a:buNone/>
            </a:pPr>
            <a:r>
              <a:rPr lang="en-US" sz="1200" dirty="0">
                <a:solidFill>
                  <a:schemeClr val="tx2"/>
                </a:solidFill>
              </a:rPr>
              <a:t>link</a:t>
            </a:r>
            <a:endParaRPr lang="en-US" sz="1200" dirty="0"/>
          </a:p>
        </p:txBody>
      </p:sp>
      <p:sp>
        <p:nvSpPr>
          <p:cNvPr id="22" name="Receiver"/>
          <p:cNvSpPr txBox="1"/>
          <p:nvPr/>
        </p:nvSpPr>
        <p:spPr>
          <a:xfrm>
            <a:off x="4114800" y="2286000"/>
            <a:ext cx="914400" cy="457200"/>
          </a:xfrm>
          <a:prstGeom prst="roundRect">
            <a:avLst>
              <a:gd name="adj" fmla="val 16000"/>
            </a:avLst>
          </a:prstGeom>
          <a:solidFill>
            <a:schemeClr val="bg2"/>
          </a:solidFill>
          <a:ln w="6350">
            <a:solidFill>
              <a:schemeClr val="bg2"/>
            </a:solidFill>
          </a:ln>
        </p:spPr>
        <p:txBody>
          <a:bodyPr wrap="square" lIns="762" tIns="762" rIns="762" bIns="762" rtlCol="0" anchor="ctr"/>
          <a:lstStyle/>
          <a:p>
            <a:pPr algn="ctr" indent="0" marL="0">
              <a:buNone/>
            </a:pPr>
            <a:r>
              <a:rPr lang="en-US" sz="1200" dirty="0">
                <a:solidFill>
                  <a:schemeClr val="tx1"/>
                </a:solidFill>
              </a:rPr>
              <a:t>Receiver</a:t>
            </a:r>
            <a:endParaRPr lang="en-US" sz="1200" dirty="0"/>
          </a:p>
        </p:txBody>
      </p:sp>
      <p:sp>
        <p:nvSpPr>
          <p:cNvPr id="23" name="Shape 20"/>
          <p:cNvSpPr/>
          <p:nvPr/>
        </p:nvSpPr>
        <p:spPr>
          <a:xfrm>
            <a:off x="4572000" y="2743200"/>
            <a:ext cx="0" cy="1188720"/>
          </a:xfrm>
          <a:prstGeom prst="line">
            <a:avLst/>
          </a:prstGeom>
          <a:noFill/>
          <a:ln w="15875">
            <a:solidFill>
              <a:schemeClr val="tx2"/>
            </a:solidFill>
            <a:prstDash val="dash"/>
          </a:ln>
        </p:spPr>
      </p:sp>
      <p:sp>
        <p:nvSpPr>
          <p:cNvPr id="24" name="Shape 21"/>
          <p:cNvSpPr/>
          <p:nvPr/>
        </p:nvSpPr>
        <p:spPr>
          <a:xfrm>
            <a:off x="932688" y="3931920"/>
            <a:ext cx="3639312" cy="0"/>
          </a:xfrm>
          <a:prstGeom prst="line">
            <a:avLst/>
          </a:prstGeom>
          <a:noFill/>
          <a:ln w="15875">
            <a:solidFill>
              <a:schemeClr val="tx2"/>
            </a:solidFill>
            <a:prstDash val="dash"/>
          </a:ln>
        </p:spPr>
      </p:sp>
      <p:sp>
        <p:nvSpPr>
          <p:cNvPr id="25" name="Text 22"/>
          <p:cNvSpPr txBox="1"/>
          <p:nvPr/>
        </p:nvSpPr>
        <p:spPr>
          <a:xfrm>
            <a:off x="1097280" y="3986784"/>
            <a:ext cx="3383280" cy="274320"/>
          </a:xfrm>
          <a:prstGeom prst="rect">
            <a:avLst/>
          </a:prstGeom>
          <a:noFill/>
          <a:ln/>
        </p:spPr>
        <p:txBody>
          <a:bodyPr wrap="square" lIns="0" tIns="0" rIns="0" bIns="0" rtlCol="0" anchor="t"/>
          <a:lstStyle/>
          <a:p>
            <a:pPr algn="ctr" indent="0" marL="0">
              <a:buNone/>
            </a:pPr>
            <a:r>
              <a:rPr lang="en-US" sz="1200" dirty="0">
                <a:solidFill>
                  <a:schemeClr val="tx2"/>
                </a:solidFill>
              </a:rPr>
              <a:t>ACKs return to the senders</a:t>
            </a:r>
            <a:endParaRPr lang="en-US" sz="1200" dirty="0"/>
          </a:p>
        </p:txBody>
      </p:sp>
      <p:sp>
        <p:nvSpPr>
          <p:cNvPr id="26" name="Point card 1"/>
          <p:cNvSpPr/>
          <p:nvPr/>
        </p:nvSpPr>
        <p:spPr>
          <a:xfrm>
            <a:off x="5394960" y="1417320"/>
            <a:ext cx="3291840" cy="896112"/>
          </a:xfrm>
          <a:prstGeom prst="roundRect">
            <a:avLst>
              <a:gd name="adj" fmla="val 8163"/>
            </a:avLst>
          </a:prstGeom>
          <a:solidFill>
            <a:schemeClr val="bg2"/>
          </a:solidFill>
          <a:ln w="6350">
            <a:solidFill>
              <a:schemeClr val="bg2"/>
            </a:solidFill>
            <a:prstDash val="solid"/>
          </a:ln>
        </p:spPr>
      </p:sp>
      <p:sp>
        <p:nvSpPr>
          <p:cNvPr id="27" name="Text 24"/>
          <p:cNvSpPr txBox="1"/>
          <p:nvPr/>
        </p:nvSpPr>
        <p:spPr>
          <a:xfrm>
            <a:off x="5577840" y="1508760"/>
            <a:ext cx="2926080" cy="274320"/>
          </a:xfrm>
          <a:prstGeom prst="rect">
            <a:avLst/>
          </a:prstGeom>
          <a:noFill/>
          <a:ln/>
        </p:spPr>
        <p:txBody>
          <a:bodyPr wrap="square" lIns="0" tIns="0" rIns="0" bIns="0" rtlCol="0" anchor="ctr"/>
          <a:lstStyle/>
          <a:p>
            <a:pPr algn="l" indent="0" marL="0">
              <a:buNone/>
            </a:pPr>
            <a:r>
              <a:rPr lang="en-US" sz="1600" b="1" dirty="0">
                <a:solidFill>
                  <a:schemeClr val="tx1"/>
                </a:solidFill>
              </a:rPr>
              <a:t>Too slow</a:t>
            </a:r>
            <a:endParaRPr lang="en-US" sz="1600" dirty="0"/>
          </a:p>
        </p:txBody>
      </p:sp>
      <p:sp>
        <p:nvSpPr>
          <p:cNvPr id="28" name="Text 25"/>
          <p:cNvSpPr txBox="1"/>
          <p:nvPr/>
        </p:nvSpPr>
        <p:spPr>
          <a:xfrm>
            <a:off x="5577840" y="1801368"/>
            <a:ext cx="2926080" cy="457200"/>
          </a:xfrm>
          <a:prstGeom prst="rect">
            <a:avLst/>
          </a:prstGeom>
          <a:noFill/>
          <a:ln/>
        </p:spPr>
        <p:txBody>
          <a:bodyPr wrap="square" lIns="0" tIns="0" rIns="0" bIns="0" rtlCol="0" anchor="t"/>
          <a:lstStyle/>
          <a:p>
            <a:pPr algn="l" indent="0" marL="0">
              <a:buNone/>
            </a:pPr>
            <a:r>
              <a:rPr lang="en-US" sz="1400" dirty="0">
                <a:solidFill>
                  <a:schemeClr val="tx2"/>
                </a:solidFill>
              </a:rPr>
              <a:t>Link capacity is wasted.</a:t>
            </a:r>
            <a:endParaRPr lang="en-US" sz="1400" dirty="0"/>
          </a:p>
        </p:txBody>
      </p:sp>
      <p:sp>
        <p:nvSpPr>
          <p:cNvPr id="29" name="Point card 2"/>
          <p:cNvSpPr/>
          <p:nvPr/>
        </p:nvSpPr>
        <p:spPr>
          <a:xfrm>
            <a:off x="5394960" y="2441448"/>
            <a:ext cx="3291840" cy="896112"/>
          </a:xfrm>
          <a:prstGeom prst="roundRect">
            <a:avLst>
              <a:gd name="adj" fmla="val 8163"/>
            </a:avLst>
          </a:prstGeom>
          <a:solidFill>
            <a:schemeClr val="bg2"/>
          </a:solidFill>
          <a:ln w="6350">
            <a:solidFill>
              <a:schemeClr val="bg2"/>
            </a:solidFill>
            <a:prstDash val="solid"/>
          </a:ln>
        </p:spPr>
      </p:sp>
      <p:sp>
        <p:nvSpPr>
          <p:cNvPr id="30" name="Text 27"/>
          <p:cNvSpPr txBox="1"/>
          <p:nvPr/>
        </p:nvSpPr>
        <p:spPr>
          <a:xfrm>
            <a:off x="5577840" y="2532888"/>
            <a:ext cx="2926080" cy="274320"/>
          </a:xfrm>
          <a:prstGeom prst="rect">
            <a:avLst/>
          </a:prstGeom>
          <a:noFill/>
          <a:ln/>
        </p:spPr>
        <p:txBody>
          <a:bodyPr wrap="square" lIns="0" tIns="0" rIns="0" bIns="0" rtlCol="0" anchor="ctr"/>
          <a:lstStyle/>
          <a:p>
            <a:pPr algn="l" indent="0" marL="0">
              <a:buNone/>
            </a:pPr>
            <a:r>
              <a:rPr lang="en-US" sz="1600" b="1" dirty="0">
                <a:solidFill>
                  <a:schemeClr val="tx1"/>
                </a:solidFill>
              </a:rPr>
              <a:t>Too fast</a:t>
            </a:r>
            <a:endParaRPr lang="en-US" sz="1600" dirty="0"/>
          </a:p>
        </p:txBody>
      </p:sp>
      <p:sp>
        <p:nvSpPr>
          <p:cNvPr id="31" name="Text 28"/>
          <p:cNvSpPr txBox="1"/>
          <p:nvPr/>
        </p:nvSpPr>
        <p:spPr>
          <a:xfrm>
            <a:off x="5577840" y="2825496"/>
            <a:ext cx="2926080" cy="457200"/>
          </a:xfrm>
          <a:prstGeom prst="rect">
            <a:avLst/>
          </a:prstGeom>
          <a:noFill/>
          <a:ln/>
        </p:spPr>
        <p:txBody>
          <a:bodyPr wrap="square" lIns="0" tIns="0" rIns="0" bIns="0" rtlCol="0" anchor="t"/>
          <a:lstStyle/>
          <a:p>
            <a:pPr algn="l" indent="0" marL="0">
              <a:buNone/>
            </a:pPr>
            <a:r>
              <a:rPr lang="en-US" sz="1400" dirty="0">
                <a:solidFill>
                  <a:schemeClr val="tx2"/>
                </a:solidFill>
              </a:rPr>
              <a:t>The queue fills, delay rises and packets are dropped.</a:t>
            </a:r>
            <a:endParaRPr lang="en-US" sz="1400" dirty="0"/>
          </a:p>
        </p:txBody>
      </p:sp>
      <p:sp>
        <p:nvSpPr>
          <p:cNvPr id="32" name="Point card 3"/>
          <p:cNvSpPr/>
          <p:nvPr/>
        </p:nvSpPr>
        <p:spPr>
          <a:xfrm>
            <a:off x="5394960" y="3465576"/>
            <a:ext cx="3291840" cy="896112"/>
          </a:xfrm>
          <a:prstGeom prst="roundRect">
            <a:avLst>
              <a:gd name="adj" fmla="val 8163"/>
            </a:avLst>
          </a:prstGeom>
          <a:solidFill>
            <a:schemeClr val="bg2"/>
          </a:solidFill>
          <a:ln w="6350">
            <a:solidFill>
              <a:schemeClr val="bg2"/>
            </a:solidFill>
            <a:prstDash val="solid"/>
          </a:ln>
        </p:spPr>
      </p:sp>
      <p:sp>
        <p:nvSpPr>
          <p:cNvPr id="33" name="Text 30"/>
          <p:cNvSpPr txBox="1"/>
          <p:nvPr/>
        </p:nvSpPr>
        <p:spPr>
          <a:xfrm>
            <a:off x="5577840" y="3557016"/>
            <a:ext cx="2926080" cy="274320"/>
          </a:xfrm>
          <a:prstGeom prst="rect">
            <a:avLst/>
          </a:prstGeom>
          <a:noFill/>
          <a:ln/>
        </p:spPr>
        <p:txBody>
          <a:bodyPr wrap="square" lIns="0" tIns="0" rIns="0" bIns="0" rtlCol="0" anchor="ctr"/>
          <a:lstStyle/>
          <a:p>
            <a:pPr algn="l" indent="0" marL="0">
              <a:buNone/>
            </a:pPr>
            <a:r>
              <a:rPr lang="en-US" sz="1600" b="1" dirty="0">
                <a:solidFill>
                  <a:schemeClr val="tx1"/>
                </a:solidFill>
              </a:rPr>
              <a:t>The job</a:t>
            </a:r>
            <a:endParaRPr lang="en-US" sz="1600" dirty="0"/>
          </a:p>
        </p:txBody>
      </p:sp>
      <p:sp>
        <p:nvSpPr>
          <p:cNvPr id="34" name="Text 31"/>
          <p:cNvSpPr txBox="1"/>
          <p:nvPr/>
        </p:nvSpPr>
        <p:spPr>
          <a:xfrm>
            <a:off x="5577840" y="3849624"/>
            <a:ext cx="2926080" cy="457200"/>
          </a:xfrm>
          <a:prstGeom prst="rect">
            <a:avLst/>
          </a:prstGeom>
          <a:noFill/>
          <a:ln/>
        </p:spPr>
        <p:txBody>
          <a:bodyPr wrap="square" lIns="0" tIns="0" rIns="0" bIns="0" rtlCol="0" anchor="t"/>
          <a:lstStyle/>
          <a:p>
            <a:pPr algn="l" indent="0" marL="0">
              <a:buNone/>
            </a:pPr>
            <a:r>
              <a:rPr lang="en-US" sz="1400" dirty="0">
                <a:solidFill>
                  <a:schemeClr val="tx2"/>
                </a:solidFill>
              </a:rPr>
              <a:t>Find the highest rate that keeps the queue short, using only ACKs.</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INTRODUCTION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Fixed rules fail in two ways</a:t>
            </a:r>
            <a:endParaRPr lang="en-US" sz="3600" dirty="0"/>
          </a:p>
        </p:txBody>
      </p:sp>
      <p:sp>
        <p:nvSpPr>
          <p:cNvPr id="5" name="Weakness card 1"/>
          <p:cNvSpPr/>
          <p:nvPr/>
        </p:nvSpPr>
        <p:spPr>
          <a:xfrm>
            <a:off x="457200" y="1371600"/>
            <a:ext cx="3977640" cy="2468880"/>
          </a:xfrm>
          <a:prstGeom prst="roundRect">
            <a:avLst>
              <a:gd name="adj" fmla="val 2963"/>
            </a:avLst>
          </a:prstGeom>
          <a:solidFill>
            <a:schemeClr val="bg2"/>
          </a:solidFill>
          <a:ln w="6350">
            <a:solidFill>
              <a:schemeClr val="bg2"/>
            </a:solidFill>
            <a:prstDash val="solid"/>
          </a:ln>
        </p:spPr>
      </p:sp>
      <p:sp>
        <p:nvSpPr>
          <p:cNvPr id="6" name="Text 3"/>
          <p:cNvSpPr txBox="1"/>
          <p:nvPr/>
        </p:nvSpPr>
        <p:spPr>
          <a:xfrm>
            <a:off x="685800" y="1508760"/>
            <a:ext cx="3520440" cy="365760"/>
          </a:xfrm>
          <a:prstGeom prst="rect">
            <a:avLst/>
          </a:prstGeom>
          <a:noFill/>
          <a:ln/>
        </p:spPr>
        <p:txBody>
          <a:bodyPr wrap="square" lIns="0" tIns="0" rIns="0" bIns="0" rtlCol="0" anchor="ctr"/>
          <a:lstStyle/>
          <a:p>
            <a:pPr algn="l" indent="0" marL="0">
              <a:buNone/>
            </a:pPr>
            <a:r>
              <a:rPr lang="en-US" sz="1800" b="1" dirty="0">
                <a:solidFill>
                  <a:schemeClr val="tx1"/>
                </a:solidFill>
              </a:rPr>
              <a:t>Every loss is treated as congestion</a:t>
            </a:r>
            <a:endParaRPr lang="en-US" sz="1800" dirty="0"/>
          </a:p>
        </p:txBody>
      </p:sp>
      <p:sp>
        <p:nvSpPr>
          <p:cNvPr id="7" name="Text 4"/>
          <p:cNvSpPr txBox="1"/>
          <p:nvPr/>
        </p:nvSpPr>
        <p:spPr>
          <a:xfrm>
            <a:off x="685800" y="1938528"/>
            <a:ext cx="3520440" cy="868680"/>
          </a:xfrm>
          <a:prstGeom prst="rect">
            <a:avLst/>
          </a:prstGeom>
          <a:noFill/>
          <a:ln/>
        </p:spPr>
        <p:txBody>
          <a:bodyPr wrap="square" lIns="0" tIns="0" rIns="0" bIns="0" rtlCol="0" anchor="t"/>
          <a:lstStyle/>
          <a:p>
            <a:pPr algn="l" indent="0" marL="0">
              <a:buNone/>
            </a:pPr>
            <a:r>
              <a:rPr lang="en-US" sz="1400" dirty="0">
                <a:solidFill>
                  <a:schemeClr val="tx2"/>
                </a:solidFill>
              </a:rPr>
              <a:t>A noisy wireless link drops packets for reasons that have nothing to do with congestion. The sender slows down anyway.</a:t>
            </a:r>
            <a:endParaRPr lang="en-US" sz="1400" dirty="0"/>
          </a:p>
        </p:txBody>
      </p:sp>
      <p:sp>
        <p:nvSpPr>
          <p:cNvPr id="8" name="Text 5"/>
          <p:cNvSpPr txBox="1"/>
          <p:nvPr/>
        </p:nvSpPr>
        <p:spPr>
          <a:xfrm>
            <a:off x="685800" y="2852928"/>
            <a:ext cx="3520440" cy="502920"/>
          </a:xfrm>
          <a:prstGeom prst="rect">
            <a:avLst/>
          </a:prstGeom>
          <a:noFill/>
          <a:ln/>
        </p:spPr>
        <p:txBody>
          <a:bodyPr wrap="square" lIns="0" tIns="0" rIns="0" bIns="0" rtlCol="0" anchor="ctr"/>
          <a:lstStyle/>
          <a:p>
            <a:pPr algn="l" indent="0" marL="0">
              <a:buNone/>
            </a:pPr>
            <a:r>
              <a:rPr lang="en-US" sz="3200" b="1" dirty="0">
                <a:solidFill>
                  <a:schemeClr val="accent3"/>
                </a:solidFill>
              </a:rPr>
              <a:t>10 → 3.7 Mbps</a:t>
            </a:r>
            <a:endParaRPr lang="en-US" sz="3200" dirty="0"/>
          </a:p>
        </p:txBody>
      </p:sp>
      <p:sp>
        <p:nvSpPr>
          <p:cNvPr id="9" name="Text 6"/>
          <p:cNvSpPr txBox="1"/>
          <p:nvPr/>
        </p:nvSpPr>
        <p:spPr>
          <a:xfrm>
            <a:off x="685800" y="3374136"/>
            <a:ext cx="3520440" cy="274320"/>
          </a:xfrm>
          <a:prstGeom prst="rect">
            <a:avLst/>
          </a:prstGeom>
          <a:noFill/>
          <a:ln/>
        </p:spPr>
        <p:txBody>
          <a:bodyPr wrap="square" lIns="0" tIns="0" rIns="0" bIns="0" rtlCol="0" anchor="t"/>
          <a:lstStyle/>
          <a:p>
            <a:pPr algn="l" indent="0" marL="0">
              <a:buNone/>
            </a:pPr>
            <a:r>
              <a:rPr lang="en-US" sz="1200" dirty="0">
                <a:solidFill>
                  <a:schemeClr val="tx2"/>
                </a:solidFill>
              </a:rPr>
              <a:t>CUBIC at only 1% random loss</a:t>
            </a:r>
            <a:endParaRPr lang="en-US" sz="1200" dirty="0"/>
          </a:p>
        </p:txBody>
      </p:sp>
      <p:sp>
        <p:nvSpPr>
          <p:cNvPr id="10" name="Weakness card 2"/>
          <p:cNvSpPr/>
          <p:nvPr/>
        </p:nvSpPr>
        <p:spPr>
          <a:xfrm>
            <a:off x="4709160" y="1371600"/>
            <a:ext cx="3977640" cy="2468880"/>
          </a:xfrm>
          <a:prstGeom prst="roundRect">
            <a:avLst>
              <a:gd name="adj" fmla="val 2963"/>
            </a:avLst>
          </a:prstGeom>
          <a:solidFill>
            <a:schemeClr val="bg2"/>
          </a:solidFill>
          <a:ln w="6350">
            <a:solidFill>
              <a:schemeClr val="bg2"/>
            </a:solidFill>
            <a:prstDash val="solid"/>
          </a:ln>
        </p:spPr>
      </p:sp>
      <p:sp>
        <p:nvSpPr>
          <p:cNvPr id="11" name="Text 8"/>
          <p:cNvSpPr txBox="1"/>
          <p:nvPr/>
        </p:nvSpPr>
        <p:spPr>
          <a:xfrm>
            <a:off x="4937760" y="1508760"/>
            <a:ext cx="3520440" cy="365760"/>
          </a:xfrm>
          <a:prstGeom prst="rect">
            <a:avLst/>
          </a:prstGeom>
          <a:noFill/>
          <a:ln/>
        </p:spPr>
        <p:txBody>
          <a:bodyPr wrap="square" lIns="0" tIns="0" rIns="0" bIns="0" rtlCol="0" anchor="ctr"/>
          <a:lstStyle/>
          <a:p>
            <a:pPr algn="l" indent="0" marL="0">
              <a:buNone/>
            </a:pPr>
            <a:r>
              <a:rPr lang="en-US" sz="1800" b="1" dirty="0">
                <a:solidFill>
                  <a:schemeClr val="tx1"/>
                </a:solidFill>
              </a:rPr>
              <a:t>The queue is kept full</a:t>
            </a:r>
            <a:endParaRPr lang="en-US" sz="1800" dirty="0"/>
          </a:p>
        </p:txBody>
      </p:sp>
      <p:sp>
        <p:nvSpPr>
          <p:cNvPr id="12" name="Text 9"/>
          <p:cNvSpPr txBox="1"/>
          <p:nvPr/>
        </p:nvSpPr>
        <p:spPr>
          <a:xfrm>
            <a:off x="4937760" y="1938528"/>
            <a:ext cx="3520440" cy="868680"/>
          </a:xfrm>
          <a:prstGeom prst="rect">
            <a:avLst/>
          </a:prstGeom>
          <a:noFill/>
          <a:ln/>
        </p:spPr>
        <p:txBody>
          <a:bodyPr wrap="square" lIns="0" tIns="0" rIns="0" bIns="0" rtlCol="0" anchor="t"/>
          <a:lstStyle/>
          <a:p>
            <a:pPr algn="l" indent="0" marL="0">
              <a:buNone/>
            </a:pPr>
            <a:r>
              <a:rPr lang="en-US" sz="1400" dirty="0">
                <a:solidFill>
                  <a:schemeClr val="tx2"/>
                </a:solidFill>
              </a:rPr>
              <a:t>Reno and CUBIC back off only after the queue overflows, so every packet waits in a nearly full queue.</a:t>
            </a:r>
            <a:endParaRPr lang="en-US" sz="1400" dirty="0"/>
          </a:p>
        </p:txBody>
      </p:sp>
      <p:sp>
        <p:nvSpPr>
          <p:cNvPr id="13" name="Text 10"/>
          <p:cNvSpPr txBox="1"/>
          <p:nvPr/>
        </p:nvSpPr>
        <p:spPr>
          <a:xfrm>
            <a:off x="4937760" y="2852928"/>
            <a:ext cx="3520440" cy="502920"/>
          </a:xfrm>
          <a:prstGeom prst="rect">
            <a:avLst/>
          </a:prstGeom>
          <a:noFill/>
          <a:ln/>
        </p:spPr>
        <p:txBody>
          <a:bodyPr wrap="square" lIns="0" tIns="0" rIns="0" bIns="0" rtlCol="0" anchor="ctr"/>
          <a:lstStyle/>
          <a:p>
            <a:pPr algn="l" indent="0" marL="0">
              <a:buNone/>
            </a:pPr>
            <a:r>
              <a:rPr lang="en-US" sz="3200" b="1" dirty="0">
                <a:solidFill>
                  <a:schemeClr val="accent3"/>
                </a:solidFill>
              </a:rPr>
              <a:t>2×</a:t>
            </a:r>
            <a:endParaRPr lang="en-US" sz="3200" dirty="0"/>
          </a:p>
        </p:txBody>
      </p:sp>
      <p:sp>
        <p:nvSpPr>
          <p:cNvPr id="14" name="Text 11"/>
          <p:cNvSpPr txBox="1"/>
          <p:nvPr/>
        </p:nvSpPr>
        <p:spPr>
          <a:xfrm>
            <a:off x="4937760" y="3374136"/>
            <a:ext cx="3520440" cy="274320"/>
          </a:xfrm>
          <a:prstGeom prst="rect">
            <a:avLst/>
          </a:prstGeom>
          <a:noFill/>
          <a:ln/>
        </p:spPr>
        <p:txBody>
          <a:bodyPr wrap="square" lIns="0" tIns="0" rIns="0" bIns="0" rtlCol="0" anchor="t"/>
          <a:lstStyle/>
          <a:p>
            <a:pPr algn="l" indent="0" marL="0">
              <a:buNone/>
            </a:pPr>
            <a:r>
              <a:rPr lang="en-US" sz="1200" dirty="0">
                <a:solidFill>
                  <a:schemeClr val="tx2"/>
                </a:solidFill>
              </a:rPr>
              <a:t>the round-trip time of an empty queue</a:t>
            </a:r>
            <a:endParaRPr lang="en-US" sz="1200" dirty="0"/>
          </a:p>
        </p:txBody>
      </p:sp>
      <p:sp>
        <p:nvSpPr>
          <p:cNvPr id="15" name="Text 12"/>
          <p:cNvSpPr txBox="1"/>
          <p:nvPr/>
        </p:nvSpPr>
        <p:spPr>
          <a:xfrm>
            <a:off x="457200" y="4069080"/>
            <a:ext cx="8229600" cy="365760"/>
          </a:xfrm>
          <a:prstGeom prst="rect">
            <a:avLst/>
          </a:prstGeom>
          <a:noFill/>
          <a:ln/>
        </p:spPr>
        <p:txBody>
          <a:bodyPr wrap="square" lIns="0" tIns="0" rIns="0" bIns="0" rtlCol="0" anchor="ctr"/>
          <a:lstStyle/>
          <a:p>
            <a:pPr algn="l" indent="0" marL="0">
              <a:buNone/>
            </a:pPr>
            <a:r>
              <a:rPr lang="en-US" sz="1800" b="1" dirty="0">
                <a:solidFill>
                  <a:schemeClr val="tx1"/>
                </a:solidFill>
              </a:rPr>
              <a:t>The question: can learned components fix both?</a:t>
            </a:r>
            <a:endParaRPr lang="en-US" sz="18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INTRODUCTION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Goal and objectives</a:t>
            </a:r>
            <a:endParaRPr lang="en-US" sz="3600" dirty="0"/>
          </a:p>
        </p:txBody>
      </p:sp>
      <p:sp>
        <p:nvSpPr>
          <p:cNvPr id="5" name="Goal card"/>
          <p:cNvSpPr/>
          <p:nvPr/>
        </p:nvSpPr>
        <p:spPr>
          <a:xfrm>
            <a:off x="457200" y="1371600"/>
            <a:ext cx="3017520" cy="3108960"/>
          </a:xfrm>
          <a:prstGeom prst="roundRect">
            <a:avLst>
              <a:gd name="adj" fmla="val 2424"/>
            </a:avLst>
          </a:prstGeom>
          <a:solidFill>
            <a:schemeClr val="tx1"/>
          </a:solidFill>
          <a:ln w="6350">
            <a:solidFill>
              <a:schemeClr val="tx1"/>
            </a:solidFill>
            <a:prstDash val="solid"/>
          </a:ln>
        </p:spPr>
      </p:sp>
      <p:sp>
        <p:nvSpPr>
          <p:cNvPr id="6" name="Text 3"/>
          <p:cNvSpPr txBox="1"/>
          <p:nvPr/>
        </p:nvSpPr>
        <p:spPr>
          <a:xfrm>
            <a:off x="685800" y="1554480"/>
            <a:ext cx="2560320" cy="274320"/>
          </a:xfrm>
          <a:prstGeom prst="rect">
            <a:avLst/>
          </a:prstGeom>
          <a:noFill/>
          <a:ln/>
        </p:spPr>
        <p:txBody>
          <a:bodyPr wrap="square" lIns="0" tIns="0" rIns="0" bIns="0" rtlCol="0" anchor="t"/>
          <a:lstStyle/>
          <a:p>
            <a:pPr algn="l" indent="0" marL="0">
              <a:buNone/>
            </a:pPr>
            <a:r>
              <a:rPr lang="en-US" sz="1100" b="1" spc="200" kern="0" dirty="0">
                <a:solidFill>
                  <a:schemeClr val="accent2"/>
                </a:solidFill>
              </a:rPr>
              <a:t>GOAL</a:t>
            </a:r>
            <a:endParaRPr lang="en-US" sz="1100" dirty="0"/>
          </a:p>
        </p:txBody>
      </p:sp>
      <p:sp>
        <p:nvSpPr>
          <p:cNvPr id="7" name="Text 4"/>
          <p:cNvSpPr txBox="1"/>
          <p:nvPr/>
        </p:nvSpPr>
        <p:spPr>
          <a:xfrm>
            <a:off x="685800" y="1874520"/>
            <a:ext cx="2560320" cy="2423160"/>
          </a:xfrm>
          <a:prstGeom prst="rect">
            <a:avLst/>
          </a:prstGeom>
          <a:noFill/>
          <a:ln/>
        </p:spPr>
        <p:txBody>
          <a:bodyPr wrap="square" lIns="0" tIns="0" rIns="0" bIns="0" rtlCol="0" anchor="ctr"/>
          <a:lstStyle/>
          <a:p>
            <a:pPr algn="l" indent="0" marL="0">
              <a:buNone/>
            </a:pPr>
            <a:r>
              <a:rPr lang="en-US" sz="1600" dirty="0">
                <a:solidFill>
                  <a:schemeClr val="bg1"/>
                </a:solidFill>
              </a:rPr>
              <a:t>Test whether machine learning, deep learning and reinforcement learning can fix both weaknesses, and report honestly where they cannot.</a:t>
            </a:r>
            <a:endParaRPr lang="en-US" sz="1600" dirty="0"/>
          </a:p>
        </p:txBody>
      </p:sp>
      <p:sp>
        <p:nvSpPr>
          <p:cNvPr id="8" name="Text 5"/>
          <p:cNvSpPr txBox="1"/>
          <p:nvPr/>
        </p:nvSpPr>
        <p:spPr>
          <a:xfrm>
            <a:off x="3749040" y="1389888"/>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4297680" y="1325880"/>
            <a:ext cx="4389120" cy="512064"/>
          </a:xfrm>
          <a:prstGeom prst="rect">
            <a:avLst/>
          </a:prstGeom>
          <a:noFill/>
          <a:ln/>
        </p:spPr>
        <p:txBody>
          <a:bodyPr wrap="square" lIns="0" tIns="0" rIns="0" bIns="0" rtlCol="0" anchor="ctr"/>
          <a:lstStyle/>
          <a:p>
            <a:pPr algn="l" indent="0" marL="0">
              <a:buNone/>
            </a:pPr>
            <a:r>
              <a:rPr lang="en-US" sz="1400" dirty="0">
                <a:solidFill>
                  <a:schemeClr val="tx1"/>
                </a:solidFill>
              </a:rPr>
              <a:t>Build a packet-level simulator and three baselines: Reno, CUBIC and BBR</a:t>
            </a:r>
            <a:endParaRPr lang="en-US" sz="1400" dirty="0"/>
          </a:p>
        </p:txBody>
      </p:sp>
      <p:sp>
        <p:nvSpPr>
          <p:cNvPr id="10" name="Text 7"/>
          <p:cNvSpPr txBox="1"/>
          <p:nvPr/>
        </p:nvSpPr>
        <p:spPr>
          <a:xfrm>
            <a:off x="3749040" y="1938528"/>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4297680" y="1874520"/>
            <a:ext cx="4389120" cy="512064"/>
          </a:xfrm>
          <a:prstGeom prst="rect">
            <a:avLst/>
          </a:prstGeom>
          <a:noFill/>
          <a:ln/>
        </p:spPr>
        <p:txBody>
          <a:bodyPr wrap="square" lIns="0" tIns="0" rIns="0" bIns="0" rtlCol="0" anchor="ctr"/>
          <a:lstStyle/>
          <a:p>
            <a:pPr algn="l" indent="0" marL="0">
              <a:buNone/>
            </a:pPr>
            <a:r>
              <a:rPr lang="en-US" sz="1400" dirty="0">
                <a:solidFill>
                  <a:schemeClr val="tx1"/>
                </a:solidFill>
              </a:rPr>
              <a:t>ML: classify each loss as congestion or random, and use it inside CUBIC</a:t>
            </a:r>
            <a:endParaRPr lang="en-US" sz="1400" dirty="0"/>
          </a:p>
        </p:txBody>
      </p:sp>
      <p:sp>
        <p:nvSpPr>
          <p:cNvPr id="12" name="Text 9"/>
          <p:cNvSpPr txBox="1"/>
          <p:nvPr/>
        </p:nvSpPr>
        <p:spPr>
          <a:xfrm>
            <a:off x="3749040" y="2487168"/>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4297680" y="2423160"/>
            <a:ext cx="4389120" cy="512064"/>
          </a:xfrm>
          <a:prstGeom prst="rect">
            <a:avLst/>
          </a:prstGeom>
          <a:noFill/>
          <a:ln/>
        </p:spPr>
        <p:txBody>
          <a:bodyPr wrap="square" lIns="0" tIns="0" rIns="0" bIns="0" rtlCol="0" anchor="ctr"/>
          <a:lstStyle/>
          <a:p>
            <a:pPr algn="l" indent="0" marL="0">
              <a:buNone/>
            </a:pPr>
            <a:r>
              <a:rPr lang="en-US" sz="1400" dirty="0">
                <a:solidFill>
                  <a:schemeClr val="tx1"/>
                </a:solidFill>
              </a:rPr>
              <a:t>DL: forecast round-trip time with an LSTM</a:t>
            </a:r>
            <a:endParaRPr lang="en-US" sz="1400" dirty="0"/>
          </a:p>
        </p:txBody>
      </p:sp>
      <p:sp>
        <p:nvSpPr>
          <p:cNvPr id="14" name="Text 11"/>
          <p:cNvSpPr txBox="1"/>
          <p:nvPr/>
        </p:nvSpPr>
        <p:spPr>
          <a:xfrm>
            <a:off x="3749040" y="3035808"/>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4297680" y="2971800"/>
            <a:ext cx="4389120" cy="512064"/>
          </a:xfrm>
          <a:prstGeom prst="rect">
            <a:avLst/>
          </a:prstGeom>
          <a:noFill/>
          <a:ln/>
        </p:spPr>
        <p:txBody>
          <a:bodyPr wrap="square" lIns="0" tIns="0" rIns="0" bIns="0" rtlCol="0" anchor="ctr"/>
          <a:lstStyle/>
          <a:p>
            <a:pPr algn="l" indent="0" marL="0">
              <a:buNone/>
            </a:pPr>
            <a:r>
              <a:rPr lang="en-US" sz="1400" dirty="0">
                <a:solidFill>
                  <a:schemeClr val="tx1"/>
                </a:solidFill>
              </a:rPr>
              <a:t>DRL: train a PPO agent to set the sending rate, plus a CUBIC+PPO hybrid</a:t>
            </a:r>
            <a:endParaRPr lang="en-US" sz="1400" dirty="0"/>
          </a:p>
        </p:txBody>
      </p:sp>
      <p:sp>
        <p:nvSpPr>
          <p:cNvPr id="16" name="Text 13"/>
          <p:cNvSpPr txBox="1"/>
          <p:nvPr/>
        </p:nvSpPr>
        <p:spPr>
          <a:xfrm>
            <a:off x="3749040" y="3584448"/>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4"/>
          <p:cNvSpPr txBox="1"/>
          <p:nvPr/>
        </p:nvSpPr>
        <p:spPr>
          <a:xfrm>
            <a:off x="4297680" y="3520440"/>
            <a:ext cx="4389120" cy="512064"/>
          </a:xfrm>
          <a:prstGeom prst="rect">
            <a:avLst/>
          </a:prstGeom>
          <a:noFill/>
          <a:ln/>
        </p:spPr>
        <p:txBody>
          <a:bodyPr wrap="square" lIns="0" tIns="0" rIns="0" bIns="0" rtlCol="0" anchor="ctr"/>
          <a:lstStyle/>
          <a:p>
            <a:pPr algn="l" indent="0" marL="0">
              <a:buNone/>
            </a:pPr>
            <a:r>
              <a:rPr lang="en-US" sz="1400" dirty="0">
                <a:solidFill>
                  <a:schemeClr val="tx1"/>
                </a:solidFill>
              </a:rPr>
              <a:t>Compare all six on throughput, delay, loss and fairness</a:t>
            </a:r>
            <a:endParaRPr lang="en-US" sz="1400" dirty="0"/>
          </a:p>
        </p:txBody>
      </p:sp>
      <p:sp>
        <p:nvSpPr>
          <p:cNvPr id="18" name="Text 15"/>
          <p:cNvSpPr txBox="1"/>
          <p:nvPr/>
        </p:nvSpPr>
        <p:spPr>
          <a:xfrm>
            <a:off x="3749040" y="4133088"/>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9" name="Text 16"/>
          <p:cNvSpPr txBox="1"/>
          <p:nvPr/>
        </p:nvSpPr>
        <p:spPr>
          <a:xfrm>
            <a:off x="4297680" y="4069080"/>
            <a:ext cx="4389120" cy="512064"/>
          </a:xfrm>
          <a:prstGeom prst="rect">
            <a:avLst/>
          </a:prstGeom>
          <a:noFill/>
          <a:ln/>
        </p:spPr>
        <p:txBody>
          <a:bodyPr wrap="square" lIns="0" tIns="0" rIns="0" bIns="0" rtlCol="0" anchor="ctr"/>
          <a:lstStyle/>
          <a:p>
            <a:pPr algn="l" indent="0" marL="0">
              <a:buNone/>
            </a:pPr>
            <a:r>
              <a:rPr lang="en-US" sz="1400" dirty="0">
                <a:solidFill>
                  <a:schemeClr val="tx1"/>
                </a:solidFill>
              </a:rPr>
              <a:t>Fix the weaknesses found, and test everything on a real Wi-Fi network</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age 1"/>
          <p:cNvSpPr txBox="1"/>
          <p:nvPr/>
        </p:nvSpPr>
        <p:spPr>
          <a:xfrm>
            <a:off x="651052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3" name="Stage 2"/>
          <p:cNvSpPr txBox="1"/>
          <p:nvPr/>
        </p:nvSpPr>
        <p:spPr>
          <a:xfrm>
            <a:off x="678484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2</a:t>
            </a:r>
            <a:endParaRPr lang="en-US" sz="800" dirty="0"/>
          </a:p>
        </p:txBody>
      </p:sp>
      <p:sp>
        <p:nvSpPr>
          <p:cNvPr id="4" name="Stage 3"/>
          <p:cNvSpPr txBox="1"/>
          <p:nvPr/>
        </p:nvSpPr>
        <p:spPr>
          <a:xfrm>
            <a:off x="705916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5" name="Stage 4"/>
          <p:cNvSpPr txBox="1"/>
          <p:nvPr/>
        </p:nvSpPr>
        <p:spPr>
          <a:xfrm>
            <a:off x="733348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6" name="Stage 5"/>
          <p:cNvSpPr txBox="1"/>
          <p:nvPr/>
        </p:nvSpPr>
        <p:spPr>
          <a:xfrm>
            <a:off x="760780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7" name="Stage 6"/>
          <p:cNvSpPr txBox="1"/>
          <p:nvPr/>
        </p:nvSpPr>
        <p:spPr>
          <a:xfrm>
            <a:off x="788212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8" name="Stage 7"/>
          <p:cNvSpPr txBox="1"/>
          <p:nvPr/>
        </p:nvSpPr>
        <p:spPr>
          <a:xfrm>
            <a:off x="815644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9" name="Stage 8"/>
          <p:cNvSpPr txBox="1"/>
          <p:nvPr/>
        </p:nvSpPr>
        <p:spPr>
          <a:xfrm>
            <a:off x="843076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0" name="Text 8"/>
          <p:cNvSpPr txBox="1"/>
          <p:nvPr/>
        </p:nvSpPr>
        <p:spPr>
          <a:xfrm>
            <a:off x="548640" y="1234440"/>
            <a:ext cx="5486400" cy="274320"/>
          </a:xfrm>
          <a:prstGeom prst="rect">
            <a:avLst/>
          </a:prstGeom>
          <a:noFill/>
          <a:ln/>
        </p:spPr>
        <p:txBody>
          <a:bodyPr wrap="square" lIns="0" tIns="0" rIns="0" bIns="0" rtlCol="0" anchor="t"/>
          <a:lstStyle/>
          <a:p>
            <a:pPr algn="l" indent="0" marL="0">
              <a:buNone/>
            </a:pPr>
            <a:r>
              <a:rPr lang="en-US" sz="1300" b="1" spc="300" kern="0" dirty="0">
                <a:solidFill>
                  <a:schemeClr val="accent2"/>
                </a:solidFill>
              </a:rPr>
              <a:t>STAGE 1 OF 8</a:t>
            </a:r>
            <a:endParaRPr lang="en-US" sz="1300" dirty="0"/>
          </a:p>
        </p:txBody>
      </p:sp>
      <p:sp>
        <p:nvSpPr>
          <p:cNvPr id="11" name="Text 9"/>
          <p:cNvSpPr txBox="1"/>
          <p:nvPr/>
        </p:nvSpPr>
        <p:spPr>
          <a:xfrm>
            <a:off x="548640" y="16002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Simulator and baselines</a:t>
            </a:r>
            <a:endParaRPr lang="en-US" sz="4000" dirty="0"/>
          </a:p>
        </p:txBody>
      </p:sp>
      <p:sp>
        <p:nvSpPr>
          <p:cNvPr id="12" name="Text 10"/>
          <p:cNvSpPr txBox="1"/>
          <p:nvPr/>
        </p:nvSpPr>
        <p:spPr>
          <a:xfrm>
            <a:off x="548640" y="2788920"/>
            <a:ext cx="5486400" cy="256032"/>
          </a:xfrm>
          <a:prstGeom prst="rect">
            <a:avLst/>
          </a:prstGeom>
          <a:noFill/>
          <a:ln/>
        </p:spPr>
        <p:txBody>
          <a:bodyPr wrap="square" lIns="0" tIns="0" rIns="0" bIns="0" rtlCol="0" anchor="t"/>
          <a:lstStyle/>
          <a:p>
            <a:pPr algn="l" indent="0" marL="0">
              <a:buNone/>
            </a:pPr>
            <a:r>
              <a:rPr lang="en-US" sz="1100" b="1" spc="200" kern="0" dirty="0">
                <a:solidFill>
                  <a:schemeClr val="accent5"/>
                </a:solidFill>
              </a:rPr>
              <a:t>WHY THIS STAGE</a:t>
            </a:r>
            <a:endParaRPr lang="en-US" sz="1100" dirty="0"/>
          </a:p>
        </p:txBody>
      </p:sp>
      <p:sp>
        <p:nvSpPr>
          <p:cNvPr id="13" name="Text 11"/>
          <p:cNvSpPr txBox="1"/>
          <p:nvPr/>
        </p:nvSpPr>
        <p:spPr>
          <a:xfrm>
            <a:off x="548640" y="3090672"/>
            <a:ext cx="7863840" cy="1005840"/>
          </a:xfrm>
          <a:prstGeom prst="rect">
            <a:avLst/>
          </a:prstGeom>
          <a:noFill/>
          <a:ln/>
        </p:spPr>
        <p:txBody>
          <a:bodyPr wrap="square" lIns="0" tIns="0" rIns="0" bIns="0" rtlCol="0" anchor="t"/>
          <a:lstStyle/>
          <a:p>
            <a:pPr algn="l" indent="0" marL="0">
              <a:buNone/>
            </a:pPr>
            <a:r>
              <a:rPr lang="en-US" sz="1800" dirty="0">
                <a:solidFill>
                  <a:schemeClr val="bg2"/>
                </a:solidFill>
              </a:rPr>
              <a:t>To compare controllers fairly we need one network that every controller sees in the same way, and classical baselines to beat.</a:t>
            </a:r>
            <a:endParaRPr lang="en-US" sz="1800" dirty="0"/>
          </a:p>
        </p:txBody>
      </p:sp>
      <p:sp>
        <p:nvSpPr>
          <p:cNvPr id="15"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endParaRPr lang="en-US" sz="4400" dirty="0"/>
          </a:p>
        </p:txBody>
      </p:sp>
      <p:sp>
        <p:nvSpPr>
          <p:cNvPr id="16"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1 · SIMULATOR AND BASELINES</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How the project fits together</a:t>
            </a:r>
            <a:endParaRPr lang="en-US" sz="3600" dirty="0"/>
          </a:p>
        </p:txBody>
      </p:sp>
      <p:sp>
        <p:nvSpPr>
          <p:cNvPr id="5" name="Stage 1"/>
          <p:cNvSpPr txBox="1"/>
          <p:nvPr/>
        </p:nvSpPr>
        <p:spPr>
          <a:xfrm>
            <a:off x="651052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2</a:t>
            </a:r>
            <a:endParaRPr lang="en-US" sz="800" dirty="0"/>
          </a:p>
        </p:txBody>
      </p:sp>
      <p:sp>
        <p:nvSpPr>
          <p:cNvPr id="7" name="Stage 3"/>
          <p:cNvSpPr txBox="1"/>
          <p:nvPr/>
        </p:nvSpPr>
        <p:spPr>
          <a:xfrm>
            <a:off x="70591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3" name="Simulator"/>
          <p:cNvSpPr txBox="1"/>
          <p:nvPr/>
        </p:nvSpPr>
        <p:spPr>
          <a:xfrm>
            <a:off x="457200" y="1325880"/>
            <a:ext cx="8229600" cy="502920"/>
          </a:xfrm>
          <a:prstGeom prst="roundRect">
            <a:avLst>
              <a:gd name="adj" fmla="val 14545"/>
            </a:avLst>
          </a:prstGeom>
          <a:solidFill>
            <a:schemeClr val="tx1"/>
          </a:solidFill>
          <a:ln w="6350">
            <a:solidFill>
              <a:schemeClr val="tx1"/>
            </a:solidFill>
          </a:ln>
        </p:spPr>
        <p:txBody>
          <a:bodyPr wrap="square" lIns="762" tIns="762" rIns="762" bIns="762" rtlCol="0" anchor="ctr"/>
          <a:lstStyle/>
          <a:p>
            <a:pPr algn="ctr" indent="0" marL="0">
              <a:buNone/>
            </a:pPr>
            <a:r>
              <a:rPr lang="en-US" sz="1400" b="1" dirty="0">
                <a:solidFill>
                  <a:schemeClr val="bg1"/>
                </a:solidFill>
              </a:rPr>
              <a:t>Network simulator: senders, a queue and one bottleneck link</a:t>
            </a:r>
            <a:endParaRPr lang="en-US" sz="1400" dirty="0"/>
          </a:p>
        </p:txBody>
      </p:sp>
      <p:sp>
        <p:nvSpPr>
          <p:cNvPr id="14" name="Shape 11"/>
          <p:cNvSpPr/>
          <p:nvPr/>
        </p:nvSpPr>
        <p:spPr>
          <a:xfrm>
            <a:off x="1783080" y="1828800"/>
            <a:ext cx="0" cy="365760"/>
          </a:xfrm>
          <a:prstGeom prst="line">
            <a:avLst/>
          </a:prstGeom>
          <a:noFill/>
          <a:ln w="15875">
            <a:solidFill>
              <a:schemeClr val="tx2"/>
            </a:solidFill>
            <a:prstDash val="solid"/>
            <a:tailEnd type="triangle"/>
          </a:ln>
        </p:spPr>
      </p:sp>
      <p:sp>
        <p:nvSpPr>
          <p:cNvPr id="15" name="Text 12"/>
          <p:cNvSpPr txBox="1"/>
          <p:nvPr/>
        </p:nvSpPr>
        <p:spPr>
          <a:xfrm>
            <a:off x="1874520" y="1892808"/>
            <a:ext cx="1188720" cy="228600"/>
          </a:xfrm>
          <a:prstGeom prst="rect">
            <a:avLst/>
          </a:prstGeom>
          <a:noFill/>
          <a:ln/>
        </p:spPr>
        <p:txBody>
          <a:bodyPr wrap="square" lIns="0" tIns="0" rIns="0" bIns="0" rtlCol="0" anchor="ctr"/>
          <a:lstStyle/>
          <a:p>
            <a:pPr algn="l" indent="0" marL="0">
              <a:buNone/>
            </a:pPr>
            <a:r>
              <a:rPr lang="en-US" sz="1100" dirty="0">
                <a:solidFill>
                  <a:schemeClr val="tx2"/>
                </a:solidFill>
              </a:rPr>
              <a:t>labelled losses</a:t>
            </a:r>
            <a:endParaRPr lang="en-US" sz="1100" dirty="0"/>
          </a:p>
        </p:txBody>
      </p:sp>
      <p:sp>
        <p:nvSpPr>
          <p:cNvPr id="16" name="Track Loss classifier (ML)"/>
          <p:cNvSpPr/>
          <p:nvPr/>
        </p:nvSpPr>
        <p:spPr>
          <a:xfrm>
            <a:off x="457200" y="2194560"/>
            <a:ext cx="2651760" cy="868680"/>
          </a:xfrm>
          <a:prstGeom prst="roundRect">
            <a:avLst>
              <a:gd name="adj" fmla="val 8421"/>
            </a:avLst>
          </a:prstGeom>
          <a:solidFill>
            <a:schemeClr val="bg2"/>
          </a:solidFill>
          <a:ln w="6350">
            <a:solidFill>
              <a:schemeClr val="bg2"/>
            </a:solidFill>
            <a:prstDash val="solid"/>
          </a:ln>
        </p:spPr>
      </p:sp>
      <p:sp>
        <p:nvSpPr>
          <p:cNvPr id="17" name="Text 14"/>
          <p:cNvSpPr txBox="1"/>
          <p:nvPr/>
        </p:nvSpPr>
        <p:spPr>
          <a:xfrm>
            <a:off x="594360" y="2249424"/>
            <a:ext cx="2377440" cy="274320"/>
          </a:xfrm>
          <a:prstGeom prst="rect">
            <a:avLst/>
          </a:prstGeom>
          <a:noFill/>
          <a:ln/>
        </p:spPr>
        <p:txBody>
          <a:bodyPr wrap="square" lIns="0" tIns="0" rIns="0" bIns="0" rtlCol="0" anchor="ctr"/>
          <a:lstStyle/>
          <a:p>
            <a:pPr algn="l" indent="0" marL="0">
              <a:buNone/>
            </a:pPr>
            <a:r>
              <a:rPr lang="en-US" sz="1400" b="1" dirty="0">
                <a:solidFill>
                  <a:schemeClr val="tx1"/>
                </a:solidFill>
              </a:rPr>
              <a:t>Loss classifier (ML)</a:t>
            </a:r>
            <a:endParaRPr lang="en-US" sz="1400" dirty="0"/>
          </a:p>
        </p:txBody>
      </p:sp>
      <p:sp>
        <p:nvSpPr>
          <p:cNvPr id="18" name="Text 15"/>
          <p:cNvSpPr txBox="1"/>
          <p:nvPr/>
        </p:nvSpPr>
        <p:spPr>
          <a:xfrm>
            <a:off x="594360" y="2542032"/>
            <a:ext cx="2377440" cy="457200"/>
          </a:xfrm>
          <a:prstGeom prst="rect">
            <a:avLst/>
          </a:prstGeom>
          <a:noFill/>
          <a:ln/>
        </p:spPr>
        <p:txBody>
          <a:bodyPr wrap="square" lIns="0" tIns="0" rIns="0" bIns="0" rtlCol="0" anchor="t"/>
          <a:lstStyle/>
          <a:p>
            <a:pPr algn="l" indent="0" marL="0">
              <a:buNone/>
            </a:pPr>
            <a:r>
              <a:rPr lang="en-US" sz="1200" dirty="0">
                <a:solidFill>
                  <a:schemeClr val="tx2"/>
                </a:solidFill>
              </a:rPr>
              <a:t>XGBoost, trained on 64,256 labelled losses</a:t>
            </a:r>
            <a:endParaRPr lang="en-US" sz="1200" dirty="0"/>
          </a:p>
        </p:txBody>
      </p:sp>
      <p:sp>
        <p:nvSpPr>
          <p:cNvPr id="19" name="Shape 16"/>
          <p:cNvSpPr/>
          <p:nvPr/>
        </p:nvSpPr>
        <p:spPr>
          <a:xfrm>
            <a:off x="4572000" y="1828800"/>
            <a:ext cx="0" cy="365760"/>
          </a:xfrm>
          <a:prstGeom prst="line">
            <a:avLst/>
          </a:prstGeom>
          <a:noFill/>
          <a:ln w="15875">
            <a:solidFill>
              <a:schemeClr val="tx2"/>
            </a:solidFill>
            <a:prstDash val="solid"/>
            <a:tailEnd type="triangle"/>
          </a:ln>
        </p:spPr>
      </p:sp>
      <p:sp>
        <p:nvSpPr>
          <p:cNvPr id="20" name="Text 17"/>
          <p:cNvSpPr txBox="1"/>
          <p:nvPr/>
        </p:nvSpPr>
        <p:spPr>
          <a:xfrm>
            <a:off x="4663440" y="1892808"/>
            <a:ext cx="1188720" cy="228600"/>
          </a:xfrm>
          <a:prstGeom prst="rect">
            <a:avLst/>
          </a:prstGeom>
          <a:noFill/>
          <a:ln/>
        </p:spPr>
        <p:txBody>
          <a:bodyPr wrap="square" lIns="0" tIns="0" rIns="0" bIns="0" rtlCol="0" anchor="ctr"/>
          <a:lstStyle/>
          <a:p>
            <a:pPr algn="l" indent="0" marL="0">
              <a:buNone/>
            </a:pPr>
            <a:r>
              <a:rPr lang="en-US" sz="1100" dirty="0">
                <a:solidFill>
                  <a:schemeClr val="tx2"/>
                </a:solidFill>
              </a:rPr>
              <a:t>RTT series</a:t>
            </a:r>
            <a:endParaRPr lang="en-US" sz="1100" dirty="0"/>
          </a:p>
        </p:txBody>
      </p:sp>
      <p:sp>
        <p:nvSpPr>
          <p:cNvPr id="21" name="Track RTT forecaster (DL)"/>
          <p:cNvSpPr/>
          <p:nvPr/>
        </p:nvSpPr>
        <p:spPr>
          <a:xfrm>
            <a:off x="3246120" y="2194560"/>
            <a:ext cx="2651760" cy="868680"/>
          </a:xfrm>
          <a:prstGeom prst="roundRect">
            <a:avLst>
              <a:gd name="adj" fmla="val 8421"/>
            </a:avLst>
          </a:prstGeom>
          <a:solidFill>
            <a:schemeClr val="bg2"/>
          </a:solidFill>
          <a:ln w="6350">
            <a:solidFill>
              <a:schemeClr val="bg2"/>
            </a:solidFill>
            <a:prstDash val="solid"/>
          </a:ln>
        </p:spPr>
      </p:sp>
      <p:sp>
        <p:nvSpPr>
          <p:cNvPr id="22" name="Text 19"/>
          <p:cNvSpPr txBox="1"/>
          <p:nvPr/>
        </p:nvSpPr>
        <p:spPr>
          <a:xfrm>
            <a:off x="3383280" y="2249424"/>
            <a:ext cx="2377440" cy="274320"/>
          </a:xfrm>
          <a:prstGeom prst="rect">
            <a:avLst/>
          </a:prstGeom>
          <a:noFill/>
          <a:ln/>
        </p:spPr>
        <p:txBody>
          <a:bodyPr wrap="square" lIns="0" tIns="0" rIns="0" bIns="0" rtlCol="0" anchor="ctr"/>
          <a:lstStyle/>
          <a:p>
            <a:pPr algn="l" indent="0" marL="0">
              <a:buNone/>
            </a:pPr>
            <a:r>
              <a:rPr lang="en-US" sz="1400" b="1" dirty="0">
                <a:solidFill>
                  <a:schemeClr val="tx1"/>
                </a:solidFill>
              </a:rPr>
              <a:t>RTT forecaster (DL)</a:t>
            </a:r>
            <a:endParaRPr lang="en-US" sz="1400" dirty="0"/>
          </a:p>
        </p:txBody>
      </p:sp>
      <p:sp>
        <p:nvSpPr>
          <p:cNvPr id="23" name="Text 20"/>
          <p:cNvSpPr txBox="1"/>
          <p:nvPr/>
        </p:nvSpPr>
        <p:spPr>
          <a:xfrm>
            <a:off x="3383280" y="2542032"/>
            <a:ext cx="2377440" cy="457200"/>
          </a:xfrm>
          <a:prstGeom prst="rect">
            <a:avLst/>
          </a:prstGeom>
          <a:noFill/>
          <a:ln/>
        </p:spPr>
        <p:txBody>
          <a:bodyPr wrap="square" lIns="0" tIns="0" rIns="0" bIns="0" rtlCol="0" anchor="t"/>
          <a:lstStyle/>
          <a:p>
            <a:pPr algn="l" indent="0" marL="0">
              <a:buNone/>
            </a:pPr>
            <a:r>
              <a:rPr lang="en-US" sz="1200" dirty="0">
                <a:solidFill>
                  <a:schemeClr val="tx2"/>
                </a:solidFill>
              </a:rPr>
              <a:t>LSTM, trained on 195,027 samples; evaluated on its own</a:t>
            </a:r>
            <a:endParaRPr lang="en-US" sz="1200" dirty="0"/>
          </a:p>
        </p:txBody>
      </p:sp>
      <p:sp>
        <p:nvSpPr>
          <p:cNvPr id="24" name="Shape 21"/>
          <p:cNvSpPr/>
          <p:nvPr/>
        </p:nvSpPr>
        <p:spPr>
          <a:xfrm>
            <a:off x="7360920" y="1828800"/>
            <a:ext cx="0" cy="365760"/>
          </a:xfrm>
          <a:prstGeom prst="line">
            <a:avLst/>
          </a:prstGeom>
          <a:noFill/>
          <a:ln w="15875">
            <a:solidFill>
              <a:schemeClr val="tx2"/>
            </a:solidFill>
            <a:prstDash val="solid"/>
            <a:tailEnd type="triangle"/>
          </a:ln>
        </p:spPr>
      </p:sp>
      <p:sp>
        <p:nvSpPr>
          <p:cNvPr id="25" name="Text 22"/>
          <p:cNvSpPr txBox="1"/>
          <p:nvPr/>
        </p:nvSpPr>
        <p:spPr>
          <a:xfrm>
            <a:off x="7452360" y="1892808"/>
            <a:ext cx="1188720" cy="228600"/>
          </a:xfrm>
          <a:prstGeom prst="rect">
            <a:avLst/>
          </a:prstGeom>
          <a:noFill/>
          <a:ln/>
        </p:spPr>
        <p:txBody>
          <a:bodyPr wrap="square" lIns="0" tIns="0" rIns="0" bIns="0" rtlCol="0" anchor="ctr"/>
          <a:lstStyle/>
          <a:p>
            <a:pPr algn="l" indent="0" marL="0">
              <a:buNone/>
            </a:pPr>
            <a:r>
              <a:rPr lang="en-US" sz="1100" dirty="0">
                <a:solidFill>
                  <a:schemeClr val="tx2"/>
                </a:solidFill>
              </a:rPr>
              <a:t>episodes</a:t>
            </a:r>
            <a:endParaRPr lang="en-US" sz="1100" dirty="0"/>
          </a:p>
        </p:txBody>
      </p:sp>
      <p:sp>
        <p:nvSpPr>
          <p:cNvPr id="26" name="Track PPO training (DRL)"/>
          <p:cNvSpPr/>
          <p:nvPr/>
        </p:nvSpPr>
        <p:spPr>
          <a:xfrm>
            <a:off x="6035040" y="2194560"/>
            <a:ext cx="2651760" cy="868680"/>
          </a:xfrm>
          <a:prstGeom prst="roundRect">
            <a:avLst>
              <a:gd name="adj" fmla="val 8421"/>
            </a:avLst>
          </a:prstGeom>
          <a:solidFill>
            <a:schemeClr val="bg2"/>
          </a:solidFill>
          <a:ln w="6350">
            <a:solidFill>
              <a:schemeClr val="bg2"/>
            </a:solidFill>
            <a:prstDash val="solid"/>
          </a:ln>
        </p:spPr>
      </p:sp>
      <p:sp>
        <p:nvSpPr>
          <p:cNvPr id="27" name="Text 24"/>
          <p:cNvSpPr txBox="1"/>
          <p:nvPr/>
        </p:nvSpPr>
        <p:spPr>
          <a:xfrm>
            <a:off x="6172200" y="2249424"/>
            <a:ext cx="2377440" cy="274320"/>
          </a:xfrm>
          <a:prstGeom prst="rect">
            <a:avLst/>
          </a:prstGeom>
          <a:noFill/>
          <a:ln/>
        </p:spPr>
        <p:txBody>
          <a:bodyPr wrap="square" lIns="0" tIns="0" rIns="0" bIns="0" rtlCol="0" anchor="ctr"/>
          <a:lstStyle/>
          <a:p>
            <a:pPr algn="l" indent="0" marL="0">
              <a:buNone/>
            </a:pPr>
            <a:r>
              <a:rPr lang="en-US" sz="1400" b="1" dirty="0">
                <a:solidFill>
                  <a:schemeClr val="tx1"/>
                </a:solidFill>
              </a:rPr>
              <a:t>PPO training (DRL)</a:t>
            </a:r>
            <a:endParaRPr lang="en-US" sz="1400" dirty="0"/>
          </a:p>
        </p:txBody>
      </p:sp>
      <p:sp>
        <p:nvSpPr>
          <p:cNvPr id="28" name="Text 25"/>
          <p:cNvSpPr txBox="1"/>
          <p:nvPr/>
        </p:nvSpPr>
        <p:spPr>
          <a:xfrm>
            <a:off x="6172200" y="2542032"/>
            <a:ext cx="2377440" cy="457200"/>
          </a:xfrm>
          <a:prstGeom prst="rect">
            <a:avLst/>
          </a:prstGeom>
          <a:noFill/>
          <a:ln/>
        </p:spPr>
        <p:txBody>
          <a:bodyPr wrap="square" lIns="0" tIns="0" rIns="0" bIns="0" rtlCol="0" anchor="t"/>
          <a:lstStyle/>
          <a:p>
            <a:pPr algn="l" indent="0" marL="0">
              <a:buNone/>
            </a:pPr>
            <a:r>
              <a:rPr lang="en-US" sz="1200" dirty="0">
                <a:solidFill>
                  <a:schemeClr val="tx2"/>
                </a:solidFill>
              </a:rPr>
              <a:t>1,000,000 decisions on random links</a:t>
            </a:r>
            <a:endParaRPr lang="en-US" sz="1200" dirty="0"/>
          </a:p>
        </p:txBody>
      </p:sp>
      <p:sp>
        <p:nvSpPr>
          <p:cNvPr id="29" name="Controller Reno"/>
          <p:cNvSpPr txBox="1"/>
          <p:nvPr/>
        </p:nvSpPr>
        <p:spPr>
          <a:xfrm>
            <a:off x="457200" y="3429000"/>
            <a:ext cx="1280160" cy="457200"/>
          </a:xfrm>
          <a:prstGeom prst="roundRect">
            <a:avLst>
              <a:gd name="adj" fmla="val 16000"/>
            </a:avLst>
          </a:prstGeom>
          <a:solidFill>
            <a:schemeClr val="bg1"/>
          </a:solidFill>
          <a:ln w="12700">
            <a:solidFill>
              <a:schemeClr val="accent5"/>
            </a:solidFill>
          </a:ln>
        </p:spPr>
        <p:txBody>
          <a:bodyPr wrap="square" lIns="762" tIns="762" rIns="762" bIns="762" rtlCol="0" anchor="ctr"/>
          <a:lstStyle/>
          <a:p>
            <a:pPr algn="ctr" indent="0" marL="0">
              <a:buNone/>
            </a:pPr>
            <a:r>
              <a:rPr lang="en-US" sz="1300" dirty="0">
                <a:solidFill>
                  <a:schemeClr val="tx1"/>
                </a:solidFill>
              </a:rPr>
              <a:t>Reno</a:t>
            </a:r>
            <a:endParaRPr lang="en-US" sz="1300" dirty="0"/>
          </a:p>
        </p:txBody>
      </p:sp>
      <p:sp>
        <p:nvSpPr>
          <p:cNvPr id="30" name="Controller CUBIC"/>
          <p:cNvSpPr txBox="1"/>
          <p:nvPr/>
        </p:nvSpPr>
        <p:spPr>
          <a:xfrm>
            <a:off x="1847088" y="3429000"/>
            <a:ext cx="1280160" cy="457200"/>
          </a:xfrm>
          <a:prstGeom prst="roundRect">
            <a:avLst>
              <a:gd name="adj" fmla="val 16000"/>
            </a:avLst>
          </a:prstGeom>
          <a:solidFill>
            <a:schemeClr val="bg1"/>
          </a:solidFill>
          <a:ln w="12700">
            <a:solidFill>
              <a:schemeClr val="accent5"/>
            </a:solidFill>
          </a:ln>
        </p:spPr>
        <p:txBody>
          <a:bodyPr wrap="square" lIns="762" tIns="762" rIns="762" bIns="762" rtlCol="0" anchor="ctr"/>
          <a:lstStyle/>
          <a:p>
            <a:pPr algn="ctr" indent="0" marL="0">
              <a:buNone/>
            </a:pPr>
            <a:r>
              <a:rPr lang="en-US" sz="1300" dirty="0">
                <a:solidFill>
                  <a:schemeClr val="tx1"/>
                </a:solidFill>
              </a:rPr>
              <a:t>CUBIC</a:t>
            </a:r>
            <a:endParaRPr lang="en-US" sz="1300" dirty="0"/>
          </a:p>
        </p:txBody>
      </p:sp>
      <p:sp>
        <p:nvSpPr>
          <p:cNvPr id="31" name="Controller BBR"/>
          <p:cNvSpPr txBox="1"/>
          <p:nvPr/>
        </p:nvSpPr>
        <p:spPr>
          <a:xfrm>
            <a:off x="3236976" y="3429000"/>
            <a:ext cx="1280160" cy="457200"/>
          </a:xfrm>
          <a:prstGeom prst="roundRect">
            <a:avLst>
              <a:gd name="adj" fmla="val 16000"/>
            </a:avLst>
          </a:prstGeom>
          <a:solidFill>
            <a:schemeClr val="bg1"/>
          </a:solidFill>
          <a:ln w="12700">
            <a:solidFill>
              <a:schemeClr val="accent5"/>
            </a:solidFill>
          </a:ln>
        </p:spPr>
        <p:txBody>
          <a:bodyPr wrap="square" lIns="762" tIns="762" rIns="762" bIns="762" rtlCol="0" anchor="ctr"/>
          <a:lstStyle/>
          <a:p>
            <a:pPr algn="ctr" indent="0" marL="0">
              <a:buNone/>
            </a:pPr>
            <a:r>
              <a:rPr lang="en-US" sz="1300" dirty="0">
                <a:solidFill>
                  <a:schemeClr val="tx1"/>
                </a:solidFill>
              </a:rPr>
              <a:t>BBR</a:t>
            </a:r>
            <a:endParaRPr lang="en-US" sz="1300" dirty="0"/>
          </a:p>
        </p:txBody>
      </p:sp>
      <p:sp>
        <p:nvSpPr>
          <p:cNvPr id="32" name="Controller CUBIC+ML"/>
          <p:cNvSpPr txBox="1"/>
          <p:nvPr/>
        </p:nvSpPr>
        <p:spPr>
          <a:xfrm>
            <a:off x="4626864" y="3429000"/>
            <a:ext cx="1280160" cy="457200"/>
          </a:xfrm>
          <a:prstGeom prst="roundRect">
            <a:avLst>
              <a:gd name="adj" fmla="val 16000"/>
            </a:avLst>
          </a:prstGeom>
          <a:solidFill>
            <a:schemeClr val="bg2"/>
          </a:solidFill>
          <a:ln w="19050">
            <a:solidFill>
              <a:schemeClr val="accent1"/>
            </a:solidFill>
          </a:ln>
        </p:spPr>
        <p:txBody>
          <a:bodyPr wrap="square" lIns="762" tIns="762" rIns="762" bIns="762" rtlCol="0" anchor="ctr"/>
          <a:lstStyle/>
          <a:p>
            <a:pPr algn="ctr" indent="0" marL="0">
              <a:buNone/>
            </a:pPr>
            <a:r>
              <a:rPr lang="en-US" sz="1300" b="1" dirty="0">
                <a:solidFill>
                  <a:schemeClr val="tx1"/>
                </a:solidFill>
              </a:rPr>
              <a:t>CUBIC+ML</a:t>
            </a:r>
            <a:endParaRPr lang="en-US" sz="1300" dirty="0"/>
          </a:p>
        </p:txBody>
      </p:sp>
      <p:sp>
        <p:nvSpPr>
          <p:cNvPr id="33" name="Controller PPO"/>
          <p:cNvSpPr txBox="1"/>
          <p:nvPr/>
        </p:nvSpPr>
        <p:spPr>
          <a:xfrm>
            <a:off x="6016752" y="3429000"/>
            <a:ext cx="1280160" cy="457200"/>
          </a:xfrm>
          <a:prstGeom prst="roundRect">
            <a:avLst>
              <a:gd name="adj" fmla="val 16000"/>
            </a:avLst>
          </a:prstGeom>
          <a:solidFill>
            <a:schemeClr val="bg2"/>
          </a:solidFill>
          <a:ln w="19050">
            <a:solidFill>
              <a:schemeClr val="accent1"/>
            </a:solidFill>
          </a:ln>
        </p:spPr>
        <p:txBody>
          <a:bodyPr wrap="square" lIns="762" tIns="762" rIns="762" bIns="762" rtlCol="0" anchor="ctr"/>
          <a:lstStyle/>
          <a:p>
            <a:pPr algn="ctr" indent="0" marL="0">
              <a:buNone/>
            </a:pPr>
            <a:r>
              <a:rPr lang="en-US" sz="1300" b="1" dirty="0">
                <a:solidFill>
                  <a:schemeClr val="tx1"/>
                </a:solidFill>
              </a:rPr>
              <a:t>PPO</a:t>
            </a:r>
            <a:endParaRPr lang="en-US" sz="1300" dirty="0"/>
          </a:p>
        </p:txBody>
      </p:sp>
      <p:sp>
        <p:nvSpPr>
          <p:cNvPr id="34" name="Controller CUBIC+PPO"/>
          <p:cNvSpPr txBox="1"/>
          <p:nvPr/>
        </p:nvSpPr>
        <p:spPr>
          <a:xfrm>
            <a:off x="7406640" y="3429000"/>
            <a:ext cx="1280160" cy="457200"/>
          </a:xfrm>
          <a:prstGeom prst="roundRect">
            <a:avLst>
              <a:gd name="adj" fmla="val 16000"/>
            </a:avLst>
          </a:prstGeom>
          <a:solidFill>
            <a:schemeClr val="bg2"/>
          </a:solidFill>
          <a:ln w="19050">
            <a:solidFill>
              <a:schemeClr val="accent1"/>
            </a:solidFill>
          </a:ln>
        </p:spPr>
        <p:txBody>
          <a:bodyPr wrap="square" lIns="762" tIns="762" rIns="762" bIns="762" rtlCol="0" anchor="ctr"/>
          <a:lstStyle/>
          <a:p>
            <a:pPr algn="ctr" indent="0" marL="0">
              <a:buNone/>
            </a:pPr>
            <a:r>
              <a:rPr lang="en-US" sz="1300" b="1" dirty="0">
                <a:solidFill>
                  <a:schemeClr val="tx1"/>
                </a:solidFill>
              </a:rPr>
              <a:t>CUBIC+PPO</a:t>
            </a:r>
            <a:endParaRPr lang="en-US" sz="1300" dirty="0"/>
          </a:p>
        </p:txBody>
      </p:sp>
      <p:sp>
        <p:nvSpPr>
          <p:cNvPr id="35" name="Shape 32"/>
          <p:cNvSpPr/>
          <p:nvPr/>
        </p:nvSpPr>
        <p:spPr>
          <a:xfrm>
            <a:off x="1783080" y="3063240"/>
            <a:ext cx="0" cy="182880"/>
          </a:xfrm>
          <a:prstGeom prst="line">
            <a:avLst/>
          </a:prstGeom>
          <a:noFill/>
          <a:ln w="15875">
            <a:solidFill>
              <a:schemeClr val="tx2"/>
            </a:solidFill>
            <a:prstDash val="solid"/>
          </a:ln>
        </p:spPr>
      </p:sp>
      <p:sp>
        <p:nvSpPr>
          <p:cNvPr id="36" name="Shape 33"/>
          <p:cNvSpPr/>
          <p:nvPr/>
        </p:nvSpPr>
        <p:spPr>
          <a:xfrm>
            <a:off x="1783080" y="3246120"/>
            <a:ext cx="3483864" cy="0"/>
          </a:xfrm>
          <a:prstGeom prst="line">
            <a:avLst/>
          </a:prstGeom>
          <a:noFill/>
          <a:ln w="15875">
            <a:solidFill>
              <a:schemeClr val="tx2"/>
            </a:solidFill>
            <a:prstDash val="solid"/>
          </a:ln>
        </p:spPr>
      </p:sp>
      <p:sp>
        <p:nvSpPr>
          <p:cNvPr id="37" name="Shape 34"/>
          <p:cNvSpPr/>
          <p:nvPr/>
        </p:nvSpPr>
        <p:spPr>
          <a:xfrm>
            <a:off x="5266944" y="3246120"/>
            <a:ext cx="0" cy="182880"/>
          </a:xfrm>
          <a:prstGeom prst="line">
            <a:avLst/>
          </a:prstGeom>
          <a:noFill/>
          <a:ln w="15875">
            <a:solidFill>
              <a:schemeClr val="tx2"/>
            </a:solidFill>
            <a:prstDash val="solid"/>
            <a:tailEnd type="triangle"/>
          </a:ln>
        </p:spPr>
      </p:sp>
      <p:sp>
        <p:nvSpPr>
          <p:cNvPr id="38" name="Shape 35"/>
          <p:cNvSpPr/>
          <p:nvPr/>
        </p:nvSpPr>
        <p:spPr>
          <a:xfrm>
            <a:off x="7360920" y="3063240"/>
            <a:ext cx="0" cy="182880"/>
          </a:xfrm>
          <a:prstGeom prst="line">
            <a:avLst/>
          </a:prstGeom>
          <a:noFill/>
          <a:ln w="15875">
            <a:solidFill>
              <a:schemeClr val="tx2"/>
            </a:solidFill>
            <a:prstDash val="solid"/>
          </a:ln>
        </p:spPr>
      </p:sp>
      <p:sp>
        <p:nvSpPr>
          <p:cNvPr id="39" name="Shape 36"/>
          <p:cNvSpPr/>
          <p:nvPr/>
        </p:nvSpPr>
        <p:spPr>
          <a:xfrm>
            <a:off x="6656832" y="3246120"/>
            <a:ext cx="1389888" cy="0"/>
          </a:xfrm>
          <a:prstGeom prst="line">
            <a:avLst/>
          </a:prstGeom>
          <a:noFill/>
          <a:ln w="15875">
            <a:solidFill>
              <a:schemeClr val="tx2"/>
            </a:solidFill>
            <a:prstDash val="solid"/>
          </a:ln>
        </p:spPr>
      </p:sp>
      <p:sp>
        <p:nvSpPr>
          <p:cNvPr id="40" name="Shape 37"/>
          <p:cNvSpPr/>
          <p:nvPr/>
        </p:nvSpPr>
        <p:spPr>
          <a:xfrm>
            <a:off x="6656832" y="3246120"/>
            <a:ext cx="0" cy="182880"/>
          </a:xfrm>
          <a:prstGeom prst="line">
            <a:avLst/>
          </a:prstGeom>
          <a:noFill/>
          <a:ln w="15875">
            <a:solidFill>
              <a:schemeClr val="tx2"/>
            </a:solidFill>
            <a:prstDash val="solid"/>
            <a:tailEnd type="triangle"/>
          </a:ln>
        </p:spPr>
      </p:sp>
      <p:sp>
        <p:nvSpPr>
          <p:cNvPr id="41" name="Shape 38"/>
          <p:cNvSpPr/>
          <p:nvPr/>
        </p:nvSpPr>
        <p:spPr>
          <a:xfrm>
            <a:off x="8046720" y="3246120"/>
            <a:ext cx="0" cy="182880"/>
          </a:xfrm>
          <a:prstGeom prst="line">
            <a:avLst/>
          </a:prstGeom>
          <a:noFill/>
          <a:ln w="15875">
            <a:solidFill>
              <a:schemeClr val="tx2"/>
            </a:solidFill>
            <a:prstDash val="solid"/>
            <a:tailEnd type="triangle"/>
          </a:ln>
        </p:spPr>
      </p:sp>
      <p:sp>
        <p:nvSpPr>
          <p:cNvPr id="42" name="Shape 39"/>
          <p:cNvSpPr/>
          <p:nvPr/>
        </p:nvSpPr>
        <p:spPr>
          <a:xfrm>
            <a:off x="4572000" y="3886200"/>
            <a:ext cx="0" cy="228600"/>
          </a:xfrm>
          <a:prstGeom prst="line">
            <a:avLst/>
          </a:prstGeom>
          <a:noFill/>
          <a:ln w="15875">
            <a:solidFill>
              <a:schemeClr val="tx2"/>
            </a:solidFill>
            <a:prstDash val="solid"/>
            <a:tailEnd type="triangle"/>
          </a:ln>
        </p:spPr>
      </p:sp>
      <p:sp>
        <p:nvSpPr>
          <p:cNvPr id="43" name="Evaluation"/>
          <p:cNvSpPr txBox="1"/>
          <p:nvPr/>
        </p:nvSpPr>
        <p:spPr>
          <a:xfrm>
            <a:off x="457200" y="4114800"/>
            <a:ext cx="8229600" cy="457200"/>
          </a:xfrm>
          <a:prstGeom prst="roundRect">
            <a:avLst>
              <a:gd name="adj" fmla="val 16000"/>
            </a:avLst>
          </a:prstGeom>
          <a:solidFill>
            <a:schemeClr val="bg2"/>
          </a:solidFill>
          <a:ln w="6350">
            <a:solidFill>
              <a:schemeClr val="bg2"/>
            </a:solidFill>
          </a:ln>
        </p:spPr>
        <p:txBody>
          <a:bodyPr wrap="square" lIns="762" tIns="762" rIns="762" bIns="762" rtlCol="0" anchor="ctr"/>
          <a:lstStyle/>
          <a:p>
            <a:pPr algn="ctr" indent="0" marL="0">
              <a:buNone/>
            </a:pPr>
            <a:r>
              <a:rPr lang="en-US" sz="1400" dirty="0">
                <a:solidFill>
                  <a:schemeClr val="tx1"/>
                </a:solidFill>
              </a:rPr>
              <a:t>Evaluation in the same simulator: throughput, delay, loss and fairness</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1 · SIMULATOR AND BASELINES</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The network simulator</a:t>
            </a:r>
            <a:endParaRPr lang="en-US" sz="3600" dirty="0"/>
          </a:p>
        </p:txBody>
      </p:sp>
      <p:sp>
        <p:nvSpPr>
          <p:cNvPr id="5" name="Stage 1"/>
          <p:cNvSpPr txBox="1"/>
          <p:nvPr/>
        </p:nvSpPr>
        <p:spPr>
          <a:xfrm>
            <a:off x="651052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2</a:t>
            </a:r>
            <a:endParaRPr lang="en-US" sz="800" dirty="0"/>
          </a:p>
        </p:txBody>
      </p:sp>
      <p:sp>
        <p:nvSpPr>
          <p:cNvPr id="7" name="Stage 3"/>
          <p:cNvSpPr txBox="1"/>
          <p:nvPr/>
        </p:nvSpPr>
        <p:spPr>
          <a:xfrm>
            <a:off x="70591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3" name="Fact card 1"/>
          <p:cNvSpPr/>
          <p:nvPr/>
        </p:nvSpPr>
        <p:spPr>
          <a:xfrm>
            <a:off x="457200" y="1371600"/>
            <a:ext cx="1965960" cy="1005840"/>
          </a:xfrm>
          <a:prstGeom prst="roundRect">
            <a:avLst>
              <a:gd name="adj" fmla="val 7273"/>
            </a:avLst>
          </a:prstGeom>
          <a:solidFill>
            <a:schemeClr val="bg2"/>
          </a:solidFill>
          <a:ln w="6350">
            <a:solidFill>
              <a:schemeClr val="bg2"/>
            </a:solidFill>
            <a:prstDash val="solid"/>
          </a:ln>
        </p:spPr>
      </p:sp>
      <p:sp>
        <p:nvSpPr>
          <p:cNvPr id="14" name="Text 11"/>
          <p:cNvSpPr txBox="1"/>
          <p:nvPr/>
        </p:nvSpPr>
        <p:spPr>
          <a:xfrm>
            <a:off x="621792" y="1463040"/>
            <a:ext cx="1645920" cy="384048"/>
          </a:xfrm>
          <a:prstGeom prst="rect">
            <a:avLst/>
          </a:prstGeom>
          <a:noFill/>
          <a:ln/>
        </p:spPr>
        <p:txBody>
          <a:bodyPr wrap="square" lIns="0" tIns="0" rIns="0" bIns="0" rtlCol="0" anchor="ctr"/>
          <a:lstStyle/>
          <a:p>
            <a:pPr algn="l" indent="0" marL="0">
              <a:buNone/>
            </a:pPr>
            <a:r>
              <a:rPr lang="en-US" sz="2200" b="1" dirty="0">
                <a:solidFill>
                  <a:schemeClr val="accent1"/>
                </a:solidFill>
              </a:rPr>
              <a:t>1 ms</a:t>
            </a:r>
            <a:endParaRPr lang="en-US" sz="2200" dirty="0"/>
          </a:p>
        </p:txBody>
      </p:sp>
      <p:sp>
        <p:nvSpPr>
          <p:cNvPr id="15" name="Text 12"/>
          <p:cNvSpPr txBox="1"/>
          <p:nvPr/>
        </p:nvSpPr>
        <p:spPr>
          <a:xfrm>
            <a:off x="621792" y="1874520"/>
            <a:ext cx="1645920" cy="438912"/>
          </a:xfrm>
          <a:prstGeom prst="rect">
            <a:avLst/>
          </a:prstGeom>
          <a:noFill/>
          <a:ln/>
        </p:spPr>
        <p:txBody>
          <a:bodyPr wrap="square" lIns="0" tIns="0" rIns="0" bIns="0" rtlCol="0" anchor="t"/>
          <a:lstStyle/>
          <a:p>
            <a:pPr algn="l" indent="0" marL="0">
              <a:buNone/>
            </a:pPr>
            <a:r>
              <a:rPr lang="en-US" sz="1200" dirty="0">
                <a:solidFill>
                  <a:schemeClr val="tx2"/>
                </a:solidFill>
              </a:rPr>
              <a:t>time step, with exact ACK timestamps</a:t>
            </a:r>
            <a:endParaRPr lang="en-US" sz="1200" dirty="0"/>
          </a:p>
        </p:txBody>
      </p:sp>
      <p:sp>
        <p:nvSpPr>
          <p:cNvPr id="16" name="Fact card 2"/>
          <p:cNvSpPr/>
          <p:nvPr/>
        </p:nvSpPr>
        <p:spPr>
          <a:xfrm>
            <a:off x="2560320" y="1371600"/>
            <a:ext cx="1965960" cy="1005840"/>
          </a:xfrm>
          <a:prstGeom prst="roundRect">
            <a:avLst>
              <a:gd name="adj" fmla="val 7273"/>
            </a:avLst>
          </a:prstGeom>
          <a:solidFill>
            <a:schemeClr val="bg2"/>
          </a:solidFill>
          <a:ln w="6350">
            <a:solidFill>
              <a:schemeClr val="bg2"/>
            </a:solidFill>
            <a:prstDash val="solid"/>
          </a:ln>
        </p:spPr>
      </p:sp>
      <p:sp>
        <p:nvSpPr>
          <p:cNvPr id="17" name="Text 14"/>
          <p:cNvSpPr txBox="1"/>
          <p:nvPr/>
        </p:nvSpPr>
        <p:spPr>
          <a:xfrm>
            <a:off x="2724912" y="1463040"/>
            <a:ext cx="1645920" cy="384048"/>
          </a:xfrm>
          <a:prstGeom prst="rect">
            <a:avLst/>
          </a:prstGeom>
          <a:noFill/>
          <a:ln/>
        </p:spPr>
        <p:txBody>
          <a:bodyPr wrap="square" lIns="0" tIns="0" rIns="0" bIns="0" rtlCol="0" anchor="ctr"/>
          <a:lstStyle/>
          <a:p>
            <a:pPr algn="l" indent="0" marL="0">
              <a:buNone/>
            </a:pPr>
            <a:r>
              <a:rPr lang="en-US" sz="2200" b="1" dirty="0">
                <a:solidFill>
                  <a:schemeClr val="accent1"/>
                </a:solidFill>
              </a:rPr>
              <a:t>1500 B</a:t>
            </a:r>
            <a:endParaRPr lang="en-US" sz="2200" dirty="0"/>
          </a:p>
        </p:txBody>
      </p:sp>
      <p:sp>
        <p:nvSpPr>
          <p:cNvPr id="18" name="Text 15"/>
          <p:cNvSpPr txBox="1"/>
          <p:nvPr/>
        </p:nvSpPr>
        <p:spPr>
          <a:xfrm>
            <a:off x="2724912" y="1874520"/>
            <a:ext cx="1645920" cy="438912"/>
          </a:xfrm>
          <a:prstGeom prst="rect">
            <a:avLst/>
          </a:prstGeom>
          <a:noFill/>
          <a:ln/>
        </p:spPr>
        <p:txBody>
          <a:bodyPr wrap="square" lIns="0" tIns="0" rIns="0" bIns="0" rtlCol="0" anchor="t"/>
          <a:lstStyle/>
          <a:p>
            <a:pPr algn="l" indent="0" marL="0">
              <a:buNone/>
            </a:pPr>
            <a:r>
              <a:rPr lang="en-US" sz="1200" dirty="0">
                <a:solidFill>
                  <a:schemeClr val="tx2"/>
                </a:solidFill>
              </a:rPr>
              <a:t>fixed packet size</a:t>
            </a:r>
            <a:endParaRPr lang="en-US" sz="1200" dirty="0"/>
          </a:p>
        </p:txBody>
      </p:sp>
      <p:sp>
        <p:nvSpPr>
          <p:cNvPr id="19" name="Fact card 3"/>
          <p:cNvSpPr/>
          <p:nvPr/>
        </p:nvSpPr>
        <p:spPr>
          <a:xfrm>
            <a:off x="457200" y="2514600"/>
            <a:ext cx="1965960" cy="1005840"/>
          </a:xfrm>
          <a:prstGeom prst="roundRect">
            <a:avLst>
              <a:gd name="adj" fmla="val 7273"/>
            </a:avLst>
          </a:prstGeom>
          <a:solidFill>
            <a:schemeClr val="bg2"/>
          </a:solidFill>
          <a:ln w="6350">
            <a:solidFill>
              <a:schemeClr val="bg2"/>
            </a:solidFill>
            <a:prstDash val="solid"/>
          </a:ln>
        </p:spPr>
      </p:sp>
      <p:sp>
        <p:nvSpPr>
          <p:cNvPr id="20" name="Text 17"/>
          <p:cNvSpPr txBox="1"/>
          <p:nvPr/>
        </p:nvSpPr>
        <p:spPr>
          <a:xfrm>
            <a:off x="621792" y="2606040"/>
            <a:ext cx="1645920" cy="384048"/>
          </a:xfrm>
          <a:prstGeom prst="rect">
            <a:avLst/>
          </a:prstGeom>
          <a:noFill/>
          <a:ln/>
        </p:spPr>
        <p:txBody>
          <a:bodyPr wrap="square" lIns="0" tIns="0" rIns="0" bIns="0" rtlCol="0" anchor="ctr"/>
          <a:lstStyle/>
          <a:p>
            <a:pPr algn="l" indent="0" marL="0">
              <a:buNone/>
            </a:pPr>
            <a:r>
              <a:rPr lang="en-US" sz="2200" b="1" dirty="0">
                <a:solidFill>
                  <a:schemeClr val="accent1"/>
                </a:solidFill>
              </a:rPr>
              <a:t>Drop-tail</a:t>
            </a:r>
            <a:endParaRPr lang="en-US" sz="2200" dirty="0"/>
          </a:p>
        </p:txBody>
      </p:sp>
      <p:sp>
        <p:nvSpPr>
          <p:cNvPr id="21" name="Text 18"/>
          <p:cNvSpPr txBox="1"/>
          <p:nvPr/>
        </p:nvSpPr>
        <p:spPr>
          <a:xfrm>
            <a:off x="621792" y="3017520"/>
            <a:ext cx="1645920" cy="438912"/>
          </a:xfrm>
          <a:prstGeom prst="rect">
            <a:avLst/>
          </a:prstGeom>
          <a:noFill/>
          <a:ln/>
        </p:spPr>
        <p:txBody>
          <a:bodyPr wrap="square" lIns="0" tIns="0" rIns="0" bIns="0" rtlCol="0" anchor="t"/>
          <a:lstStyle/>
          <a:p>
            <a:pPr algn="l" indent="0" marL="0">
              <a:buNone/>
            </a:pPr>
            <a:r>
              <a:rPr lang="en-US" sz="1200" dirty="0">
                <a:solidFill>
                  <a:schemeClr val="tx2"/>
                </a:solidFill>
              </a:rPr>
              <a:t>queue, plus optional random loss</a:t>
            </a:r>
            <a:endParaRPr lang="en-US" sz="1200" dirty="0"/>
          </a:p>
        </p:txBody>
      </p:sp>
      <p:sp>
        <p:nvSpPr>
          <p:cNvPr id="22" name="Fact card 4"/>
          <p:cNvSpPr/>
          <p:nvPr/>
        </p:nvSpPr>
        <p:spPr>
          <a:xfrm>
            <a:off x="2560320" y="2514600"/>
            <a:ext cx="1965960" cy="1005840"/>
          </a:xfrm>
          <a:prstGeom prst="roundRect">
            <a:avLst>
              <a:gd name="adj" fmla="val 7273"/>
            </a:avLst>
          </a:prstGeom>
          <a:solidFill>
            <a:schemeClr val="bg2"/>
          </a:solidFill>
          <a:ln w="6350">
            <a:solidFill>
              <a:schemeClr val="bg2"/>
            </a:solidFill>
            <a:prstDash val="solid"/>
          </a:ln>
        </p:spPr>
      </p:sp>
      <p:sp>
        <p:nvSpPr>
          <p:cNvPr id="23" name="Text 20"/>
          <p:cNvSpPr txBox="1"/>
          <p:nvPr/>
        </p:nvSpPr>
        <p:spPr>
          <a:xfrm>
            <a:off x="2724912" y="2606040"/>
            <a:ext cx="1645920" cy="384048"/>
          </a:xfrm>
          <a:prstGeom prst="rect">
            <a:avLst/>
          </a:prstGeom>
          <a:noFill/>
          <a:ln/>
        </p:spPr>
        <p:txBody>
          <a:bodyPr wrap="square" lIns="0" tIns="0" rIns="0" bIns="0" rtlCol="0" anchor="ctr"/>
          <a:lstStyle/>
          <a:p>
            <a:pPr algn="l" indent="0" marL="0">
              <a:buNone/>
            </a:pPr>
            <a:r>
              <a:rPr lang="en-US" sz="2200" b="1" dirty="0">
                <a:solidFill>
                  <a:schemeClr val="accent1"/>
                </a:solidFill>
              </a:rPr>
              <a:t>Tagged</a:t>
            </a:r>
            <a:endParaRPr lang="en-US" sz="2200" dirty="0"/>
          </a:p>
        </p:txBody>
      </p:sp>
      <p:sp>
        <p:nvSpPr>
          <p:cNvPr id="24" name="Text 21"/>
          <p:cNvSpPr txBox="1"/>
          <p:nvPr/>
        </p:nvSpPr>
        <p:spPr>
          <a:xfrm>
            <a:off x="2724912" y="3017520"/>
            <a:ext cx="1645920" cy="438912"/>
          </a:xfrm>
          <a:prstGeom prst="rect">
            <a:avLst/>
          </a:prstGeom>
          <a:noFill/>
          <a:ln/>
        </p:spPr>
        <p:txBody>
          <a:bodyPr wrap="square" lIns="0" tIns="0" rIns="0" bIns="0" rtlCol="0" anchor="t"/>
          <a:lstStyle/>
          <a:p>
            <a:pPr algn="l" indent="0" marL="0">
              <a:buNone/>
            </a:pPr>
            <a:r>
              <a:rPr lang="en-US" sz="1200" dirty="0">
                <a:solidFill>
                  <a:schemeClr val="tx2"/>
                </a:solidFill>
              </a:rPr>
              <a:t>every loss carries its true cause</a:t>
            </a:r>
            <a:endParaRPr lang="en-US" sz="1200" dirty="0"/>
          </a:p>
        </p:txBody>
      </p:sp>
      <p:sp>
        <p:nvSpPr>
          <p:cNvPr id="25" name="Text 22"/>
          <p:cNvSpPr txBox="1"/>
          <p:nvPr/>
        </p:nvSpPr>
        <p:spPr>
          <a:xfrm>
            <a:off x="457200" y="3749040"/>
            <a:ext cx="4069080" cy="731520"/>
          </a:xfrm>
          <a:prstGeom prst="rect">
            <a:avLst/>
          </a:prstGeom>
          <a:noFill/>
          <a:ln/>
        </p:spPr>
        <p:txBody>
          <a:bodyPr wrap="square" lIns="0" tIns="0" rIns="0" bIns="0" rtlCol="0" anchor="t"/>
          <a:lstStyle/>
          <a:p>
            <a:pPr algn="l" indent="0" marL="0">
              <a:buNone/>
            </a:pPr>
            <a:r>
              <a:rPr lang="en-US" sz="1400" dirty="0">
                <a:solidFill>
                  <a:schemeClr val="tx1"/>
                </a:solidFill>
              </a:rPr>
              <a:t>Checked against theory: Reno at 1% loss gives 3.9 Mbps; the Mathis formula predicts 3.7 Mbps.</a:t>
            </a:r>
            <a:endParaRPr lang="en-US" sz="1400" dirty="0"/>
          </a:p>
        </p:txBody>
      </p:sp>
      <p:sp>
        <p:nvSpPr>
          <p:cNvPr id="26" name="Text 23"/>
          <p:cNvSpPr txBox="1"/>
          <p:nvPr/>
        </p:nvSpPr>
        <p:spPr>
          <a:xfrm>
            <a:off x="4846320" y="1371600"/>
            <a:ext cx="3840480" cy="320040"/>
          </a:xfrm>
          <a:prstGeom prst="rect">
            <a:avLst/>
          </a:prstGeom>
          <a:noFill/>
          <a:ln/>
        </p:spPr>
        <p:txBody>
          <a:bodyPr wrap="square" lIns="0" tIns="0" rIns="0" bIns="0" rtlCol="0" anchor="ctr"/>
          <a:lstStyle/>
          <a:p>
            <a:pPr algn="l" indent="0" marL="0">
              <a:buNone/>
            </a:pPr>
            <a:r>
              <a:rPr lang="en-US" sz="1600" b="1" dirty="0">
                <a:solidFill>
                  <a:schemeClr val="tx1"/>
                </a:solidFill>
              </a:rPr>
              <a:t>One interface for every controller</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846320" y="1783080"/>
          <a:ext cx="3840480" cy="914400"/>
        </p:xfrm>
        <a:graphic>
          <a:graphicData uri="http://schemas.openxmlformats.org/drawingml/2006/table">
            <a:tbl>
              <a:tblPr/>
              <a:tblGrid>
                <a:gridCol w="1554480"/>
                <a:gridCol w="2286000"/>
              </a:tblGrid>
              <a:tr h="384048">
                <a:tc>
                  <a:txBody>
                    <a:bodyPr/>
                    <a:lstStyle/>
                    <a:p>
                      <a:pPr algn="l" indent="0" marL="0">
                        <a:buNone/>
                      </a:pPr>
                      <a:r>
                        <a:rPr lang="en-US" sz="1400" b="1" dirty="0">
                          <a:solidFill>
                            <a:schemeClr val="bg1"/>
                          </a:solidFill>
                        </a:rPr>
                        <a:t>Member</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Purpose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r>
              <a:tr h="384048">
                <a:tc>
                  <a:txBody>
                    <a:bodyPr/>
                    <a:lstStyle/>
                    <a:p>
                      <a:pPr algn="l" indent="0" marL="0">
                        <a:buNone/>
                      </a:pPr>
                      <a:r>
                        <a:rPr lang="en-US" sz="1400" b="1" dirty="0">
                          <a:solidFill>
                            <a:schemeClr val="tx1"/>
                          </a:solidFill>
                        </a:rPr>
                        <a:t>cwnd</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Window, in packets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pacing_rate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Packets per second</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on_ack(ack)</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Called for every ACK</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on_loss(loss)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Called for every loss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on_tick(now)</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Optional timer</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1 · SIMULATOR AND BASELINES</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Six controllers compared</a:t>
            </a:r>
            <a:endParaRPr lang="en-US" sz="3600" dirty="0"/>
          </a:p>
        </p:txBody>
      </p:sp>
      <p:sp>
        <p:nvSpPr>
          <p:cNvPr id="5" name="Stage 1"/>
          <p:cNvSpPr txBox="1"/>
          <p:nvPr/>
        </p:nvSpPr>
        <p:spPr>
          <a:xfrm>
            <a:off x="651052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2</a:t>
            </a:r>
            <a:endParaRPr lang="en-US" sz="800" dirty="0"/>
          </a:p>
        </p:txBody>
      </p:sp>
      <p:sp>
        <p:nvSpPr>
          <p:cNvPr id="7" name="Stage 3"/>
          <p:cNvSpPr txBox="1"/>
          <p:nvPr/>
        </p:nvSpPr>
        <p:spPr>
          <a:xfrm>
            <a:off x="70591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371600"/>
                <a:gridCol w="2103120"/>
                <a:gridCol w="4754880"/>
              </a:tblGrid>
              <a:tr h="438912">
                <a:tc>
                  <a:txBody>
                    <a:bodyPr/>
                    <a:lstStyle/>
                    <a:p>
                      <a:pPr algn="l" indent="0" marL="0">
                        <a:buNone/>
                      </a:pPr>
                      <a:r>
                        <a:rPr lang="en-US" sz="1400" b="1" dirty="0">
                          <a:solidFill>
                            <a:schemeClr val="bg1"/>
                          </a:solidFill>
                        </a:rPr>
                        <a:t>Controller</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Type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How it decides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r>
              <a:tr h="438912">
                <a:tc>
                  <a:txBody>
                    <a:bodyPr/>
                    <a:lstStyle/>
                    <a:p>
                      <a:pPr algn="l" indent="0" marL="0">
                        <a:buNone/>
                      </a:pPr>
                      <a:r>
                        <a:rPr lang="en-US" sz="1400" b="1" dirty="0">
                          <a:solidFill>
                            <a:schemeClr val="tx1"/>
                          </a:solidFill>
                        </a:rPr>
                        <a:t>Reno</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Classical</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Adds 1 packet per RTT; halves the window on loss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438912">
                <a:tc>
                  <a:txBody>
                    <a:bodyPr/>
                    <a:lstStyle/>
                    <a:p>
                      <a:pPr algn="l" indent="0" marL="0">
                        <a:buNone/>
                      </a:pPr>
                      <a:r>
                        <a:rPr lang="en-US" sz="1400" b="1" dirty="0">
                          <a:solidFill>
                            <a:schemeClr val="tx1"/>
                          </a:solidFill>
                        </a:rPr>
                        <a:t>CUBIC</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Classical</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Cubic window growth; × 0.7 on loss (Linux default)</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438912">
                <a:tc>
                  <a:txBody>
                    <a:bodyPr/>
                    <a:lstStyle/>
                    <a:p>
                      <a:pPr algn="l" indent="0" marL="0">
                        <a:buNone/>
                      </a:pPr>
                      <a:r>
                        <a:rPr lang="en-US" sz="1400" b="1" dirty="0">
                          <a:solidFill>
                            <a:schemeClr val="tx1"/>
                          </a:solidFill>
                        </a:rPr>
                        <a:t>BBR</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Classical</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Paces at the estimated link rate; ignores loss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438912">
                <a:tc>
                  <a:txBody>
                    <a:bodyPr/>
                    <a:lstStyle/>
                    <a:p>
                      <a:pPr algn="l" indent="0" marL="0">
                        <a:buNone/>
                      </a:pPr>
                      <a:r>
                        <a:rPr lang="en-US" sz="1400" b="1" dirty="0">
                          <a:solidFill>
                            <a:schemeClr val="tx1"/>
                          </a:solidFill>
                        </a:rPr>
                        <a:t>CUBIC+ML</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Machine learning</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CUBIC that ignores losses a classifier judges random</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438912">
                <a:tc>
                  <a:txBody>
                    <a:bodyPr/>
                    <a:lstStyle/>
                    <a:p>
                      <a:pPr algn="l" indent="0" marL="0">
                        <a:buNone/>
                      </a:pPr>
                      <a:r>
                        <a:rPr lang="en-US" sz="1400" b="1" dirty="0">
                          <a:solidFill>
                            <a:schemeClr val="tx1"/>
                          </a:solidFill>
                        </a:rPr>
                        <a:t>PPO</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Reinforcement learning</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A neural network raises or lowers the sending rate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438912">
                <a:tc>
                  <a:txBody>
                    <a:bodyPr/>
                    <a:lstStyle/>
                    <a:p>
                      <a:pPr algn="l" indent="0" marL="0">
                        <a:buNone/>
                      </a:pPr>
                      <a:r>
                        <a:rPr lang="en-US" sz="1400" b="1" dirty="0">
                          <a:solidFill>
                            <a:schemeClr val="tx1"/>
                          </a:solidFill>
                        </a:rPr>
                        <a:t>CUBIC+PPO</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Hybrid</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CUBIC with a neural network scaling its window</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1 · SIMULATOR AND BASELINES</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Baselines match theory</a:t>
            </a:r>
            <a:endParaRPr lang="en-US" sz="3600" dirty="0"/>
          </a:p>
        </p:txBody>
      </p:sp>
      <p:sp>
        <p:nvSpPr>
          <p:cNvPr id="5" name="Stage 1"/>
          <p:cNvSpPr txBox="1"/>
          <p:nvPr/>
        </p:nvSpPr>
        <p:spPr>
          <a:xfrm>
            <a:off x="651052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2</a:t>
            </a:r>
            <a:endParaRPr lang="en-US" sz="800" dirty="0"/>
          </a:p>
        </p:txBody>
      </p:sp>
      <p:sp>
        <p:nvSpPr>
          <p:cNvPr id="7" name="Stage 3"/>
          <p:cNvSpPr txBox="1"/>
          <p:nvPr/>
        </p:nvSpPr>
        <p:spPr>
          <a:xfrm>
            <a:off x="70591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pic>
        <p:nvPicPr>
          <p:cNvPr id="13" name="Image 0" descr="Congestion window and round-trip time over 30 seconds for Reno, CUBIC and BBR. Reno and CUBIC show a sawtooth; BBR is flat.">    </p:cNvPr>
          <p:cNvPicPr>
            <a:picLocks noChangeAspect="1"/>
          </p:cNvPicPr>
          <p:nvPr/>
        </p:nvPicPr>
        <p:blipFill>
          <a:blip r:embed="rId1"/>
          <a:stretch>
            <a:fillRect/>
          </a:stretch>
        </p:blipFill>
        <p:spPr>
          <a:xfrm>
            <a:off x="457200" y="1338388"/>
            <a:ext cx="5760720" cy="2626743"/>
          </a:xfrm>
          <a:prstGeom prst="rect">
            <a:avLst/>
          </a:prstGeom>
        </p:spPr>
      </p:pic>
      <p:sp>
        <p:nvSpPr>
          <p:cNvPr id="14" name="Text 10"/>
          <p:cNvSpPr txBox="1"/>
          <p:nvPr/>
        </p:nvSpPr>
        <p:spPr>
          <a:xfrm>
            <a:off x="457200" y="4069080"/>
            <a:ext cx="5760720" cy="411480"/>
          </a:xfrm>
          <a:prstGeom prst="rect">
            <a:avLst/>
          </a:prstGeom>
          <a:noFill/>
          <a:ln/>
        </p:spPr>
        <p:txBody>
          <a:bodyPr wrap="square" lIns="0" tIns="0" rIns="0" bIns="0" rtlCol="0" anchor="t"/>
          <a:lstStyle/>
          <a:p>
            <a:pPr algn="l" indent="0" marL="0">
              <a:buNone/>
            </a:pPr>
            <a:r>
              <a:rPr lang="en-US" sz="1100" dirty="0">
                <a:solidFill>
                  <a:schemeClr val="tx2"/>
                </a:solidFill>
              </a:rPr>
              <a:t>One flow on a 10 Mbps link, 40 ms base RTT, 50-packet queue. Top: congestion window. Bottom: round-trip time.</a:t>
            </a:r>
            <a:endParaRPr lang="en-US" sz="1100" dirty="0"/>
          </a:p>
        </p:txBody>
      </p:sp>
      <p:sp>
        <p:nvSpPr>
          <p:cNvPr id="15" name="Text 11"/>
          <p:cNvSpPr txBox="1"/>
          <p:nvPr/>
        </p:nvSpPr>
        <p:spPr>
          <a:xfrm>
            <a:off x="6537960" y="1325880"/>
            <a:ext cx="2148840" cy="502920"/>
          </a:xfrm>
          <a:prstGeom prst="rect">
            <a:avLst/>
          </a:prstGeom>
          <a:noFill/>
          <a:ln/>
        </p:spPr>
        <p:txBody>
          <a:bodyPr wrap="square" lIns="0" tIns="0" rIns="0" bIns="0" rtlCol="0" anchor="ctr"/>
          <a:lstStyle/>
          <a:p>
            <a:pPr algn="l" indent="0" marL="0">
              <a:buNone/>
            </a:pPr>
            <a:r>
              <a:rPr lang="en-US" sz="2600" b="1" dirty="0">
                <a:solidFill>
                  <a:schemeClr val="accent1"/>
                </a:solidFill>
              </a:rPr>
              <a:t>79–88 ms</a:t>
            </a:r>
            <a:endParaRPr lang="en-US" sz="2600" dirty="0"/>
          </a:p>
        </p:txBody>
      </p:sp>
      <p:sp>
        <p:nvSpPr>
          <p:cNvPr id="16" name="Text 12"/>
          <p:cNvSpPr txBox="1"/>
          <p:nvPr/>
        </p:nvSpPr>
        <p:spPr>
          <a:xfrm>
            <a:off x="6537960" y="1847088"/>
            <a:ext cx="2148840" cy="411480"/>
          </a:xfrm>
          <a:prstGeom prst="rect">
            <a:avLst/>
          </a:prstGeom>
          <a:noFill/>
          <a:ln/>
        </p:spPr>
        <p:txBody>
          <a:bodyPr wrap="square" lIns="0" tIns="0" rIns="0" bIns="0" rtlCol="0" anchor="t"/>
          <a:lstStyle/>
          <a:p>
            <a:pPr algn="l" indent="0" marL="0">
              <a:buNone/>
            </a:pPr>
            <a:r>
              <a:rPr lang="en-US" sz="1200" dirty="0">
                <a:solidFill>
                  <a:schemeClr val="tx2"/>
                </a:solidFill>
              </a:rPr>
              <a:t>average RTT with Reno and CUBIC on a 40 ms path</a:t>
            </a:r>
            <a:endParaRPr lang="en-US" sz="1200" dirty="0"/>
          </a:p>
        </p:txBody>
      </p:sp>
      <p:sp>
        <p:nvSpPr>
          <p:cNvPr id="17" name="Text 13"/>
          <p:cNvSpPr txBox="1"/>
          <p:nvPr/>
        </p:nvSpPr>
        <p:spPr>
          <a:xfrm>
            <a:off x="6537960" y="2377440"/>
            <a:ext cx="2148840" cy="502920"/>
          </a:xfrm>
          <a:prstGeom prst="rect">
            <a:avLst/>
          </a:prstGeom>
          <a:noFill/>
          <a:ln/>
        </p:spPr>
        <p:txBody>
          <a:bodyPr wrap="square" lIns="0" tIns="0" rIns="0" bIns="0" rtlCol="0" anchor="ctr"/>
          <a:lstStyle/>
          <a:p>
            <a:pPr algn="l" indent="0" marL="0">
              <a:buNone/>
            </a:pPr>
            <a:r>
              <a:rPr lang="en-US" sz="2600" b="1" dirty="0">
                <a:solidFill>
                  <a:schemeClr val="accent1"/>
                </a:solidFill>
              </a:rPr>
              <a:t>42 ms</a:t>
            </a:r>
            <a:endParaRPr lang="en-US" sz="2600" dirty="0"/>
          </a:p>
        </p:txBody>
      </p:sp>
      <p:sp>
        <p:nvSpPr>
          <p:cNvPr id="18" name="Text 14"/>
          <p:cNvSpPr txBox="1"/>
          <p:nvPr/>
        </p:nvSpPr>
        <p:spPr>
          <a:xfrm>
            <a:off x="6537960" y="2898648"/>
            <a:ext cx="2148840" cy="274320"/>
          </a:xfrm>
          <a:prstGeom prst="rect">
            <a:avLst/>
          </a:prstGeom>
          <a:noFill/>
          <a:ln/>
        </p:spPr>
        <p:txBody>
          <a:bodyPr wrap="square" lIns="0" tIns="0" rIns="0" bIns="0" rtlCol="0" anchor="t"/>
          <a:lstStyle/>
          <a:p>
            <a:pPr algn="l" indent="0" marL="0">
              <a:buNone/>
            </a:pPr>
            <a:r>
              <a:rPr lang="en-US" sz="1200" dirty="0">
                <a:solidFill>
                  <a:schemeClr val="tx2"/>
                </a:solidFill>
              </a:rPr>
              <a:t>average RTT with BBR</a:t>
            </a:r>
            <a:endParaRPr lang="en-US" sz="1200" dirty="0"/>
          </a:p>
        </p:txBody>
      </p:sp>
      <p:sp>
        <p:nvSpPr>
          <p:cNvPr id="19" name="Text 15"/>
          <p:cNvSpPr txBox="1"/>
          <p:nvPr/>
        </p:nvSpPr>
        <p:spPr>
          <a:xfrm>
            <a:off x="6537960" y="3291840"/>
            <a:ext cx="2148840" cy="502920"/>
          </a:xfrm>
          <a:prstGeom prst="rect">
            <a:avLst/>
          </a:prstGeom>
          <a:noFill/>
          <a:ln/>
        </p:spPr>
        <p:txBody>
          <a:bodyPr wrap="square" lIns="0" tIns="0" rIns="0" bIns="0" rtlCol="0" anchor="ctr"/>
          <a:lstStyle/>
          <a:p>
            <a:pPr algn="l" indent="0" marL="0">
              <a:buNone/>
            </a:pPr>
            <a:r>
              <a:rPr lang="en-US" sz="2600" b="1" dirty="0">
                <a:solidFill>
                  <a:schemeClr val="accent1"/>
                </a:solidFill>
              </a:rPr>
              <a:t>3.9 Mbps</a:t>
            </a:r>
            <a:endParaRPr lang="en-US" sz="2600" dirty="0"/>
          </a:p>
        </p:txBody>
      </p:sp>
      <p:sp>
        <p:nvSpPr>
          <p:cNvPr id="20" name="Text 16"/>
          <p:cNvSpPr txBox="1"/>
          <p:nvPr/>
        </p:nvSpPr>
        <p:spPr>
          <a:xfrm>
            <a:off x="6537960" y="3813048"/>
            <a:ext cx="2148840" cy="411480"/>
          </a:xfrm>
          <a:prstGeom prst="rect">
            <a:avLst/>
          </a:prstGeom>
          <a:noFill/>
          <a:ln/>
        </p:spPr>
        <p:txBody>
          <a:bodyPr wrap="square" lIns="0" tIns="0" rIns="0" bIns="0" rtlCol="0" anchor="t"/>
          <a:lstStyle/>
          <a:p>
            <a:pPr algn="l" indent="0" marL="0">
              <a:buNone/>
            </a:pPr>
            <a:r>
              <a:rPr lang="en-US" sz="1200" dirty="0">
                <a:solidFill>
                  <a:schemeClr val="tx2"/>
                </a:solidFill>
              </a:rPr>
              <a:t>Reno at 1% loss; theory predicts 3.7</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3" name="Stage 2"/>
          <p:cNvSpPr txBox="1"/>
          <p:nvPr/>
        </p:nvSpPr>
        <p:spPr>
          <a:xfrm>
            <a:off x="678484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4" name="Stage 3"/>
          <p:cNvSpPr txBox="1"/>
          <p:nvPr/>
        </p:nvSpPr>
        <p:spPr>
          <a:xfrm>
            <a:off x="705916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5" name="Stage 4"/>
          <p:cNvSpPr txBox="1"/>
          <p:nvPr/>
        </p:nvSpPr>
        <p:spPr>
          <a:xfrm>
            <a:off x="733348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6" name="Stage 5"/>
          <p:cNvSpPr txBox="1"/>
          <p:nvPr/>
        </p:nvSpPr>
        <p:spPr>
          <a:xfrm>
            <a:off x="760780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7" name="Stage 6"/>
          <p:cNvSpPr txBox="1"/>
          <p:nvPr/>
        </p:nvSpPr>
        <p:spPr>
          <a:xfrm>
            <a:off x="788212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8" name="Stage 7"/>
          <p:cNvSpPr txBox="1"/>
          <p:nvPr/>
        </p:nvSpPr>
        <p:spPr>
          <a:xfrm>
            <a:off x="815644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9" name="Stage 8"/>
          <p:cNvSpPr txBox="1"/>
          <p:nvPr/>
        </p:nvSpPr>
        <p:spPr>
          <a:xfrm>
            <a:off x="843076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0" name="Text 8"/>
          <p:cNvSpPr txBox="1"/>
          <p:nvPr/>
        </p:nvSpPr>
        <p:spPr>
          <a:xfrm>
            <a:off x="548640" y="1234440"/>
            <a:ext cx="5486400" cy="274320"/>
          </a:xfrm>
          <a:prstGeom prst="rect">
            <a:avLst/>
          </a:prstGeom>
          <a:noFill/>
          <a:ln/>
        </p:spPr>
        <p:txBody>
          <a:bodyPr wrap="square" lIns="0" tIns="0" rIns="0" bIns="0" rtlCol="0" anchor="t"/>
          <a:lstStyle/>
          <a:p>
            <a:pPr algn="l" indent="0" marL="0">
              <a:buNone/>
            </a:pPr>
            <a:r>
              <a:rPr lang="en-US" sz="1300" b="1" spc="300" kern="0" dirty="0">
                <a:solidFill>
                  <a:schemeClr val="accent2"/>
                </a:solidFill>
              </a:rPr>
              <a:t>STAGE 2 OF 8</a:t>
            </a:r>
            <a:endParaRPr lang="en-US" sz="1300" dirty="0"/>
          </a:p>
        </p:txBody>
      </p:sp>
      <p:sp>
        <p:nvSpPr>
          <p:cNvPr id="11" name="Text 9"/>
          <p:cNvSpPr txBox="1"/>
          <p:nvPr/>
        </p:nvSpPr>
        <p:spPr>
          <a:xfrm>
            <a:off x="548640" y="16002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Machine learning</a:t>
            </a:r>
            <a:endParaRPr lang="en-US" sz="4000" dirty="0"/>
          </a:p>
        </p:txBody>
      </p:sp>
      <p:sp>
        <p:nvSpPr>
          <p:cNvPr id="12" name="Text 10"/>
          <p:cNvSpPr txBox="1"/>
          <p:nvPr/>
        </p:nvSpPr>
        <p:spPr>
          <a:xfrm>
            <a:off x="548640" y="2788920"/>
            <a:ext cx="5486400" cy="256032"/>
          </a:xfrm>
          <a:prstGeom prst="rect">
            <a:avLst/>
          </a:prstGeom>
          <a:noFill/>
          <a:ln/>
        </p:spPr>
        <p:txBody>
          <a:bodyPr wrap="square" lIns="0" tIns="0" rIns="0" bIns="0" rtlCol="0" anchor="t"/>
          <a:lstStyle/>
          <a:p>
            <a:pPr algn="l" indent="0" marL="0">
              <a:buNone/>
            </a:pPr>
            <a:r>
              <a:rPr lang="en-US" sz="1100" b="1" spc="200" kern="0" dirty="0">
                <a:solidFill>
                  <a:schemeClr val="accent5"/>
                </a:solidFill>
              </a:rPr>
              <a:t>WHY THIS STAGE</a:t>
            </a:r>
            <a:endParaRPr lang="en-US" sz="1100" dirty="0"/>
          </a:p>
        </p:txBody>
      </p:sp>
      <p:sp>
        <p:nvSpPr>
          <p:cNvPr id="13" name="Text 11"/>
          <p:cNvSpPr txBox="1"/>
          <p:nvPr/>
        </p:nvSpPr>
        <p:spPr>
          <a:xfrm>
            <a:off x="548640" y="3090672"/>
            <a:ext cx="7863840" cy="1005840"/>
          </a:xfrm>
          <a:prstGeom prst="rect">
            <a:avLst/>
          </a:prstGeom>
          <a:noFill/>
          <a:ln/>
        </p:spPr>
        <p:txBody>
          <a:bodyPr wrap="square" lIns="0" tIns="0" rIns="0" bIns="0" rtlCol="0" anchor="t"/>
          <a:lstStyle/>
          <a:p>
            <a:pPr algn="l" indent="0" marL="0">
              <a:buNone/>
            </a:pPr>
            <a:r>
              <a:rPr lang="en-US" sz="1800" dirty="0">
                <a:solidFill>
                  <a:schemeClr val="bg2"/>
                </a:solidFill>
              </a:rPr>
              <a:t>Stage 1 confirmed that CUBIC falls from 10 to 3.7 Mbps at 1% random loss. Can a classifier tell random loss from congestion?</a:t>
            </a:r>
            <a:endParaRPr lang="en-US" sz="1800" dirty="0"/>
          </a:p>
        </p:txBody>
      </p:sp>
      <p:sp>
        <p:nvSpPr>
          <p:cNvPr id="15"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endParaRPr lang="en-US" sz="4400" dirty="0"/>
          </a:p>
        </p:txBody>
      </p:sp>
      <p:sp>
        <p:nvSpPr>
          <p:cNvPr id="16"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2 · MACHINE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Data for the loss classifier</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480560" cy="914400"/>
        </p:xfrm>
        <a:graphic>
          <a:graphicData uri="http://schemas.openxmlformats.org/drawingml/2006/table">
            <a:tbl>
              <a:tblPr/>
              <a:tblGrid>
                <a:gridCol w="1737360"/>
                <a:gridCol w="2743200"/>
              </a:tblGrid>
              <a:tr h="384048">
                <a:tc>
                  <a:txBody>
                    <a:bodyPr/>
                    <a:lstStyle/>
                    <a:p>
                      <a:pPr algn="l" indent="0" marL="0">
                        <a:buNone/>
                      </a:pPr>
                      <a:r>
                        <a:rPr lang="en-US" sz="1400" b="1" dirty="0">
                          <a:solidFill>
                            <a:schemeClr val="bg1"/>
                          </a:solidFill>
                        </a:rPr>
                        <a:t>Setting</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Range across the 400 scenarios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r>
              <a:tr h="384048">
                <a:tc>
                  <a:txBody>
                    <a:bodyPr/>
                    <a:lstStyle/>
                    <a:p>
                      <a:pPr algn="l" indent="0" marL="0">
                        <a:buNone/>
                      </a:pPr>
                      <a:r>
                        <a:rPr lang="en-US" sz="1400" b="1" dirty="0">
                          <a:solidFill>
                            <a:schemeClr val="tx1"/>
                          </a:solidFill>
                        </a:rPr>
                        <a:t>Bandwidth</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1 to 30 Mbps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One-way delay</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5 to 80 ms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Queue size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0.1 to 3 pipe sizes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Random loss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0 to 3%</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Changing capacity</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In 40% of scenarios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Flows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1 to 3 (Reno, CUBIC or BBR)</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14" name="Data stat 1"/>
          <p:cNvSpPr/>
          <p:nvPr/>
        </p:nvSpPr>
        <p:spPr>
          <a:xfrm>
            <a:off x="5257800" y="1371600"/>
            <a:ext cx="1645920" cy="1188720"/>
          </a:xfrm>
          <a:prstGeom prst="roundRect">
            <a:avLst>
              <a:gd name="adj" fmla="val 6154"/>
            </a:avLst>
          </a:prstGeom>
          <a:solidFill>
            <a:schemeClr val="bg2"/>
          </a:solidFill>
          <a:ln w="6350">
            <a:solidFill>
              <a:schemeClr val="bg2"/>
            </a:solidFill>
            <a:prstDash val="solid"/>
          </a:ln>
        </p:spPr>
      </p:sp>
      <p:sp>
        <p:nvSpPr>
          <p:cNvPr id="15" name="Text 11"/>
          <p:cNvSpPr txBox="1"/>
          <p:nvPr/>
        </p:nvSpPr>
        <p:spPr>
          <a:xfrm>
            <a:off x="5367528" y="1481328"/>
            <a:ext cx="1426464" cy="457200"/>
          </a:xfrm>
          <a:prstGeom prst="rect">
            <a:avLst/>
          </a:prstGeom>
          <a:noFill/>
          <a:ln/>
        </p:spPr>
        <p:txBody>
          <a:bodyPr wrap="square" lIns="0" tIns="0" rIns="0" bIns="0" rtlCol="0" anchor="ctr"/>
          <a:lstStyle/>
          <a:p>
            <a:pPr algn="l" indent="0" marL="0">
              <a:buNone/>
            </a:pPr>
            <a:r>
              <a:rPr lang="en-US" sz="2200" b="1" dirty="0">
                <a:solidFill>
                  <a:schemeClr val="accent1"/>
                </a:solidFill>
              </a:rPr>
              <a:t>400</a:t>
            </a:r>
            <a:endParaRPr lang="en-US" sz="2200" dirty="0"/>
          </a:p>
        </p:txBody>
      </p:sp>
      <p:sp>
        <p:nvSpPr>
          <p:cNvPr id="16" name="Text 12"/>
          <p:cNvSpPr txBox="1"/>
          <p:nvPr/>
        </p:nvSpPr>
        <p:spPr>
          <a:xfrm>
            <a:off x="5367528" y="1975104"/>
            <a:ext cx="1426464" cy="502920"/>
          </a:xfrm>
          <a:prstGeom prst="rect">
            <a:avLst/>
          </a:prstGeom>
          <a:noFill/>
          <a:ln/>
        </p:spPr>
        <p:txBody>
          <a:bodyPr wrap="square" lIns="0" tIns="0" rIns="0" bIns="0" rtlCol="0" anchor="t"/>
          <a:lstStyle/>
          <a:p>
            <a:pPr algn="l" indent="0" marL="0">
              <a:buNone/>
            </a:pPr>
            <a:r>
              <a:rPr lang="en-US" sz="1200" dirty="0">
                <a:solidFill>
                  <a:schemeClr val="tx2"/>
                </a:solidFill>
              </a:rPr>
              <a:t>simulated scenarios, 30 s each</a:t>
            </a:r>
            <a:endParaRPr lang="en-US" sz="1200" dirty="0"/>
          </a:p>
        </p:txBody>
      </p:sp>
      <p:sp>
        <p:nvSpPr>
          <p:cNvPr id="17" name="Data stat 2"/>
          <p:cNvSpPr/>
          <p:nvPr/>
        </p:nvSpPr>
        <p:spPr>
          <a:xfrm>
            <a:off x="7040880" y="1371600"/>
            <a:ext cx="1645920" cy="1188720"/>
          </a:xfrm>
          <a:prstGeom prst="roundRect">
            <a:avLst>
              <a:gd name="adj" fmla="val 6154"/>
            </a:avLst>
          </a:prstGeom>
          <a:solidFill>
            <a:schemeClr val="bg2"/>
          </a:solidFill>
          <a:ln w="6350">
            <a:solidFill>
              <a:schemeClr val="bg2"/>
            </a:solidFill>
            <a:prstDash val="solid"/>
          </a:ln>
        </p:spPr>
      </p:sp>
      <p:sp>
        <p:nvSpPr>
          <p:cNvPr id="18" name="Text 14"/>
          <p:cNvSpPr txBox="1"/>
          <p:nvPr/>
        </p:nvSpPr>
        <p:spPr>
          <a:xfrm>
            <a:off x="7150608" y="1481328"/>
            <a:ext cx="1426464" cy="457200"/>
          </a:xfrm>
          <a:prstGeom prst="rect">
            <a:avLst/>
          </a:prstGeom>
          <a:noFill/>
          <a:ln/>
        </p:spPr>
        <p:txBody>
          <a:bodyPr wrap="square" lIns="0" tIns="0" rIns="0" bIns="0" rtlCol="0" anchor="ctr"/>
          <a:lstStyle/>
          <a:p>
            <a:pPr algn="l" indent="0" marL="0">
              <a:buNone/>
            </a:pPr>
            <a:r>
              <a:rPr lang="en-US" sz="2200" b="1" dirty="0">
                <a:solidFill>
                  <a:schemeClr val="accent1"/>
                </a:solidFill>
              </a:rPr>
              <a:t>64,256</a:t>
            </a:r>
            <a:endParaRPr lang="en-US" sz="2200" dirty="0"/>
          </a:p>
        </p:txBody>
      </p:sp>
      <p:sp>
        <p:nvSpPr>
          <p:cNvPr id="19" name="Text 15"/>
          <p:cNvSpPr txBox="1"/>
          <p:nvPr/>
        </p:nvSpPr>
        <p:spPr>
          <a:xfrm>
            <a:off x="7150608" y="1975104"/>
            <a:ext cx="1426464" cy="502920"/>
          </a:xfrm>
          <a:prstGeom prst="rect">
            <a:avLst/>
          </a:prstGeom>
          <a:noFill/>
          <a:ln/>
        </p:spPr>
        <p:txBody>
          <a:bodyPr wrap="square" lIns="0" tIns="0" rIns="0" bIns="0" rtlCol="0" anchor="t"/>
          <a:lstStyle/>
          <a:p>
            <a:pPr algn="l" indent="0" marL="0">
              <a:buNone/>
            </a:pPr>
            <a:r>
              <a:rPr lang="en-US" sz="1200" dirty="0">
                <a:solidFill>
                  <a:schemeClr val="tx2"/>
                </a:solidFill>
              </a:rPr>
              <a:t>labelled losses</a:t>
            </a:r>
            <a:endParaRPr lang="en-US" sz="1200" dirty="0"/>
          </a:p>
        </p:txBody>
      </p:sp>
      <p:sp>
        <p:nvSpPr>
          <p:cNvPr id="20" name="Data stat 3"/>
          <p:cNvSpPr/>
          <p:nvPr/>
        </p:nvSpPr>
        <p:spPr>
          <a:xfrm>
            <a:off x="5257800" y="2743200"/>
            <a:ext cx="1645920" cy="1188720"/>
          </a:xfrm>
          <a:prstGeom prst="roundRect">
            <a:avLst>
              <a:gd name="adj" fmla="val 6154"/>
            </a:avLst>
          </a:prstGeom>
          <a:solidFill>
            <a:schemeClr val="bg2"/>
          </a:solidFill>
          <a:ln w="6350">
            <a:solidFill>
              <a:schemeClr val="bg2"/>
            </a:solidFill>
            <a:prstDash val="solid"/>
          </a:ln>
        </p:spPr>
      </p:sp>
      <p:sp>
        <p:nvSpPr>
          <p:cNvPr id="21" name="Text 17"/>
          <p:cNvSpPr txBox="1"/>
          <p:nvPr/>
        </p:nvSpPr>
        <p:spPr>
          <a:xfrm>
            <a:off x="5367528" y="2852928"/>
            <a:ext cx="1426464" cy="457200"/>
          </a:xfrm>
          <a:prstGeom prst="rect">
            <a:avLst/>
          </a:prstGeom>
          <a:noFill/>
          <a:ln/>
        </p:spPr>
        <p:txBody>
          <a:bodyPr wrap="square" lIns="0" tIns="0" rIns="0" bIns="0" rtlCol="0" anchor="ctr"/>
          <a:lstStyle/>
          <a:p>
            <a:pPr algn="l" indent="0" marL="0">
              <a:buNone/>
            </a:pPr>
            <a:r>
              <a:rPr lang="en-US" sz="1500" b="1" dirty="0">
                <a:solidFill>
                  <a:schemeClr val="accent1"/>
                </a:solidFill>
              </a:rPr>
              <a:t>49,092 / 15,164</a:t>
            </a:r>
            <a:endParaRPr lang="en-US" sz="1500" dirty="0"/>
          </a:p>
        </p:txBody>
      </p:sp>
      <p:sp>
        <p:nvSpPr>
          <p:cNvPr id="22" name="Text 18"/>
          <p:cNvSpPr txBox="1"/>
          <p:nvPr/>
        </p:nvSpPr>
        <p:spPr>
          <a:xfrm>
            <a:off x="5367528" y="3346704"/>
            <a:ext cx="1426464" cy="502920"/>
          </a:xfrm>
          <a:prstGeom prst="rect">
            <a:avLst/>
          </a:prstGeom>
          <a:noFill/>
          <a:ln/>
        </p:spPr>
        <p:txBody>
          <a:bodyPr wrap="square" lIns="0" tIns="0" rIns="0" bIns="0" rtlCol="0" anchor="t"/>
          <a:lstStyle/>
          <a:p>
            <a:pPr algn="l" indent="0" marL="0">
              <a:buNone/>
            </a:pPr>
            <a:r>
              <a:rPr lang="en-US" sz="1200" dirty="0">
                <a:solidFill>
                  <a:schemeClr val="tx2"/>
                </a:solidFill>
              </a:rPr>
              <a:t>congestion / random losses</a:t>
            </a:r>
            <a:endParaRPr lang="en-US" sz="1200" dirty="0"/>
          </a:p>
        </p:txBody>
      </p:sp>
      <p:sp>
        <p:nvSpPr>
          <p:cNvPr id="23" name="Data stat 4"/>
          <p:cNvSpPr/>
          <p:nvPr/>
        </p:nvSpPr>
        <p:spPr>
          <a:xfrm>
            <a:off x="7040880" y="2743200"/>
            <a:ext cx="1645920" cy="1188720"/>
          </a:xfrm>
          <a:prstGeom prst="roundRect">
            <a:avLst>
              <a:gd name="adj" fmla="val 6154"/>
            </a:avLst>
          </a:prstGeom>
          <a:solidFill>
            <a:schemeClr val="bg2"/>
          </a:solidFill>
          <a:ln w="6350">
            <a:solidFill>
              <a:schemeClr val="bg2"/>
            </a:solidFill>
            <a:prstDash val="solid"/>
          </a:ln>
        </p:spPr>
      </p:sp>
      <p:sp>
        <p:nvSpPr>
          <p:cNvPr id="24" name="Text 20"/>
          <p:cNvSpPr txBox="1"/>
          <p:nvPr/>
        </p:nvSpPr>
        <p:spPr>
          <a:xfrm>
            <a:off x="7150608" y="2852928"/>
            <a:ext cx="1426464" cy="457200"/>
          </a:xfrm>
          <a:prstGeom prst="rect">
            <a:avLst/>
          </a:prstGeom>
          <a:noFill/>
          <a:ln/>
        </p:spPr>
        <p:txBody>
          <a:bodyPr wrap="square" lIns="0" tIns="0" rIns="0" bIns="0" rtlCol="0" anchor="ctr"/>
          <a:lstStyle/>
          <a:p>
            <a:pPr algn="l" indent="0" marL="0">
              <a:buNone/>
            </a:pPr>
            <a:r>
              <a:rPr lang="en-US" sz="2200" b="1" dirty="0">
                <a:solidFill>
                  <a:schemeClr val="accent1"/>
                </a:solidFill>
              </a:rPr>
              <a:t>297 / 100</a:t>
            </a:r>
            <a:endParaRPr lang="en-US" sz="2200" dirty="0"/>
          </a:p>
        </p:txBody>
      </p:sp>
      <p:sp>
        <p:nvSpPr>
          <p:cNvPr id="25" name="Text 21"/>
          <p:cNvSpPr txBox="1"/>
          <p:nvPr/>
        </p:nvSpPr>
        <p:spPr>
          <a:xfrm>
            <a:off x="7150608" y="3346704"/>
            <a:ext cx="1426464" cy="502920"/>
          </a:xfrm>
          <a:prstGeom prst="rect">
            <a:avLst/>
          </a:prstGeom>
          <a:noFill/>
          <a:ln/>
        </p:spPr>
        <p:txBody>
          <a:bodyPr wrap="square" lIns="0" tIns="0" rIns="0" bIns="0" rtlCol="0" anchor="t"/>
          <a:lstStyle/>
          <a:p>
            <a:pPr algn="l" indent="0" marL="0">
              <a:buNone/>
            </a:pPr>
            <a:r>
              <a:rPr lang="en-US" sz="1200" dirty="0">
                <a:solidFill>
                  <a:schemeClr val="tx2"/>
                </a:solidFill>
              </a:rPr>
              <a:t>scenarios for training / testing</a:t>
            </a:r>
            <a:endParaRPr lang="en-US" sz="1200" dirty="0"/>
          </a:p>
        </p:txBody>
      </p:sp>
      <p:sp>
        <p:nvSpPr>
          <p:cNvPr id="26" name="Text 22"/>
          <p:cNvSpPr txBox="1"/>
          <p:nvPr/>
        </p:nvSpPr>
        <p:spPr>
          <a:xfrm>
            <a:off x="457200" y="4160520"/>
            <a:ext cx="8229600" cy="365760"/>
          </a:xfrm>
          <a:prstGeom prst="rect">
            <a:avLst/>
          </a:prstGeom>
          <a:noFill/>
          <a:ln/>
        </p:spPr>
        <p:txBody>
          <a:bodyPr wrap="square" lIns="0" tIns="0" rIns="0" bIns="0" rtlCol="0" anchor="ctr"/>
          <a:lstStyle/>
          <a:p>
            <a:pPr algn="l" indent="0" marL="0">
              <a:buNone/>
            </a:pPr>
            <a:r>
              <a:rPr lang="en-US" sz="1400" dirty="0">
                <a:solidFill>
                  <a:schemeClr val="tx1"/>
                </a:solidFill>
              </a:rPr>
              <a:t>Whole scenarios are held out, so the test measures networks the classifier has never seen.</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2 · MACHINE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Ten signals describe a loss</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023360" cy="914400"/>
        </p:xfrm>
        <a:graphic>
          <a:graphicData uri="http://schemas.openxmlformats.org/drawingml/2006/table">
            <a:tbl>
              <a:tblPr/>
              <a:tblGrid>
                <a:gridCol w="1554480"/>
                <a:gridCol w="2468880"/>
              </a:tblGrid>
              <a:tr h="512064">
                <a:tc>
                  <a:txBody>
                    <a:bodyPr/>
                    <a:lstStyle/>
                    <a:p>
                      <a:pPr indent="0" marL="0">
                        <a:buNone/>
                      </a:pPr>
                      <a:r>
                        <a:rPr lang="en-US" sz="1400" b="1" dirty="0">
                          <a:solidFill>
                            <a:schemeClr val="tx1"/>
                          </a:solidFill>
                        </a:rPr>
                        <a:t>rtt_ratio</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Latest RTT ÷ minimum RTT</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12064">
                <a:tc>
                  <a:txBody>
                    <a:bodyPr/>
                    <a:lstStyle/>
                    <a:p>
                      <a:pPr indent="0" marL="0">
                        <a:buNone/>
                      </a:pPr>
                      <a:r>
                        <a:rPr lang="en-US" sz="1400" b="1" dirty="0">
                          <a:solidFill>
                            <a:schemeClr val="tx1"/>
                          </a:solidFill>
                        </a:rPr>
                        <a:t>rtt_peak_ratio</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Latest RTT ÷ recent peak RTT</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12064">
                <a:tc>
                  <a:txBody>
                    <a:bodyPr/>
                    <a:lstStyle/>
                    <a:p>
                      <a:pPr indent="0" marL="0">
                        <a:buNone/>
                      </a:pPr>
                      <a:r>
                        <a:rPr lang="en-US" sz="1400" b="1" dirty="0">
                          <a:solidFill>
                            <a:schemeClr val="tx1"/>
                          </a:solidFill>
                        </a:rPr>
                        <a:t>rtt_dev</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RTT variation ÷ minimum RTT</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12064">
                <a:tc>
                  <a:txBody>
                    <a:bodyPr/>
                    <a:lstStyle/>
                    <a:p>
                      <a:pPr indent="0" marL="0">
                        <a:buNone/>
                      </a:pPr>
                      <a:r>
                        <a:rPr lang="en-US" sz="1400" b="1" dirty="0">
                          <a:solidFill>
                            <a:schemeClr val="tx1"/>
                          </a:solidFill>
                        </a:rPr>
                        <a:t>inflight_ratio</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Packets in flight ÷ pipe size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12064">
                <a:tc>
                  <a:txBody>
                    <a:bodyPr/>
                    <a:lstStyle/>
                    <a:p>
                      <a:pPr indent="0" marL="0">
                        <a:buNone/>
                      </a:pPr>
                      <a:r>
                        <a:rPr lang="en-US" sz="1400" b="1" dirty="0">
                          <a:solidFill>
                            <a:schemeClr val="tx1"/>
                          </a:solidFill>
                        </a:rPr>
                        <a:t>rtts_since_loss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RTTs since the previous loss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4663440" y="1325880"/>
          <a:ext cx="4023360" cy="914400"/>
        </p:xfrm>
        <a:graphic>
          <a:graphicData uri="http://schemas.openxmlformats.org/drawingml/2006/table">
            <a:tbl>
              <a:tblPr/>
              <a:tblGrid>
                <a:gridCol w="1554480"/>
                <a:gridCol w="2468880"/>
              </a:tblGrid>
              <a:tr h="512064">
                <a:tc>
                  <a:txBody>
                    <a:bodyPr/>
                    <a:lstStyle/>
                    <a:p>
                      <a:pPr indent="0" marL="0">
                        <a:buNone/>
                      </a:pPr>
                      <a:r>
                        <a:rPr lang="en-US" sz="1400" b="1" dirty="0">
                          <a:solidFill>
                            <a:schemeClr val="tx1"/>
                          </a:solidFill>
                        </a:rPr>
                        <a:t>srtt_ratio</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Smoothed RTT ÷ minimum RTT</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12064">
                <a:tc>
                  <a:txBody>
                    <a:bodyPr/>
                    <a:lstStyle/>
                    <a:p>
                      <a:pPr indent="0" marL="0">
                        <a:buNone/>
                      </a:pPr>
                      <a:r>
                        <a:rPr lang="en-US" sz="1400" b="1" dirty="0">
                          <a:solidFill>
                            <a:schemeClr val="tx1"/>
                          </a:solidFill>
                        </a:rPr>
                        <a:t>rtt_trend</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RTT change over 16 ACKs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12064">
                <a:tc>
                  <a:txBody>
                    <a:bodyPr/>
                    <a:lstStyle/>
                    <a:p>
                      <a:pPr indent="0" marL="0">
                        <a:buNone/>
                      </a:pPr>
                      <a:r>
                        <a:rPr lang="en-US" sz="1400" b="1" dirty="0">
                          <a:solidFill>
                            <a:schemeClr val="tx1"/>
                          </a:solidFill>
                        </a:rPr>
                        <a:t>rate_ratio</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Delivery rate ÷ recent peak</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12064">
                <a:tc>
                  <a:txBody>
                    <a:bodyPr/>
                    <a:lstStyle/>
                    <a:p>
                      <a:pPr indent="0" marL="0">
                        <a:buNone/>
                      </a:pPr>
                      <a:r>
                        <a:rPr lang="en-US" sz="1400" b="1" dirty="0">
                          <a:solidFill>
                            <a:schemeClr val="tx1"/>
                          </a:solidFill>
                        </a:rPr>
                        <a:t>losses_last_rtt</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Other losses in the last RTT</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512064">
                <a:tc>
                  <a:txBody>
                    <a:bodyPr/>
                    <a:lstStyle/>
                    <a:p>
                      <a:pPr indent="0" marL="0">
                        <a:buNone/>
                      </a:pPr>
                      <a:r>
                        <a:rPr lang="en-US" sz="1400" b="1" dirty="0">
                          <a:solidFill>
                            <a:schemeClr val="tx1"/>
                          </a:solidFill>
                        </a:rPr>
                        <a:t>loss_rate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indent="0" marL="0">
                        <a:buNone/>
                      </a:pPr>
                      <a:r>
                        <a:rPr lang="en-US" sz="1400" dirty="0">
                          <a:solidFill>
                            <a:schemeClr val="tx2"/>
                          </a:solidFill>
                        </a:rPr>
                        <a:t>Loss rate, last ~100 packets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15" name="Text 10"/>
          <p:cNvSpPr txBox="1"/>
          <p:nvPr/>
        </p:nvSpPr>
        <p:spPr>
          <a:xfrm>
            <a:off x="457200" y="4023360"/>
            <a:ext cx="8229600" cy="502920"/>
          </a:xfrm>
          <a:prstGeom prst="rect">
            <a:avLst/>
          </a:prstGeom>
          <a:noFill/>
          <a:ln/>
        </p:spPr>
        <p:txBody>
          <a:bodyPr wrap="square" lIns="0" tIns="0" rIns="0" bIns="0" rtlCol="0" anchor="ctr"/>
          <a:lstStyle/>
          <a:p>
            <a:pPr algn="l" indent="0" marL="0">
              <a:buNone/>
            </a:pPr>
            <a:r>
              <a:rPr lang="en-US" sz="1400" dirty="0">
                <a:solidFill>
                  <a:schemeClr val="tx1"/>
                </a:solidFill>
              </a:rPr>
              <a:t>Intuition: congestion loss happens when the queue is full, so the RTT is near its peak. Random loss can come at any RTT.</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2 · MACHINE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Four classifiers compared</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13" name="Chart 0" descr=""/>
          <p:cNvGraphicFramePr/>
          <p:nvPr/>
        </p:nvGraphicFramePr>
        <p:xfrm>
          <a:off x="457200" y="132588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5532120" y="1325880"/>
            <a:ext cx="3154680" cy="502920"/>
          </a:xfrm>
          <a:prstGeom prst="rect">
            <a:avLst/>
          </a:prstGeom>
          <a:noFill/>
          <a:ln/>
        </p:spPr>
        <p:txBody>
          <a:bodyPr wrap="square" lIns="0" tIns="0" rIns="0" bIns="0" rtlCol="0" anchor="ctr"/>
          <a:lstStyle/>
          <a:p>
            <a:pPr algn="l" indent="0" marL="0">
              <a:buNone/>
            </a:pPr>
            <a:r>
              <a:rPr lang="en-US" sz="3400" b="1" dirty="0">
                <a:solidFill>
                  <a:schemeClr val="accent1"/>
                </a:solidFill>
              </a:rPr>
              <a:t>91.4%</a:t>
            </a:r>
            <a:endParaRPr lang="en-US" sz="3400" dirty="0"/>
          </a:p>
        </p:txBody>
      </p:sp>
      <p:sp>
        <p:nvSpPr>
          <p:cNvPr id="15" name="Text 11"/>
          <p:cNvSpPr txBox="1"/>
          <p:nvPr/>
        </p:nvSpPr>
        <p:spPr>
          <a:xfrm>
            <a:off x="5532120" y="1847088"/>
            <a:ext cx="3154680" cy="411480"/>
          </a:xfrm>
          <a:prstGeom prst="rect">
            <a:avLst/>
          </a:prstGeom>
          <a:noFill/>
          <a:ln/>
        </p:spPr>
        <p:txBody>
          <a:bodyPr wrap="square" lIns="0" tIns="0" rIns="0" bIns="0" rtlCol="0" anchor="t"/>
          <a:lstStyle/>
          <a:p>
            <a:pPr algn="l" indent="0" marL="0">
              <a:buNone/>
            </a:pPr>
            <a:r>
              <a:rPr lang="en-US" sz="1200" dirty="0">
                <a:solidFill>
                  <a:schemeClr val="tx2"/>
                </a:solidFill>
              </a:rPr>
              <a:t>of losses classified correctly by XGBoost on unseen networks</a:t>
            </a:r>
            <a:endParaRPr lang="en-US" sz="1200" dirty="0"/>
          </a:p>
        </p:txBody>
      </p:sp>
      <p:sp>
        <p:nvSpPr>
          <p:cNvPr id="16" name="Text 12"/>
          <p:cNvSpPr txBox="1"/>
          <p:nvPr/>
        </p:nvSpPr>
        <p:spPr>
          <a:xfrm>
            <a:off x="5532120" y="2423160"/>
            <a:ext cx="3154680" cy="20574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Tree ensembles beat the best single threshold by 3 points of F1</a:t>
            </a:r>
            <a:endParaRPr lang="en-US" sz="1400" dirty="0"/>
          </a:p>
          <a:p>
            <a:pPr algn="l" marL="342900" indent="-342900">
              <a:spcAft>
                <a:spcPts val="600"/>
              </a:spcAft>
              <a:buSzPct val="100000"/>
              <a:buChar char="•"/>
            </a:pPr>
            <a:r>
              <a:rPr lang="en-US" sz="1400" dirty="0">
                <a:solidFill>
                  <a:schemeClr val="tx1"/>
                </a:solidFill>
              </a:rPr>
              <a:t>XGBoost is as accurate as the forest and much faster per loss</a:t>
            </a:r>
            <a:endParaRPr lang="en-US" sz="1400" dirty="0"/>
          </a:p>
          <a:p>
            <a:pPr algn="l" marL="342900" indent="-342900">
              <a:spcAft>
                <a:spcPts val="600"/>
              </a:spcAft>
              <a:buSzPct val="100000"/>
              <a:buChar char="•"/>
            </a:pPr>
            <a:r>
              <a:rPr lang="en-US" sz="1400" dirty="0">
                <a:solidFill>
                  <a:schemeClr val="tx1"/>
                </a:solidFill>
              </a:rPr>
              <a:t>Misses 5.4% of congestion losses; misreads 18.6% of random ones</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2 · MACHINE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What the classifier relies on</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pic>
        <p:nvPicPr>
          <p:cNvPr id="13" name="Image 0" descr="Bar chart of permutation importance: rtt_peak_ratio is the most important signal, then loss_rate, then rtts_since_loss.">    </p:cNvPr>
          <p:cNvPicPr>
            <a:picLocks noChangeAspect="1"/>
          </p:cNvPicPr>
          <p:nvPr/>
        </p:nvPicPr>
        <p:blipFill>
          <a:blip r:embed="rId1"/>
          <a:stretch>
            <a:fillRect/>
          </a:stretch>
        </p:blipFill>
        <p:spPr>
          <a:xfrm>
            <a:off x="457200" y="1378589"/>
            <a:ext cx="5120640" cy="2912102"/>
          </a:xfrm>
          <a:prstGeom prst="rect">
            <a:avLst/>
          </a:prstGeom>
        </p:spPr>
      </p:pic>
      <p:sp>
        <p:nvSpPr>
          <p:cNvPr id="14" name="Text 10"/>
          <p:cNvSpPr txBox="1"/>
          <p:nvPr/>
        </p:nvSpPr>
        <p:spPr>
          <a:xfrm>
            <a:off x="5852160" y="1463040"/>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5" name="Text 11"/>
          <p:cNvSpPr txBox="1"/>
          <p:nvPr/>
        </p:nvSpPr>
        <p:spPr>
          <a:xfrm>
            <a:off x="6400800" y="1426464"/>
            <a:ext cx="2286000" cy="457200"/>
          </a:xfrm>
          <a:prstGeom prst="rect">
            <a:avLst/>
          </a:prstGeom>
          <a:noFill/>
          <a:ln/>
        </p:spPr>
        <p:txBody>
          <a:bodyPr wrap="square" lIns="0" tIns="0" rIns="0" bIns="0" rtlCol="0" anchor="ctr"/>
          <a:lstStyle/>
          <a:p>
            <a:pPr algn="l" indent="0" marL="0">
              <a:buNone/>
            </a:pPr>
            <a:r>
              <a:rPr lang="en-US" sz="1400" b="1" dirty="0">
                <a:solidFill>
                  <a:schemeClr val="tx1"/>
                </a:solidFill>
              </a:rPr>
              <a:t>RTT relative to its recent peak</a:t>
            </a:r>
            <a:endParaRPr lang="en-US" sz="1400" dirty="0"/>
          </a:p>
        </p:txBody>
      </p:sp>
      <p:sp>
        <p:nvSpPr>
          <p:cNvPr id="16" name="Text 12"/>
          <p:cNvSpPr txBox="1"/>
          <p:nvPr/>
        </p:nvSpPr>
        <p:spPr>
          <a:xfrm>
            <a:off x="5852160" y="2148840"/>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3"/>
          <p:cNvSpPr txBox="1"/>
          <p:nvPr/>
        </p:nvSpPr>
        <p:spPr>
          <a:xfrm>
            <a:off x="6400800" y="2112264"/>
            <a:ext cx="2286000" cy="457200"/>
          </a:xfrm>
          <a:prstGeom prst="rect">
            <a:avLst/>
          </a:prstGeom>
          <a:noFill/>
          <a:ln/>
        </p:spPr>
        <p:txBody>
          <a:bodyPr wrap="square" lIns="0" tIns="0" rIns="0" bIns="0" rtlCol="0" anchor="ctr"/>
          <a:lstStyle/>
          <a:p>
            <a:pPr algn="l" indent="0" marL="0">
              <a:buNone/>
            </a:pPr>
            <a:r>
              <a:rPr lang="en-US" sz="1400" b="1" dirty="0">
                <a:solidFill>
                  <a:schemeClr val="tx1"/>
                </a:solidFill>
              </a:rPr>
              <a:t>Recent loss rate</a:t>
            </a:r>
            <a:endParaRPr lang="en-US" sz="1400" dirty="0"/>
          </a:p>
        </p:txBody>
      </p:sp>
      <p:sp>
        <p:nvSpPr>
          <p:cNvPr id="18" name="Text 14"/>
          <p:cNvSpPr txBox="1"/>
          <p:nvPr/>
        </p:nvSpPr>
        <p:spPr>
          <a:xfrm>
            <a:off x="5852160" y="2834640"/>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5"/>
          <p:cNvSpPr txBox="1"/>
          <p:nvPr/>
        </p:nvSpPr>
        <p:spPr>
          <a:xfrm>
            <a:off x="6400800" y="2798064"/>
            <a:ext cx="2286000" cy="457200"/>
          </a:xfrm>
          <a:prstGeom prst="rect">
            <a:avLst/>
          </a:prstGeom>
          <a:noFill/>
          <a:ln/>
        </p:spPr>
        <p:txBody>
          <a:bodyPr wrap="square" lIns="0" tIns="0" rIns="0" bIns="0" rtlCol="0" anchor="ctr"/>
          <a:lstStyle/>
          <a:p>
            <a:pPr algn="l" indent="0" marL="0">
              <a:buNone/>
            </a:pPr>
            <a:r>
              <a:rPr lang="en-US" sz="1400" b="1" dirty="0">
                <a:solidFill>
                  <a:schemeClr val="tx1"/>
                </a:solidFill>
              </a:rPr>
              <a:t>Time since the previous loss</a:t>
            </a:r>
            <a:endParaRPr lang="en-US" sz="1400" dirty="0"/>
          </a:p>
        </p:txBody>
      </p:sp>
      <p:sp>
        <p:nvSpPr>
          <p:cNvPr id="20" name="Text 16"/>
          <p:cNvSpPr txBox="1"/>
          <p:nvPr/>
        </p:nvSpPr>
        <p:spPr>
          <a:xfrm>
            <a:off x="5852160" y="3611880"/>
            <a:ext cx="2834640" cy="777240"/>
          </a:xfrm>
          <a:prstGeom prst="rect">
            <a:avLst/>
          </a:prstGeom>
          <a:noFill/>
          <a:ln/>
        </p:spPr>
        <p:txBody>
          <a:bodyPr wrap="square" lIns="0" tIns="0" rIns="0" bIns="0" rtlCol="0" anchor="t"/>
          <a:lstStyle/>
          <a:p>
            <a:pPr algn="l" indent="0" marL="0">
              <a:buNone/>
            </a:pPr>
            <a:r>
              <a:rPr lang="en-US" sz="1400" dirty="0">
                <a:solidFill>
                  <a:schemeClr val="tx2"/>
                </a:solidFill>
              </a:rPr>
              <a:t>A random loss looks different because it arrives when the queue is not full.</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2 · MACHINE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CUBIC+ML: using the classifier</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3" name="Step loss"/>
          <p:cNvSpPr txBox="1"/>
          <p:nvPr/>
        </p:nvSpPr>
        <p:spPr>
          <a:xfrm>
            <a:off x="457200" y="1600200"/>
            <a:ext cx="1417320" cy="731520"/>
          </a:xfrm>
          <a:prstGeom prst="roundRect">
            <a:avLst>
              <a:gd name="adj" fmla="val 10000"/>
            </a:avLst>
          </a:prstGeom>
          <a:solidFill>
            <a:schemeClr val="bg2"/>
          </a:solidFill>
          <a:ln w="6350">
            <a:solidFill>
              <a:schemeClr val="bg2"/>
            </a:solidFill>
          </a:ln>
        </p:spPr>
        <p:txBody>
          <a:bodyPr wrap="square" lIns="762" tIns="762" rIns="762" bIns="762" rtlCol="0" anchor="ctr"/>
          <a:lstStyle/>
          <a:p>
            <a:pPr algn="ctr" indent="0" marL="0">
              <a:buNone/>
            </a:pPr>
            <a:r>
              <a:rPr lang="en-US" sz="1300" dirty="0">
                <a:solidFill>
                  <a:schemeClr val="tx1"/>
                </a:solidFill>
              </a:rPr>
              <a:t>Loss reported</a:t>
            </a:r>
            <a:endParaRPr lang="en-US" sz="1300" dirty="0"/>
          </a:p>
        </p:txBody>
      </p:sp>
      <p:sp>
        <p:nvSpPr>
          <p:cNvPr id="14" name="Shape 11"/>
          <p:cNvSpPr/>
          <p:nvPr/>
        </p:nvSpPr>
        <p:spPr>
          <a:xfrm>
            <a:off x="1874520" y="1965960"/>
            <a:ext cx="274320" cy="0"/>
          </a:xfrm>
          <a:prstGeom prst="line">
            <a:avLst/>
          </a:prstGeom>
          <a:noFill/>
          <a:ln w="15875">
            <a:solidFill>
              <a:schemeClr val="tx2"/>
            </a:solidFill>
            <a:prstDash val="solid"/>
            <a:tailEnd type="triangle"/>
          </a:ln>
        </p:spPr>
      </p:sp>
      <p:sp>
        <p:nvSpPr>
          <p:cNvPr id="15" name="Step signals"/>
          <p:cNvSpPr txBox="1"/>
          <p:nvPr/>
        </p:nvSpPr>
        <p:spPr>
          <a:xfrm>
            <a:off x="2148840" y="1600200"/>
            <a:ext cx="1463040" cy="731520"/>
          </a:xfrm>
          <a:prstGeom prst="roundRect">
            <a:avLst>
              <a:gd name="adj" fmla="val 10000"/>
            </a:avLst>
          </a:prstGeom>
          <a:solidFill>
            <a:schemeClr val="bg2"/>
          </a:solidFill>
          <a:ln w="6350">
            <a:solidFill>
              <a:schemeClr val="bg2"/>
            </a:solidFill>
          </a:ln>
        </p:spPr>
        <p:txBody>
          <a:bodyPr wrap="square" lIns="762" tIns="762" rIns="762" bIns="762" rtlCol="0" anchor="ctr"/>
          <a:lstStyle/>
          <a:p>
            <a:pPr algn="ctr" indent="0" marL="0">
              <a:buNone/>
            </a:pPr>
            <a:r>
              <a:rPr lang="en-US" sz="1300" dirty="0">
                <a:solidFill>
                  <a:schemeClr val="tx1"/>
                </a:solidFill>
              </a:rPr>
              <a:t>Compute the 10 signals</a:t>
            </a:r>
            <a:endParaRPr lang="en-US" sz="1300" dirty="0"/>
          </a:p>
        </p:txBody>
      </p:sp>
      <p:sp>
        <p:nvSpPr>
          <p:cNvPr id="16" name="Shape 13"/>
          <p:cNvSpPr/>
          <p:nvPr/>
        </p:nvSpPr>
        <p:spPr>
          <a:xfrm>
            <a:off x="3611880" y="1965960"/>
            <a:ext cx="274320" cy="0"/>
          </a:xfrm>
          <a:prstGeom prst="line">
            <a:avLst/>
          </a:prstGeom>
          <a:noFill/>
          <a:ln w="15875">
            <a:solidFill>
              <a:schemeClr val="tx2"/>
            </a:solidFill>
            <a:prstDash val="solid"/>
            <a:tailEnd type="triangle"/>
          </a:ln>
        </p:spPr>
      </p:sp>
      <p:sp>
        <p:nvSpPr>
          <p:cNvPr id="17" name="Step classifier"/>
          <p:cNvSpPr txBox="1"/>
          <p:nvPr/>
        </p:nvSpPr>
        <p:spPr>
          <a:xfrm>
            <a:off x="3886200" y="1600200"/>
            <a:ext cx="1554480" cy="731520"/>
          </a:xfrm>
          <a:prstGeom prst="roundRect">
            <a:avLst>
              <a:gd name="adj" fmla="val 10000"/>
            </a:avLst>
          </a:prstGeom>
          <a:solidFill>
            <a:schemeClr val="bg2"/>
          </a:solidFill>
          <a:ln w="6350">
            <a:solidFill>
              <a:schemeClr val="bg2"/>
            </a:solidFill>
          </a:ln>
        </p:spPr>
        <p:txBody>
          <a:bodyPr wrap="square" lIns="762" tIns="762" rIns="762" bIns="762" rtlCol="0" anchor="ctr"/>
          <a:lstStyle/>
          <a:p>
            <a:pPr algn="ctr" indent="0" marL="0">
              <a:buNone/>
            </a:pPr>
            <a:r>
              <a:rPr lang="en-US" sz="1300" dirty="0">
                <a:solidFill>
                  <a:schemeClr val="tx1"/>
                </a:solidFill>
              </a:rPr>
              <a:t>Classifier gives P(congestion)</a:t>
            </a:r>
            <a:endParaRPr lang="en-US" sz="1300" dirty="0"/>
          </a:p>
        </p:txBody>
      </p:sp>
      <p:sp>
        <p:nvSpPr>
          <p:cNvPr id="18" name="Shape 15"/>
          <p:cNvSpPr/>
          <p:nvPr/>
        </p:nvSpPr>
        <p:spPr>
          <a:xfrm>
            <a:off x="5440680" y="1965960"/>
            <a:ext cx="274320" cy="0"/>
          </a:xfrm>
          <a:prstGeom prst="line">
            <a:avLst/>
          </a:prstGeom>
          <a:noFill/>
          <a:ln w="15875">
            <a:solidFill>
              <a:schemeClr val="tx2"/>
            </a:solidFill>
            <a:prstDash val="solid"/>
            <a:tailEnd type="triangle"/>
          </a:ln>
        </p:spPr>
      </p:sp>
      <p:sp>
        <p:nvSpPr>
          <p:cNvPr id="19" name="Decision"/>
          <p:cNvSpPr txBox="1"/>
          <p:nvPr/>
        </p:nvSpPr>
        <p:spPr>
          <a:xfrm>
            <a:off x="5715000" y="1600200"/>
            <a:ext cx="1097280" cy="731520"/>
          </a:xfrm>
          <a:prstGeom prst="roundRect">
            <a:avLst>
              <a:gd name="adj" fmla="val 10000"/>
            </a:avLst>
          </a:prstGeom>
          <a:solidFill>
            <a:schemeClr val="tx1"/>
          </a:solidFill>
          <a:ln w="6350">
            <a:solidFill>
              <a:schemeClr val="tx1"/>
            </a:solidFill>
          </a:ln>
        </p:spPr>
        <p:txBody>
          <a:bodyPr wrap="square" lIns="762" tIns="762" rIns="762" bIns="762" rtlCol="0" anchor="ctr"/>
          <a:lstStyle/>
          <a:p>
            <a:pPr algn="ctr" indent="0" marL="0">
              <a:buNone/>
            </a:pPr>
            <a:r>
              <a:rPr lang="en-US" sz="1300" b="1" dirty="0">
                <a:solidFill>
                  <a:schemeClr val="bg1"/>
                </a:solidFill>
              </a:rPr>
              <a:t>Below 0.2?</a:t>
            </a:r>
            <a:endParaRPr lang="en-US" sz="1300" dirty="0"/>
          </a:p>
        </p:txBody>
      </p:sp>
      <p:sp>
        <p:nvSpPr>
          <p:cNvPr id="20" name="Shape 17"/>
          <p:cNvSpPr/>
          <p:nvPr/>
        </p:nvSpPr>
        <p:spPr>
          <a:xfrm>
            <a:off x="6812280" y="1783080"/>
            <a:ext cx="320040" cy="0"/>
          </a:xfrm>
          <a:prstGeom prst="line">
            <a:avLst/>
          </a:prstGeom>
          <a:noFill/>
          <a:ln w="15875">
            <a:solidFill>
              <a:schemeClr val="tx2"/>
            </a:solidFill>
            <a:prstDash val="solid"/>
            <a:tailEnd type="triangle"/>
          </a:ln>
        </p:spPr>
      </p:sp>
      <p:sp>
        <p:nvSpPr>
          <p:cNvPr id="21" name="Shape 18"/>
          <p:cNvSpPr/>
          <p:nvPr/>
        </p:nvSpPr>
        <p:spPr>
          <a:xfrm>
            <a:off x="6812280" y="2148840"/>
            <a:ext cx="320040" cy="0"/>
          </a:xfrm>
          <a:prstGeom prst="line">
            <a:avLst/>
          </a:prstGeom>
          <a:noFill/>
          <a:ln w="15875">
            <a:solidFill>
              <a:schemeClr val="tx2"/>
            </a:solidFill>
            <a:prstDash val="solid"/>
            <a:tailEnd type="triangle"/>
          </a:ln>
        </p:spPr>
      </p:sp>
      <p:sp>
        <p:nvSpPr>
          <p:cNvPr id="22" name="Outcome ignore"/>
          <p:cNvSpPr txBox="1"/>
          <p:nvPr/>
        </p:nvSpPr>
        <p:spPr>
          <a:xfrm>
            <a:off x="7132320" y="1325880"/>
            <a:ext cx="1554480" cy="548640"/>
          </a:xfrm>
          <a:prstGeom prst="roundRect">
            <a:avLst>
              <a:gd name="adj" fmla="val 13333"/>
            </a:avLst>
          </a:prstGeom>
          <a:solidFill>
            <a:schemeClr val="bg2"/>
          </a:solidFill>
          <a:ln w="19050">
            <a:solidFill>
              <a:schemeClr val="accent1"/>
            </a:solidFill>
          </a:ln>
        </p:spPr>
        <p:txBody>
          <a:bodyPr wrap="square" lIns="762" tIns="762" rIns="762" bIns="762" rtlCol="0" anchor="ctr"/>
          <a:lstStyle/>
          <a:p>
            <a:pPr algn="ctr" indent="0" marL="0">
              <a:buNone/>
            </a:pPr>
            <a:r>
              <a:rPr lang="en-US" sz="1200" dirty="0">
                <a:solidFill>
                  <a:schemeClr val="tx1"/>
                </a:solidFill>
              </a:rPr>
              <a:t>Yes: ignore the loss</a:t>
            </a:r>
            <a:endParaRPr lang="en-US" sz="1200" dirty="0"/>
          </a:p>
        </p:txBody>
      </p:sp>
      <p:sp>
        <p:nvSpPr>
          <p:cNvPr id="23" name="Outcome reduce"/>
          <p:cNvSpPr txBox="1"/>
          <p:nvPr/>
        </p:nvSpPr>
        <p:spPr>
          <a:xfrm>
            <a:off x="7132320" y="2057400"/>
            <a:ext cx="1554480" cy="548640"/>
          </a:xfrm>
          <a:prstGeom prst="roundRect">
            <a:avLst>
              <a:gd name="adj" fmla="val 13333"/>
            </a:avLst>
          </a:prstGeom>
          <a:solidFill>
            <a:schemeClr val="bg2"/>
          </a:solidFill>
          <a:ln w="12700">
            <a:solidFill>
              <a:schemeClr val="accent5"/>
            </a:solidFill>
          </a:ln>
        </p:spPr>
        <p:txBody>
          <a:bodyPr wrap="square" lIns="762" tIns="762" rIns="762" bIns="762" rtlCol="0" anchor="ctr"/>
          <a:lstStyle/>
          <a:p>
            <a:pPr algn="ctr" indent="0" marL="0">
              <a:buNone/>
            </a:pPr>
            <a:r>
              <a:rPr lang="en-US" sz="1200" dirty="0">
                <a:solidFill>
                  <a:schemeClr val="tx1"/>
                </a:solidFill>
              </a:rPr>
              <a:t>No: window × 0.7</a:t>
            </a:r>
            <a:endParaRPr lang="en-US" sz="1200" dirty="0"/>
          </a:p>
        </p:txBody>
      </p:sp>
      <p:sp>
        <p:nvSpPr>
          <p:cNvPr id="24" name="Threshold card"/>
          <p:cNvSpPr/>
          <p:nvPr/>
        </p:nvSpPr>
        <p:spPr>
          <a:xfrm>
            <a:off x="457200" y="2880360"/>
            <a:ext cx="4572000" cy="1371600"/>
          </a:xfrm>
          <a:prstGeom prst="roundRect">
            <a:avLst>
              <a:gd name="adj" fmla="val 5333"/>
            </a:avLst>
          </a:prstGeom>
          <a:solidFill>
            <a:schemeClr val="bg2"/>
          </a:solidFill>
          <a:ln w="6350">
            <a:solidFill>
              <a:schemeClr val="bg2"/>
            </a:solidFill>
            <a:prstDash val="solid"/>
          </a:ln>
        </p:spPr>
      </p:sp>
      <p:sp>
        <p:nvSpPr>
          <p:cNvPr id="25" name="Text 22"/>
          <p:cNvSpPr txBox="1"/>
          <p:nvPr/>
        </p:nvSpPr>
        <p:spPr>
          <a:xfrm>
            <a:off x="640080" y="2971800"/>
            <a:ext cx="4206240" cy="320040"/>
          </a:xfrm>
          <a:prstGeom prst="rect">
            <a:avLst/>
          </a:prstGeom>
          <a:noFill/>
          <a:ln/>
        </p:spPr>
        <p:txBody>
          <a:bodyPr wrap="square" lIns="0" tIns="0" rIns="0" bIns="0" rtlCol="0" anchor="ctr"/>
          <a:lstStyle/>
          <a:p>
            <a:pPr algn="l" indent="0" marL="0">
              <a:buNone/>
            </a:pPr>
            <a:r>
              <a:rPr lang="en-US" sz="1600" b="1" dirty="0">
                <a:solidFill>
                  <a:schemeClr val="tx1"/>
                </a:solidFill>
              </a:rPr>
              <a:t>Why 80% sure, not 50%</a:t>
            </a:r>
            <a:endParaRPr lang="en-US" sz="1600" dirty="0"/>
          </a:p>
        </p:txBody>
      </p:sp>
      <p:sp>
        <p:nvSpPr>
          <p:cNvPr id="26" name="Text 23"/>
          <p:cNvSpPr txBox="1"/>
          <p:nvPr/>
        </p:nvSpPr>
        <p:spPr>
          <a:xfrm>
            <a:off x="640080" y="3337560"/>
            <a:ext cx="4206240" cy="822960"/>
          </a:xfrm>
          <a:prstGeom prst="rect">
            <a:avLst/>
          </a:prstGeom>
          <a:noFill/>
          <a:ln/>
        </p:spPr>
        <p:txBody>
          <a:bodyPr wrap="square" lIns="0" tIns="0" rIns="0" bIns="0" rtlCol="0" anchor="t"/>
          <a:lstStyle/>
          <a:p>
            <a:pPr algn="l" indent="0" marL="0">
              <a:buNone/>
            </a:pPr>
            <a:r>
              <a:rPr lang="en-US" sz="1400" dirty="0">
                <a:solidFill>
                  <a:schemeClr val="tx2"/>
                </a:solidFill>
              </a:rPr>
              <a:t>At 50% it ignored some real congestion losses and took 73% of a link from a normal CUBIC flow. At 80% the two share the link evenly.</a:t>
            </a:r>
            <a:endParaRPr lang="en-US" sz="1400" dirty="0"/>
          </a:p>
        </p:txBody>
      </p:sp>
      <p:sp>
        <p:nvSpPr>
          <p:cNvPr id="27" name="Text 24"/>
          <p:cNvSpPr txBox="1"/>
          <p:nvPr/>
        </p:nvSpPr>
        <p:spPr>
          <a:xfrm>
            <a:off x="5349240" y="2926080"/>
            <a:ext cx="1600200" cy="502920"/>
          </a:xfrm>
          <a:prstGeom prst="rect">
            <a:avLst/>
          </a:prstGeom>
          <a:noFill/>
          <a:ln/>
        </p:spPr>
        <p:txBody>
          <a:bodyPr wrap="square" lIns="0" tIns="0" rIns="0" bIns="0" rtlCol="0" anchor="ctr"/>
          <a:lstStyle/>
          <a:p>
            <a:pPr algn="l" indent="0" marL="0">
              <a:buNone/>
            </a:pPr>
            <a:r>
              <a:rPr lang="en-US" sz="2400" b="1" dirty="0">
                <a:solidFill>
                  <a:schemeClr val="accent1"/>
                </a:solidFill>
              </a:rPr>
              <a:t>9.6 Mbps</a:t>
            </a:r>
            <a:endParaRPr lang="en-US" sz="2400" dirty="0"/>
          </a:p>
        </p:txBody>
      </p:sp>
      <p:sp>
        <p:nvSpPr>
          <p:cNvPr id="28" name="Text 25"/>
          <p:cNvSpPr txBox="1"/>
          <p:nvPr/>
        </p:nvSpPr>
        <p:spPr>
          <a:xfrm>
            <a:off x="5349240" y="3447288"/>
            <a:ext cx="1600200" cy="548640"/>
          </a:xfrm>
          <a:prstGeom prst="rect">
            <a:avLst/>
          </a:prstGeom>
          <a:noFill/>
          <a:ln/>
        </p:spPr>
        <p:txBody>
          <a:bodyPr wrap="square" lIns="0" tIns="0" rIns="0" bIns="0" rtlCol="0" anchor="t"/>
          <a:lstStyle/>
          <a:p>
            <a:pPr algn="l" indent="0" marL="0">
              <a:buNone/>
            </a:pPr>
            <a:r>
              <a:rPr lang="en-US" sz="1200" dirty="0">
                <a:solidFill>
                  <a:schemeClr val="tx2"/>
                </a:solidFill>
              </a:rPr>
              <a:t>at 5% random loss; CUBIC gets 1.6</a:t>
            </a:r>
            <a:endParaRPr lang="en-US" sz="1200" dirty="0"/>
          </a:p>
        </p:txBody>
      </p:sp>
      <p:sp>
        <p:nvSpPr>
          <p:cNvPr id="29" name="Text 26"/>
          <p:cNvSpPr txBox="1"/>
          <p:nvPr/>
        </p:nvSpPr>
        <p:spPr>
          <a:xfrm>
            <a:off x="7132320" y="2926080"/>
            <a:ext cx="1554480" cy="502920"/>
          </a:xfrm>
          <a:prstGeom prst="rect">
            <a:avLst/>
          </a:prstGeom>
          <a:noFill/>
          <a:ln/>
        </p:spPr>
        <p:txBody>
          <a:bodyPr wrap="square" lIns="0" tIns="0" rIns="0" bIns="0" rtlCol="0" anchor="ctr"/>
          <a:lstStyle/>
          <a:p>
            <a:pPr algn="l" indent="0" marL="0">
              <a:buNone/>
            </a:pPr>
            <a:r>
              <a:rPr lang="en-US" sz="2400" b="1" dirty="0">
                <a:solidFill>
                  <a:schemeClr val="accent1"/>
                </a:solidFill>
              </a:rPr>
              <a:t>50.5%</a:t>
            </a:r>
            <a:endParaRPr lang="en-US" sz="2400" dirty="0"/>
          </a:p>
        </p:txBody>
      </p:sp>
      <p:sp>
        <p:nvSpPr>
          <p:cNvPr id="30" name="Text 27"/>
          <p:cNvSpPr txBox="1"/>
          <p:nvPr/>
        </p:nvSpPr>
        <p:spPr>
          <a:xfrm>
            <a:off x="7132320" y="3447288"/>
            <a:ext cx="1554480" cy="548640"/>
          </a:xfrm>
          <a:prstGeom prst="rect">
            <a:avLst/>
          </a:prstGeom>
          <a:noFill/>
          <a:ln/>
        </p:spPr>
        <p:txBody>
          <a:bodyPr wrap="square" lIns="0" tIns="0" rIns="0" bIns="0" rtlCol="0" anchor="t"/>
          <a:lstStyle/>
          <a:p>
            <a:pPr algn="l" indent="0" marL="0">
              <a:buNone/>
            </a:pPr>
            <a:r>
              <a:rPr lang="en-US" sz="1200" dirty="0">
                <a:solidFill>
                  <a:schemeClr val="tx2"/>
                </a:solidFill>
              </a:rPr>
              <a:t>of a link beside a normal CUBIC flow</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3"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4" name="Stage 3"/>
          <p:cNvSpPr txBox="1"/>
          <p:nvPr/>
        </p:nvSpPr>
        <p:spPr>
          <a:xfrm>
            <a:off x="705916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5" name="Stage 4"/>
          <p:cNvSpPr txBox="1"/>
          <p:nvPr/>
        </p:nvSpPr>
        <p:spPr>
          <a:xfrm>
            <a:off x="733348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6" name="Stage 5"/>
          <p:cNvSpPr txBox="1"/>
          <p:nvPr/>
        </p:nvSpPr>
        <p:spPr>
          <a:xfrm>
            <a:off x="760780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7" name="Stage 6"/>
          <p:cNvSpPr txBox="1"/>
          <p:nvPr/>
        </p:nvSpPr>
        <p:spPr>
          <a:xfrm>
            <a:off x="788212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8" name="Stage 7"/>
          <p:cNvSpPr txBox="1"/>
          <p:nvPr/>
        </p:nvSpPr>
        <p:spPr>
          <a:xfrm>
            <a:off x="815644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9" name="Stage 8"/>
          <p:cNvSpPr txBox="1"/>
          <p:nvPr/>
        </p:nvSpPr>
        <p:spPr>
          <a:xfrm>
            <a:off x="843076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0" name="Text 8"/>
          <p:cNvSpPr txBox="1"/>
          <p:nvPr/>
        </p:nvSpPr>
        <p:spPr>
          <a:xfrm>
            <a:off x="548640" y="1234440"/>
            <a:ext cx="5486400" cy="274320"/>
          </a:xfrm>
          <a:prstGeom prst="rect">
            <a:avLst/>
          </a:prstGeom>
          <a:noFill/>
          <a:ln/>
        </p:spPr>
        <p:txBody>
          <a:bodyPr wrap="square" lIns="0" tIns="0" rIns="0" bIns="0" rtlCol="0" anchor="t"/>
          <a:lstStyle/>
          <a:p>
            <a:pPr algn="l" indent="0" marL="0">
              <a:buNone/>
            </a:pPr>
            <a:r>
              <a:rPr lang="en-US" sz="1300" b="1" spc="300" kern="0" dirty="0">
                <a:solidFill>
                  <a:schemeClr val="accent2"/>
                </a:solidFill>
              </a:rPr>
              <a:t>STAGE 3 OF 8</a:t>
            </a:r>
            <a:endParaRPr lang="en-US" sz="1300" dirty="0"/>
          </a:p>
        </p:txBody>
      </p:sp>
      <p:sp>
        <p:nvSpPr>
          <p:cNvPr id="11" name="Text 9"/>
          <p:cNvSpPr txBox="1"/>
          <p:nvPr/>
        </p:nvSpPr>
        <p:spPr>
          <a:xfrm>
            <a:off x="548640" y="16002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Deep learning</a:t>
            </a:r>
            <a:endParaRPr lang="en-US" sz="4000" dirty="0"/>
          </a:p>
        </p:txBody>
      </p:sp>
      <p:sp>
        <p:nvSpPr>
          <p:cNvPr id="12" name="Text 10"/>
          <p:cNvSpPr txBox="1"/>
          <p:nvPr/>
        </p:nvSpPr>
        <p:spPr>
          <a:xfrm>
            <a:off x="548640" y="2788920"/>
            <a:ext cx="5486400" cy="256032"/>
          </a:xfrm>
          <a:prstGeom prst="rect">
            <a:avLst/>
          </a:prstGeom>
          <a:noFill/>
          <a:ln/>
        </p:spPr>
        <p:txBody>
          <a:bodyPr wrap="square" lIns="0" tIns="0" rIns="0" bIns="0" rtlCol="0" anchor="t"/>
          <a:lstStyle/>
          <a:p>
            <a:pPr algn="l" indent="0" marL="0">
              <a:buNone/>
            </a:pPr>
            <a:r>
              <a:rPr lang="en-US" sz="1100" b="1" spc="200" kern="0" dirty="0">
                <a:solidFill>
                  <a:schemeClr val="accent5"/>
                </a:solidFill>
              </a:rPr>
              <a:t>WHY THIS STAGE</a:t>
            </a:r>
            <a:endParaRPr lang="en-US" sz="1100" dirty="0"/>
          </a:p>
        </p:txBody>
      </p:sp>
      <p:sp>
        <p:nvSpPr>
          <p:cNvPr id="13" name="Text 11"/>
          <p:cNvSpPr txBox="1"/>
          <p:nvPr/>
        </p:nvSpPr>
        <p:spPr>
          <a:xfrm>
            <a:off x="548640" y="3090672"/>
            <a:ext cx="7863840" cy="1005840"/>
          </a:xfrm>
          <a:prstGeom prst="rect">
            <a:avLst/>
          </a:prstGeom>
          <a:noFill/>
          <a:ln/>
        </p:spPr>
        <p:txBody>
          <a:bodyPr wrap="square" lIns="0" tIns="0" rIns="0" bIns="0" rtlCol="0" anchor="t"/>
          <a:lstStyle/>
          <a:p>
            <a:pPr algn="l" indent="0" marL="0">
              <a:buNone/>
            </a:pPr>
            <a:r>
              <a:rPr lang="en-US" sz="1800" dirty="0">
                <a:solidFill>
                  <a:schemeClr val="bg2"/>
                </a:solidFill>
              </a:rPr>
              <a:t>CUBIC+ML fixed random loss but still fills the queue. Can a neural network see the delay coming?</a:t>
            </a:r>
            <a:endParaRPr lang="en-US" sz="1800" dirty="0"/>
          </a:p>
        </p:txBody>
      </p:sp>
      <p:sp>
        <p:nvSpPr>
          <p:cNvPr id="15"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endParaRPr lang="en-US" sz="4400" dirty="0"/>
          </a:p>
        </p:txBody>
      </p:sp>
      <p:sp>
        <p:nvSpPr>
          <p:cNvPr id="16"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3 · DEEP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LSTM forecaster design</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3" name="LSTM step Input"/>
          <p:cNvSpPr/>
          <p:nvPr/>
        </p:nvSpPr>
        <p:spPr>
          <a:xfrm>
            <a:off x="457200" y="1371600"/>
            <a:ext cx="1828800" cy="960120"/>
          </a:xfrm>
          <a:prstGeom prst="roundRect">
            <a:avLst>
              <a:gd name="adj" fmla="val 7619"/>
            </a:avLst>
          </a:prstGeom>
          <a:solidFill>
            <a:schemeClr val="bg2"/>
          </a:solidFill>
          <a:ln w="6350">
            <a:solidFill>
              <a:schemeClr val="bg2"/>
            </a:solidFill>
            <a:prstDash val="solid"/>
          </a:ln>
        </p:spPr>
      </p:sp>
      <p:sp>
        <p:nvSpPr>
          <p:cNvPr id="14" name="Text 11"/>
          <p:cNvSpPr txBox="1"/>
          <p:nvPr/>
        </p:nvSpPr>
        <p:spPr>
          <a:xfrm>
            <a:off x="566928" y="1444752"/>
            <a:ext cx="1609344" cy="292608"/>
          </a:xfrm>
          <a:prstGeom prst="rect">
            <a:avLst/>
          </a:prstGeom>
          <a:noFill/>
          <a:ln/>
        </p:spPr>
        <p:txBody>
          <a:bodyPr wrap="square" lIns="0" tIns="0" rIns="0" bIns="0" rtlCol="0" anchor="ctr"/>
          <a:lstStyle/>
          <a:p>
            <a:pPr algn="ctr" indent="0" marL="0">
              <a:buNone/>
            </a:pPr>
            <a:r>
              <a:rPr lang="en-US" sz="1500" b="1" dirty="0">
                <a:solidFill>
                  <a:schemeClr val="tx1"/>
                </a:solidFill>
              </a:rPr>
              <a:t>Input</a:t>
            </a:r>
            <a:endParaRPr lang="en-US" sz="1500" dirty="0"/>
          </a:p>
        </p:txBody>
      </p:sp>
      <p:sp>
        <p:nvSpPr>
          <p:cNvPr id="15" name="Text 12"/>
          <p:cNvSpPr txBox="1"/>
          <p:nvPr/>
        </p:nvSpPr>
        <p:spPr>
          <a:xfrm>
            <a:off x="566928" y="1764792"/>
            <a:ext cx="1609344" cy="502920"/>
          </a:xfrm>
          <a:prstGeom prst="rect">
            <a:avLst/>
          </a:prstGeom>
          <a:noFill/>
          <a:ln/>
        </p:spPr>
        <p:txBody>
          <a:bodyPr wrap="square" lIns="0" tIns="0" rIns="0" bIns="0" rtlCol="0" anchor="t"/>
          <a:lstStyle/>
          <a:p>
            <a:pPr algn="ctr" indent="0" marL="0">
              <a:buNone/>
            </a:pPr>
            <a:r>
              <a:rPr lang="en-US" sz="1200" dirty="0">
                <a:solidFill>
                  <a:schemeClr val="tx2"/>
                </a:solidFill>
              </a:rPr>
              <a:t>last 3 s: 30 samples × 6 signals</a:t>
            </a:r>
            <a:endParaRPr lang="en-US" sz="1200" dirty="0"/>
          </a:p>
        </p:txBody>
      </p:sp>
      <p:sp>
        <p:nvSpPr>
          <p:cNvPr id="16" name="Shape 13"/>
          <p:cNvSpPr/>
          <p:nvPr/>
        </p:nvSpPr>
        <p:spPr>
          <a:xfrm>
            <a:off x="2286000" y="1847088"/>
            <a:ext cx="301752" cy="0"/>
          </a:xfrm>
          <a:prstGeom prst="line">
            <a:avLst/>
          </a:prstGeom>
          <a:noFill/>
          <a:ln w="15875">
            <a:solidFill>
              <a:schemeClr val="tx2"/>
            </a:solidFill>
            <a:prstDash val="solid"/>
            <a:tailEnd type="triangle"/>
          </a:ln>
        </p:spPr>
      </p:sp>
      <p:sp>
        <p:nvSpPr>
          <p:cNvPr id="17" name="LSTM step LSTM layer"/>
          <p:cNvSpPr/>
          <p:nvPr/>
        </p:nvSpPr>
        <p:spPr>
          <a:xfrm>
            <a:off x="2587752" y="1371600"/>
            <a:ext cx="1828800" cy="960120"/>
          </a:xfrm>
          <a:prstGeom prst="roundRect">
            <a:avLst>
              <a:gd name="adj" fmla="val 7619"/>
            </a:avLst>
          </a:prstGeom>
          <a:solidFill>
            <a:schemeClr val="tx1"/>
          </a:solidFill>
          <a:ln w="6350">
            <a:solidFill>
              <a:schemeClr val="tx1"/>
            </a:solidFill>
            <a:prstDash val="solid"/>
          </a:ln>
        </p:spPr>
      </p:sp>
      <p:sp>
        <p:nvSpPr>
          <p:cNvPr id="18" name="Text 15"/>
          <p:cNvSpPr txBox="1"/>
          <p:nvPr/>
        </p:nvSpPr>
        <p:spPr>
          <a:xfrm>
            <a:off x="2697480" y="1444752"/>
            <a:ext cx="1609344" cy="292608"/>
          </a:xfrm>
          <a:prstGeom prst="rect">
            <a:avLst/>
          </a:prstGeom>
          <a:noFill/>
          <a:ln/>
        </p:spPr>
        <p:txBody>
          <a:bodyPr wrap="square" lIns="0" tIns="0" rIns="0" bIns="0" rtlCol="0" anchor="ctr"/>
          <a:lstStyle/>
          <a:p>
            <a:pPr algn="ctr" indent="0" marL="0">
              <a:buNone/>
            </a:pPr>
            <a:r>
              <a:rPr lang="en-US" sz="1500" b="1" dirty="0">
                <a:solidFill>
                  <a:schemeClr val="bg1"/>
                </a:solidFill>
              </a:rPr>
              <a:t>LSTM layer</a:t>
            </a:r>
            <a:endParaRPr lang="en-US" sz="1500" dirty="0"/>
          </a:p>
        </p:txBody>
      </p:sp>
      <p:sp>
        <p:nvSpPr>
          <p:cNvPr id="19" name="Text 16"/>
          <p:cNvSpPr txBox="1"/>
          <p:nvPr/>
        </p:nvSpPr>
        <p:spPr>
          <a:xfrm>
            <a:off x="2697480" y="1764792"/>
            <a:ext cx="1609344" cy="502920"/>
          </a:xfrm>
          <a:prstGeom prst="rect">
            <a:avLst/>
          </a:prstGeom>
          <a:noFill/>
          <a:ln/>
        </p:spPr>
        <p:txBody>
          <a:bodyPr wrap="square" lIns="0" tIns="0" rIns="0" bIns="0" rtlCol="0" anchor="t"/>
          <a:lstStyle/>
          <a:p>
            <a:pPr algn="ctr" indent="0" marL="0">
              <a:buNone/>
            </a:pPr>
            <a:r>
              <a:rPr lang="en-US" sz="1200" dirty="0">
                <a:solidFill>
                  <a:schemeClr val="bg2"/>
                </a:solidFill>
              </a:rPr>
              <a:t>64 units</a:t>
            </a:r>
            <a:endParaRPr lang="en-US" sz="1200" dirty="0"/>
          </a:p>
        </p:txBody>
      </p:sp>
      <p:sp>
        <p:nvSpPr>
          <p:cNvPr id="20" name="Shape 17"/>
          <p:cNvSpPr/>
          <p:nvPr/>
        </p:nvSpPr>
        <p:spPr>
          <a:xfrm>
            <a:off x="4416552" y="1847088"/>
            <a:ext cx="301752" cy="0"/>
          </a:xfrm>
          <a:prstGeom prst="line">
            <a:avLst/>
          </a:prstGeom>
          <a:noFill/>
          <a:ln w="15875">
            <a:solidFill>
              <a:schemeClr val="tx2"/>
            </a:solidFill>
            <a:prstDash val="solid"/>
            <a:tailEnd type="triangle"/>
          </a:ln>
        </p:spPr>
      </p:sp>
      <p:sp>
        <p:nvSpPr>
          <p:cNvPr id="21" name="LSTM step Dense layer"/>
          <p:cNvSpPr/>
          <p:nvPr/>
        </p:nvSpPr>
        <p:spPr>
          <a:xfrm>
            <a:off x="4718304" y="1371600"/>
            <a:ext cx="1828800" cy="960120"/>
          </a:xfrm>
          <a:prstGeom prst="roundRect">
            <a:avLst>
              <a:gd name="adj" fmla="val 7619"/>
            </a:avLst>
          </a:prstGeom>
          <a:solidFill>
            <a:schemeClr val="bg2"/>
          </a:solidFill>
          <a:ln w="6350">
            <a:solidFill>
              <a:schemeClr val="bg2"/>
            </a:solidFill>
            <a:prstDash val="solid"/>
          </a:ln>
        </p:spPr>
      </p:sp>
      <p:sp>
        <p:nvSpPr>
          <p:cNvPr id="22" name="Text 19"/>
          <p:cNvSpPr txBox="1"/>
          <p:nvPr/>
        </p:nvSpPr>
        <p:spPr>
          <a:xfrm>
            <a:off x="4828032" y="1444752"/>
            <a:ext cx="1609344" cy="292608"/>
          </a:xfrm>
          <a:prstGeom prst="rect">
            <a:avLst/>
          </a:prstGeom>
          <a:noFill/>
          <a:ln/>
        </p:spPr>
        <p:txBody>
          <a:bodyPr wrap="square" lIns="0" tIns="0" rIns="0" bIns="0" rtlCol="0" anchor="ctr"/>
          <a:lstStyle/>
          <a:p>
            <a:pPr algn="ctr" indent="0" marL="0">
              <a:buNone/>
            </a:pPr>
            <a:r>
              <a:rPr lang="en-US" sz="1500" b="1" dirty="0">
                <a:solidFill>
                  <a:schemeClr val="tx1"/>
                </a:solidFill>
              </a:rPr>
              <a:t>Dense layer</a:t>
            </a:r>
            <a:endParaRPr lang="en-US" sz="1500" dirty="0"/>
          </a:p>
        </p:txBody>
      </p:sp>
      <p:sp>
        <p:nvSpPr>
          <p:cNvPr id="23" name="Text 20"/>
          <p:cNvSpPr txBox="1"/>
          <p:nvPr/>
        </p:nvSpPr>
        <p:spPr>
          <a:xfrm>
            <a:off x="4828032" y="1764792"/>
            <a:ext cx="1609344" cy="502920"/>
          </a:xfrm>
          <a:prstGeom prst="rect">
            <a:avLst/>
          </a:prstGeom>
          <a:noFill/>
          <a:ln/>
        </p:spPr>
        <p:txBody>
          <a:bodyPr wrap="square" lIns="0" tIns="0" rIns="0" bIns="0" rtlCol="0" anchor="t"/>
          <a:lstStyle/>
          <a:p>
            <a:pPr algn="ctr" indent="0" marL="0">
              <a:buNone/>
            </a:pPr>
            <a:r>
              <a:rPr lang="en-US" sz="1200" dirty="0">
                <a:solidFill>
                  <a:schemeClr val="tx2"/>
                </a:solidFill>
              </a:rPr>
              <a:t>32 units, ReLU</a:t>
            </a:r>
            <a:endParaRPr lang="en-US" sz="1200" dirty="0"/>
          </a:p>
        </p:txBody>
      </p:sp>
      <p:sp>
        <p:nvSpPr>
          <p:cNvPr id="24" name="Shape 21"/>
          <p:cNvSpPr/>
          <p:nvPr/>
        </p:nvSpPr>
        <p:spPr>
          <a:xfrm>
            <a:off x="6547104" y="1847088"/>
            <a:ext cx="301752" cy="0"/>
          </a:xfrm>
          <a:prstGeom prst="line">
            <a:avLst/>
          </a:prstGeom>
          <a:noFill/>
          <a:ln w="15875">
            <a:solidFill>
              <a:schemeClr val="tx2"/>
            </a:solidFill>
            <a:prstDash val="solid"/>
            <a:tailEnd type="triangle"/>
          </a:ln>
        </p:spPr>
      </p:sp>
      <p:sp>
        <p:nvSpPr>
          <p:cNvPr id="25" name="LSTM step Output"/>
          <p:cNvSpPr/>
          <p:nvPr/>
        </p:nvSpPr>
        <p:spPr>
          <a:xfrm>
            <a:off x="6848856" y="1371600"/>
            <a:ext cx="1828800" cy="960120"/>
          </a:xfrm>
          <a:prstGeom prst="roundRect">
            <a:avLst>
              <a:gd name="adj" fmla="val 7619"/>
            </a:avLst>
          </a:prstGeom>
          <a:solidFill>
            <a:schemeClr val="bg2"/>
          </a:solidFill>
          <a:ln w="6350">
            <a:solidFill>
              <a:schemeClr val="bg2"/>
            </a:solidFill>
            <a:prstDash val="solid"/>
          </a:ln>
        </p:spPr>
      </p:sp>
      <p:sp>
        <p:nvSpPr>
          <p:cNvPr id="26" name="Text 23"/>
          <p:cNvSpPr txBox="1"/>
          <p:nvPr/>
        </p:nvSpPr>
        <p:spPr>
          <a:xfrm>
            <a:off x="6958584" y="1444752"/>
            <a:ext cx="1609344" cy="292608"/>
          </a:xfrm>
          <a:prstGeom prst="rect">
            <a:avLst/>
          </a:prstGeom>
          <a:noFill/>
          <a:ln/>
        </p:spPr>
        <p:txBody>
          <a:bodyPr wrap="square" lIns="0" tIns="0" rIns="0" bIns="0" rtlCol="0" anchor="ctr"/>
          <a:lstStyle/>
          <a:p>
            <a:pPr algn="ctr" indent="0" marL="0">
              <a:buNone/>
            </a:pPr>
            <a:r>
              <a:rPr lang="en-US" sz="1500" b="1" dirty="0">
                <a:solidFill>
                  <a:schemeClr val="tx1"/>
                </a:solidFill>
              </a:rPr>
              <a:t>Output</a:t>
            </a:r>
            <a:endParaRPr lang="en-US" sz="1500" dirty="0"/>
          </a:p>
        </p:txBody>
      </p:sp>
      <p:sp>
        <p:nvSpPr>
          <p:cNvPr id="27" name="Text 24"/>
          <p:cNvSpPr txBox="1"/>
          <p:nvPr/>
        </p:nvSpPr>
        <p:spPr>
          <a:xfrm>
            <a:off x="6958584" y="1764792"/>
            <a:ext cx="1609344" cy="502920"/>
          </a:xfrm>
          <a:prstGeom prst="rect">
            <a:avLst/>
          </a:prstGeom>
          <a:noFill/>
          <a:ln/>
        </p:spPr>
        <p:txBody>
          <a:bodyPr wrap="square" lIns="0" tIns="0" rIns="0" bIns="0" rtlCol="0" anchor="t"/>
          <a:lstStyle/>
          <a:p>
            <a:pPr algn="ctr" indent="0" marL="0">
              <a:buNone/>
            </a:pPr>
            <a:r>
              <a:rPr lang="en-US" sz="1200" dirty="0">
                <a:solidFill>
                  <a:schemeClr val="tx2"/>
                </a:solidFill>
              </a:rPr>
              <a:t>change in RTT over the next 0.5 s</a:t>
            </a:r>
            <a:endParaRPr lang="en-US" sz="1200" dirty="0"/>
          </a:p>
        </p:txBody>
      </p:sp>
      <p:sp>
        <p:nvSpPr>
          <p:cNvPr id="28" name="Trained on card"/>
          <p:cNvSpPr/>
          <p:nvPr/>
        </p:nvSpPr>
        <p:spPr>
          <a:xfrm>
            <a:off x="457200" y="2697480"/>
            <a:ext cx="4023360" cy="1783080"/>
          </a:xfrm>
          <a:prstGeom prst="roundRect">
            <a:avLst>
              <a:gd name="adj" fmla="val 4103"/>
            </a:avLst>
          </a:prstGeom>
          <a:solidFill>
            <a:schemeClr val="bg2"/>
          </a:solidFill>
          <a:ln w="6350">
            <a:solidFill>
              <a:schemeClr val="bg2"/>
            </a:solidFill>
            <a:prstDash val="solid"/>
          </a:ln>
        </p:spPr>
      </p:sp>
      <p:sp>
        <p:nvSpPr>
          <p:cNvPr id="29" name="Text 26"/>
          <p:cNvSpPr txBox="1"/>
          <p:nvPr/>
        </p:nvSpPr>
        <p:spPr>
          <a:xfrm>
            <a:off x="640080" y="2770632"/>
            <a:ext cx="3657600" cy="320040"/>
          </a:xfrm>
          <a:prstGeom prst="rect">
            <a:avLst/>
          </a:prstGeom>
          <a:noFill/>
          <a:ln/>
        </p:spPr>
        <p:txBody>
          <a:bodyPr wrap="square" lIns="0" tIns="0" rIns="0" bIns="0" rtlCol="0" anchor="ctr"/>
          <a:lstStyle/>
          <a:p>
            <a:pPr algn="l" indent="0" marL="0">
              <a:buNone/>
            </a:pPr>
            <a:r>
              <a:rPr lang="en-US" sz="1600" b="1" dirty="0">
                <a:solidFill>
                  <a:schemeClr val="tx1"/>
                </a:solidFill>
              </a:rPr>
              <a:t>Trained on</a:t>
            </a:r>
            <a:endParaRPr lang="en-US" sz="1600" dirty="0"/>
          </a:p>
        </p:txBody>
      </p:sp>
      <p:sp>
        <p:nvSpPr>
          <p:cNvPr id="30" name="Text 27"/>
          <p:cNvSpPr txBox="1"/>
          <p:nvPr/>
        </p:nvSpPr>
        <p:spPr>
          <a:xfrm>
            <a:off x="640080" y="3154680"/>
            <a:ext cx="3703320" cy="1280160"/>
          </a:xfrm>
          <a:prstGeom prst="rect">
            <a:avLst/>
          </a:prstGeom>
          <a:noFill/>
          <a:ln/>
        </p:spPr>
        <p:txBody>
          <a:bodyPr wrap="square" lIns="0" tIns="0" rIns="0" bIns="0" rtlCol="0" anchor="t"/>
          <a:lstStyle/>
          <a:p>
            <a:pPr algn="l" marL="342900" indent="-342900">
              <a:spcAft>
                <a:spcPts val="400"/>
              </a:spcAft>
              <a:buSzPct val="100000"/>
              <a:buChar char="•"/>
            </a:pPr>
            <a:r>
              <a:rPr lang="en-US" sz="1400" dirty="0">
                <a:solidFill>
                  <a:schemeClr val="tx1"/>
                </a:solidFill>
              </a:rPr>
              <a:t>195,027 samples from the same 400 scenarios</a:t>
            </a:r>
            <a:endParaRPr lang="en-US" sz="1400" dirty="0"/>
          </a:p>
          <a:p>
            <a:pPr algn="l" marL="342900" indent="-342900">
              <a:spcAft>
                <a:spcPts val="400"/>
              </a:spcAft>
              <a:buSzPct val="100000"/>
              <a:buChar char="•"/>
            </a:pPr>
            <a:r>
              <a:rPr lang="en-US" sz="1400" dirty="0">
                <a:solidFill>
                  <a:schemeClr val="tx1"/>
                </a:solidFill>
              </a:rPr>
              <a:t>Split by scenario: 70% train, 15% validation, 15% test</a:t>
            </a:r>
            <a:endParaRPr lang="en-US" sz="1400" dirty="0"/>
          </a:p>
          <a:p>
            <a:pPr algn="l" marL="342900" indent="-342900">
              <a:spcAft>
                <a:spcPts val="400"/>
              </a:spcAft>
              <a:buSzPct val="100000"/>
              <a:buChar char="•"/>
            </a:pPr>
            <a:r>
              <a:rPr lang="en-US" sz="1400" dirty="0">
                <a:solidFill>
                  <a:schemeClr val="tx1"/>
                </a:solidFill>
              </a:rPr>
              <a:t>Inputs use past measurements only</a:t>
            </a:r>
            <a:endParaRPr lang="en-US" sz="1400" dirty="0"/>
          </a:p>
        </p:txBody>
      </p:sp>
      <p:sp>
        <p:nvSpPr>
          <p:cNvPr id="31" name="Training card"/>
          <p:cNvSpPr/>
          <p:nvPr/>
        </p:nvSpPr>
        <p:spPr>
          <a:xfrm>
            <a:off x="4663440" y="2697480"/>
            <a:ext cx="4023360" cy="1783080"/>
          </a:xfrm>
          <a:prstGeom prst="roundRect">
            <a:avLst>
              <a:gd name="adj" fmla="val 4103"/>
            </a:avLst>
          </a:prstGeom>
          <a:solidFill>
            <a:schemeClr val="bg2"/>
          </a:solidFill>
          <a:ln w="6350">
            <a:solidFill>
              <a:schemeClr val="bg2"/>
            </a:solidFill>
            <a:prstDash val="solid"/>
          </a:ln>
        </p:spPr>
      </p:sp>
      <p:sp>
        <p:nvSpPr>
          <p:cNvPr id="32" name="Text 29"/>
          <p:cNvSpPr txBox="1"/>
          <p:nvPr/>
        </p:nvSpPr>
        <p:spPr>
          <a:xfrm>
            <a:off x="4846320" y="2770632"/>
            <a:ext cx="3657600" cy="320040"/>
          </a:xfrm>
          <a:prstGeom prst="rect">
            <a:avLst/>
          </a:prstGeom>
          <a:noFill/>
          <a:ln/>
        </p:spPr>
        <p:txBody>
          <a:bodyPr wrap="square" lIns="0" tIns="0" rIns="0" bIns="0" rtlCol="0" anchor="ctr"/>
          <a:lstStyle/>
          <a:p>
            <a:pPr algn="l" indent="0" marL="0">
              <a:buNone/>
            </a:pPr>
            <a:r>
              <a:rPr lang="en-US" sz="1600" b="1" dirty="0">
                <a:solidFill>
                  <a:schemeClr val="tx1"/>
                </a:solidFill>
              </a:rPr>
              <a:t>How it was trained</a:t>
            </a:r>
            <a:endParaRPr lang="en-US" sz="1600" dirty="0"/>
          </a:p>
        </p:txBody>
      </p:sp>
      <p:sp>
        <p:nvSpPr>
          <p:cNvPr id="33" name="Text 30"/>
          <p:cNvSpPr txBox="1"/>
          <p:nvPr/>
        </p:nvSpPr>
        <p:spPr>
          <a:xfrm>
            <a:off x="4846320" y="3154680"/>
            <a:ext cx="3703320" cy="1280160"/>
          </a:xfrm>
          <a:prstGeom prst="rect">
            <a:avLst/>
          </a:prstGeom>
          <a:noFill/>
          <a:ln/>
        </p:spPr>
        <p:txBody>
          <a:bodyPr wrap="square" lIns="0" tIns="0" rIns="0" bIns="0" rtlCol="0" anchor="t"/>
          <a:lstStyle/>
          <a:p>
            <a:pPr algn="l" marL="342900" indent="-342900">
              <a:spcAft>
                <a:spcPts val="400"/>
              </a:spcAft>
              <a:buSzPct val="100000"/>
              <a:buChar char="•"/>
            </a:pPr>
            <a:r>
              <a:rPr lang="en-US" sz="1400" dirty="0">
                <a:solidFill>
                  <a:schemeClr val="tx1"/>
                </a:solidFill>
              </a:rPr>
              <a:t>Adam, learning rate 0.001, batch size 512</a:t>
            </a:r>
            <a:endParaRPr lang="en-US" sz="1400" dirty="0"/>
          </a:p>
          <a:p>
            <a:pPr algn="l" marL="342900" indent="-342900">
              <a:spcAft>
                <a:spcPts val="400"/>
              </a:spcAft>
              <a:buSzPct val="100000"/>
              <a:buChar char="•"/>
            </a:pPr>
            <a:r>
              <a:rPr lang="en-US" sz="1400" dirty="0">
                <a:solidFill>
                  <a:schemeClr val="tx1"/>
                </a:solidFill>
              </a:rPr>
              <a:t>Huber loss on the change in RTT</a:t>
            </a:r>
            <a:endParaRPr lang="en-US" sz="1400" dirty="0"/>
          </a:p>
          <a:p>
            <a:pPr algn="l" marL="342900" indent="-342900">
              <a:spcAft>
                <a:spcPts val="400"/>
              </a:spcAft>
              <a:buSzPct val="100000"/>
              <a:buChar char="•"/>
            </a:pPr>
            <a:r>
              <a:rPr lang="en-US" sz="1400" dirty="0">
                <a:solidFill>
                  <a:schemeClr val="tx1"/>
                </a:solidFill>
              </a:rPr>
              <a:t>Stops after 4 epochs without improvement</a:t>
            </a:r>
            <a:endParaRPr lang="en-US" sz="1400" dirty="0"/>
          </a:p>
          <a:p>
            <a:pPr algn="l" marL="342900" indent="-342900">
              <a:spcAft>
                <a:spcPts val="400"/>
              </a:spcAft>
              <a:buSzPct val="100000"/>
              <a:buChar char="•"/>
            </a:pPr>
            <a:r>
              <a:rPr lang="en-US" sz="1400" dirty="0">
                <a:solidFill>
                  <a:schemeClr val="tx1"/>
                </a:solidFill>
              </a:rPr>
              <a:t>About 20,500 parameters in total</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3 · DEEP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LSTM forecast results</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13" name="Chart 0" descr=""/>
          <p:cNvGraphicFramePr/>
          <p:nvPr/>
        </p:nvGraphicFramePr>
        <p:xfrm>
          <a:off x="457200" y="132588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5532120" y="1325880"/>
            <a:ext cx="3154680" cy="502920"/>
          </a:xfrm>
          <a:prstGeom prst="rect">
            <a:avLst/>
          </a:prstGeom>
          <a:noFill/>
          <a:ln/>
        </p:spPr>
        <p:txBody>
          <a:bodyPr wrap="square" lIns="0" tIns="0" rIns="0" bIns="0" rtlCol="0" anchor="ctr"/>
          <a:lstStyle/>
          <a:p>
            <a:pPr algn="l" indent="0" marL="0">
              <a:buNone/>
            </a:pPr>
            <a:r>
              <a:rPr lang="en-US" sz="3400" b="1" dirty="0">
                <a:solidFill>
                  <a:schemeClr val="accent1"/>
                </a:solidFill>
              </a:rPr>
              <a:t>12%</a:t>
            </a:r>
            <a:endParaRPr lang="en-US" sz="3400" dirty="0"/>
          </a:p>
        </p:txBody>
      </p:sp>
      <p:sp>
        <p:nvSpPr>
          <p:cNvPr id="15" name="Text 11"/>
          <p:cNvSpPr txBox="1"/>
          <p:nvPr/>
        </p:nvSpPr>
        <p:spPr>
          <a:xfrm>
            <a:off x="5532120" y="1847088"/>
            <a:ext cx="3154680" cy="274320"/>
          </a:xfrm>
          <a:prstGeom prst="rect">
            <a:avLst/>
          </a:prstGeom>
          <a:noFill/>
          <a:ln/>
        </p:spPr>
        <p:txBody>
          <a:bodyPr wrap="square" lIns="0" tIns="0" rIns="0" bIns="0" rtlCol="0" anchor="t"/>
          <a:lstStyle/>
          <a:p>
            <a:pPr algn="l" indent="0" marL="0">
              <a:buNone/>
            </a:pPr>
            <a:r>
              <a:rPr lang="en-US" sz="1200" dirty="0">
                <a:solidFill>
                  <a:schemeClr val="tx2"/>
                </a:solidFill>
              </a:rPr>
              <a:t>lower error than repeating the last value</a:t>
            </a:r>
            <a:endParaRPr lang="en-US" sz="1200" dirty="0"/>
          </a:p>
        </p:txBody>
      </p:sp>
      <p:sp>
        <p:nvSpPr>
          <p:cNvPr id="16" name="Text 12"/>
          <p:cNvSpPr txBox="1"/>
          <p:nvPr/>
        </p:nvSpPr>
        <p:spPr>
          <a:xfrm>
            <a:off x="5532120" y="2331720"/>
            <a:ext cx="3154680" cy="502920"/>
          </a:xfrm>
          <a:prstGeom prst="rect">
            <a:avLst/>
          </a:prstGeom>
          <a:noFill/>
          <a:ln/>
        </p:spPr>
        <p:txBody>
          <a:bodyPr wrap="square" lIns="0" tIns="0" rIns="0" bIns="0" rtlCol="0" anchor="ctr"/>
          <a:lstStyle/>
          <a:p>
            <a:pPr algn="l" indent="0" marL="0">
              <a:buNone/>
            </a:pPr>
            <a:r>
              <a:rPr lang="en-US" sz="3400" b="1" dirty="0">
                <a:solidFill>
                  <a:schemeClr val="accent1"/>
                </a:solidFill>
              </a:rPr>
              <a:t>21%</a:t>
            </a:r>
            <a:endParaRPr lang="en-US" sz="3400" dirty="0"/>
          </a:p>
        </p:txBody>
      </p:sp>
      <p:sp>
        <p:nvSpPr>
          <p:cNvPr id="17" name="Text 13"/>
          <p:cNvSpPr txBox="1"/>
          <p:nvPr/>
        </p:nvSpPr>
        <p:spPr>
          <a:xfrm>
            <a:off x="5532120" y="2852928"/>
            <a:ext cx="3154680" cy="411480"/>
          </a:xfrm>
          <a:prstGeom prst="rect">
            <a:avLst/>
          </a:prstGeom>
          <a:noFill/>
          <a:ln/>
        </p:spPr>
        <p:txBody>
          <a:bodyPr wrap="square" lIns="0" tIns="0" rIns="0" bIns="0" rtlCol="0" anchor="t"/>
          <a:lstStyle/>
          <a:p>
            <a:pPr algn="l" indent="0" marL="0">
              <a:buNone/>
            </a:pPr>
            <a:r>
              <a:rPr lang="en-US" sz="1200" dirty="0">
                <a:solidFill>
                  <a:schemeClr val="tx2"/>
                </a:solidFill>
              </a:rPr>
              <a:t>lower root mean square error: it avoids the largest misses</a:t>
            </a:r>
            <a:endParaRPr lang="en-US" sz="1200" dirty="0"/>
          </a:p>
        </p:txBody>
      </p:sp>
      <p:sp>
        <p:nvSpPr>
          <p:cNvPr id="18" name="Text 14"/>
          <p:cNvSpPr txBox="1"/>
          <p:nvPr/>
        </p:nvSpPr>
        <p:spPr>
          <a:xfrm>
            <a:off x="5532120" y="3611880"/>
            <a:ext cx="3154680" cy="822960"/>
          </a:xfrm>
          <a:prstGeom prst="rect">
            <a:avLst/>
          </a:prstGeom>
          <a:noFill/>
          <a:ln/>
        </p:spPr>
        <p:txBody>
          <a:bodyPr wrap="square" lIns="0" tIns="0" rIns="0" bIns="0" rtlCol="0" anchor="t"/>
          <a:lstStyle/>
          <a:p>
            <a:pPr algn="l" indent="0" marL="0">
              <a:buNone/>
            </a:pPr>
            <a:r>
              <a:rPr lang="en-US" sz="1400" dirty="0">
                <a:solidFill>
                  <a:schemeClr val="tx1"/>
                </a:solidFill>
              </a:rPr>
              <a:t>A modest gain. It still lags sudden jumps, and no controller uses the forecast yet.</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3"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4"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5" name="Stage 4"/>
          <p:cNvSpPr txBox="1"/>
          <p:nvPr/>
        </p:nvSpPr>
        <p:spPr>
          <a:xfrm>
            <a:off x="733348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6" name="Stage 5"/>
          <p:cNvSpPr txBox="1"/>
          <p:nvPr/>
        </p:nvSpPr>
        <p:spPr>
          <a:xfrm>
            <a:off x="760780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7" name="Stage 6"/>
          <p:cNvSpPr txBox="1"/>
          <p:nvPr/>
        </p:nvSpPr>
        <p:spPr>
          <a:xfrm>
            <a:off x="788212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8" name="Stage 7"/>
          <p:cNvSpPr txBox="1"/>
          <p:nvPr/>
        </p:nvSpPr>
        <p:spPr>
          <a:xfrm>
            <a:off x="815644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9" name="Stage 8"/>
          <p:cNvSpPr txBox="1"/>
          <p:nvPr/>
        </p:nvSpPr>
        <p:spPr>
          <a:xfrm>
            <a:off x="843076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0" name="Text 8"/>
          <p:cNvSpPr txBox="1"/>
          <p:nvPr/>
        </p:nvSpPr>
        <p:spPr>
          <a:xfrm>
            <a:off x="548640" y="1234440"/>
            <a:ext cx="5486400" cy="274320"/>
          </a:xfrm>
          <a:prstGeom prst="rect">
            <a:avLst/>
          </a:prstGeom>
          <a:noFill/>
          <a:ln/>
        </p:spPr>
        <p:txBody>
          <a:bodyPr wrap="square" lIns="0" tIns="0" rIns="0" bIns="0" rtlCol="0" anchor="t"/>
          <a:lstStyle/>
          <a:p>
            <a:pPr algn="l" indent="0" marL="0">
              <a:buNone/>
            </a:pPr>
            <a:r>
              <a:rPr lang="en-US" sz="1300" b="1" spc="300" kern="0" dirty="0">
                <a:solidFill>
                  <a:schemeClr val="accent2"/>
                </a:solidFill>
              </a:rPr>
              <a:t>STAGE 4 OF 8</a:t>
            </a:r>
            <a:endParaRPr lang="en-US" sz="1300" dirty="0"/>
          </a:p>
        </p:txBody>
      </p:sp>
      <p:sp>
        <p:nvSpPr>
          <p:cNvPr id="11" name="Text 9"/>
          <p:cNvSpPr txBox="1"/>
          <p:nvPr/>
        </p:nvSpPr>
        <p:spPr>
          <a:xfrm>
            <a:off x="548640" y="16002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Reinforcement learning</a:t>
            </a:r>
            <a:endParaRPr lang="en-US" sz="4000" dirty="0"/>
          </a:p>
        </p:txBody>
      </p:sp>
      <p:sp>
        <p:nvSpPr>
          <p:cNvPr id="12" name="Text 10"/>
          <p:cNvSpPr txBox="1"/>
          <p:nvPr/>
        </p:nvSpPr>
        <p:spPr>
          <a:xfrm>
            <a:off x="548640" y="2788920"/>
            <a:ext cx="5486400" cy="256032"/>
          </a:xfrm>
          <a:prstGeom prst="rect">
            <a:avLst/>
          </a:prstGeom>
          <a:noFill/>
          <a:ln/>
        </p:spPr>
        <p:txBody>
          <a:bodyPr wrap="square" lIns="0" tIns="0" rIns="0" bIns="0" rtlCol="0" anchor="t"/>
          <a:lstStyle/>
          <a:p>
            <a:pPr algn="l" indent="0" marL="0">
              <a:buNone/>
            </a:pPr>
            <a:r>
              <a:rPr lang="en-US" sz="1100" b="1" spc="200" kern="0" dirty="0">
                <a:solidFill>
                  <a:schemeClr val="accent5"/>
                </a:solidFill>
              </a:rPr>
              <a:t>WHY THIS STAGE</a:t>
            </a:r>
            <a:endParaRPr lang="en-US" sz="1100" dirty="0"/>
          </a:p>
        </p:txBody>
      </p:sp>
      <p:sp>
        <p:nvSpPr>
          <p:cNvPr id="13" name="Text 11"/>
          <p:cNvSpPr txBox="1"/>
          <p:nvPr/>
        </p:nvSpPr>
        <p:spPr>
          <a:xfrm>
            <a:off x="548640" y="3090672"/>
            <a:ext cx="7863840" cy="1005840"/>
          </a:xfrm>
          <a:prstGeom prst="rect">
            <a:avLst/>
          </a:prstGeom>
          <a:noFill/>
          <a:ln/>
        </p:spPr>
        <p:txBody>
          <a:bodyPr wrap="square" lIns="0" tIns="0" rIns="0" bIns="0" rtlCol="0" anchor="t"/>
          <a:lstStyle/>
          <a:p>
            <a:pPr algn="l" indent="0" marL="0">
              <a:buNone/>
            </a:pPr>
            <a:r>
              <a:rPr lang="en-US" sz="1800" dirty="0">
                <a:solidFill>
                  <a:schemeClr val="bg2"/>
                </a:solidFill>
              </a:rPr>
              <a:t>Forecasting alone gained only 12%. Can an agent learn to keep the link full and the queue short?</a:t>
            </a:r>
            <a:endParaRPr lang="en-US" sz="1800" dirty="0"/>
          </a:p>
        </p:txBody>
      </p:sp>
      <p:sp>
        <p:nvSpPr>
          <p:cNvPr id="15"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endParaRPr lang="en-US" sz="4400" dirty="0"/>
          </a:p>
        </p:txBody>
      </p:sp>
      <p:sp>
        <p:nvSpPr>
          <p:cNvPr id="16"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4 · REINFORCEMENT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State, action and reward</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3" name="RL card STATE"/>
          <p:cNvSpPr/>
          <p:nvPr/>
        </p:nvSpPr>
        <p:spPr>
          <a:xfrm>
            <a:off x="457200" y="1371600"/>
            <a:ext cx="2624328" cy="2011680"/>
          </a:xfrm>
          <a:prstGeom prst="roundRect">
            <a:avLst>
              <a:gd name="adj" fmla="val 3636"/>
            </a:avLst>
          </a:prstGeom>
          <a:solidFill>
            <a:schemeClr val="bg2"/>
          </a:solidFill>
          <a:ln w="6350">
            <a:solidFill>
              <a:schemeClr val="bg2"/>
            </a:solidFill>
            <a:prstDash val="solid"/>
          </a:ln>
        </p:spPr>
      </p:sp>
      <p:sp>
        <p:nvSpPr>
          <p:cNvPr id="14" name="Text 11"/>
          <p:cNvSpPr txBox="1"/>
          <p:nvPr/>
        </p:nvSpPr>
        <p:spPr>
          <a:xfrm>
            <a:off x="640080" y="1490472"/>
            <a:ext cx="2258568" cy="228600"/>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STATE</a:t>
            </a:r>
            <a:endParaRPr lang="en-US" sz="1100" dirty="0"/>
          </a:p>
        </p:txBody>
      </p:sp>
      <p:sp>
        <p:nvSpPr>
          <p:cNvPr id="15" name="Text 12"/>
          <p:cNvSpPr txBox="1"/>
          <p:nvPr/>
        </p:nvSpPr>
        <p:spPr>
          <a:xfrm>
            <a:off x="640080" y="1755648"/>
            <a:ext cx="2258568" cy="365760"/>
          </a:xfrm>
          <a:prstGeom prst="rect">
            <a:avLst/>
          </a:prstGeom>
          <a:noFill/>
          <a:ln/>
        </p:spPr>
        <p:txBody>
          <a:bodyPr wrap="square" lIns="0" tIns="0" rIns="0" bIns="0" rtlCol="0" anchor="ctr"/>
          <a:lstStyle/>
          <a:p>
            <a:pPr algn="l" indent="0" marL="0">
              <a:buNone/>
            </a:pPr>
            <a:r>
              <a:rPr lang="en-US" sz="1800" b="1" dirty="0">
                <a:solidFill>
                  <a:schemeClr val="tx1"/>
                </a:solidFill>
              </a:rPr>
              <a:t>What it sees</a:t>
            </a:r>
            <a:endParaRPr lang="en-US" sz="1800" dirty="0"/>
          </a:p>
        </p:txBody>
      </p:sp>
      <p:sp>
        <p:nvSpPr>
          <p:cNvPr id="16" name="Text 13"/>
          <p:cNvSpPr txBox="1"/>
          <p:nvPr/>
        </p:nvSpPr>
        <p:spPr>
          <a:xfrm>
            <a:off x="640080" y="2194560"/>
            <a:ext cx="2258568" cy="1097280"/>
          </a:xfrm>
          <a:prstGeom prst="rect">
            <a:avLst/>
          </a:prstGeom>
          <a:noFill/>
          <a:ln/>
        </p:spPr>
        <p:txBody>
          <a:bodyPr wrap="square" lIns="0" tIns="0" rIns="0" bIns="0" rtlCol="0" anchor="t"/>
          <a:lstStyle/>
          <a:p>
            <a:pPr algn="l" indent="0" marL="0">
              <a:buNone/>
            </a:pPr>
            <a:r>
              <a:rPr lang="en-US" sz="1400" dirty="0">
                <a:solidFill>
                  <a:schemeClr val="tx2"/>
                </a:solidFill>
              </a:rPr>
              <a:t>Four signals for each of its last 8 intervals: delay trend, delay level, send-to-ACK ratio and loss rate. 32 numbers in all.</a:t>
            </a:r>
            <a:endParaRPr lang="en-US" sz="1400" dirty="0"/>
          </a:p>
        </p:txBody>
      </p:sp>
      <p:sp>
        <p:nvSpPr>
          <p:cNvPr id="17" name="RL card ACTION"/>
          <p:cNvSpPr/>
          <p:nvPr/>
        </p:nvSpPr>
        <p:spPr>
          <a:xfrm>
            <a:off x="3264408" y="1371600"/>
            <a:ext cx="2624328" cy="2011680"/>
          </a:xfrm>
          <a:prstGeom prst="roundRect">
            <a:avLst>
              <a:gd name="adj" fmla="val 3636"/>
            </a:avLst>
          </a:prstGeom>
          <a:solidFill>
            <a:schemeClr val="bg2"/>
          </a:solidFill>
          <a:ln w="6350">
            <a:solidFill>
              <a:schemeClr val="bg2"/>
            </a:solidFill>
            <a:prstDash val="solid"/>
          </a:ln>
        </p:spPr>
      </p:sp>
      <p:sp>
        <p:nvSpPr>
          <p:cNvPr id="18" name="Text 15"/>
          <p:cNvSpPr txBox="1"/>
          <p:nvPr/>
        </p:nvSpPr>
        <p:spPr>
          <a:xfrm>
            <a:off x="3447288" y="1490472"/>
            <a:ext cx="2258568" cy="228600"/>
          </a:xfrm>
          <a:prstGeom prst="rect">
            <a:avLst/>
          </a:prstGeom>
          <a:noFill/>
          <a:ln/>
        </p:spPr>
        <p:txBody>
          <a:bodyPr wrap="square" lIns="0" tIns="0" rIns="0" bIns="0" rtlCol="0" anchor="ctr"/>
          <a:lstStyle/>
          <a:p>
            <a:pPr algn="l" indent="0" marL="0">
              <a:buNone/>
            </a:pPr>
            <a:r>
              <a:rPr lang="en-US" sz="1100" b="1" spc="200" kern="0" dirty="0">
                <a:solidFill>
                  <a:schemeClr val="accent1"/>
                </a:solidFill>
              </a:rPr>
              <a:t>ACTION</a:t>
            </a:r>
            <a:endParaRPr lang="en-US" sz="1100" dirty="0"/>
          </a:p>
        </p:txBody>
      </p:sp>
      <p:sp>
        <p:nvSpPr>
          <p:cNvPr id="19" name="Text 16"/>
          <p:cNvSpPr txBox="1"/>
          <p:nvPr/>
        </p:nvSpPr>
        <p:spPr>
          <a:xfrm>
            <a:off x="3447288" y="1755648"/>
            <a:ext cx="2258568" cy="365760"/>
          </a:xfrm>
          <a:prstGeom prst="rect">
            <a:avLst/>
          </a:prstGeom>
          <a:noFill/>
          <a:ln/>
        </p:spPr>
        <p:txBody>
          <a:bodyPr wrap="square" lIns="0" tIns="0" rIns="0" bIns="0" rtlCol="0" anchor="ctr"/>
          <a:lstStyle/>
          <a:p>
            <a:pPr algn="l" indent="0" marL="0">
              <a:buNone/>
            </a:pPr>
            <a:r>
              <a:rPr lang="en-US" sz="1800" b="1" dirty="0">
                <a:solidFill>
                  <a:schemeClr val="tx1"/>
                </a:solidFill>
              </a:rPr>
              <a:t>What it does</a:t>
            </a:r>
            <a:endParaRPr lang="en-US" sz="1800" dirty="0"/>
          </a:p>
        </p:txBody>
      </p:sp>
      <p:sp>
        <p:nvSpPr>
          <p:cNvPr id="20" name="Text 17"/>
          <p:cNvSpPr txBox="1"/>
          <p:nvPr/>
        </p:nvSpPr>
        <p:spPr>
          <a:xfrm>
            <a:off x="3447288" y="2194560"/>
            <a:ext cx="2258568" cy="1097280"/>
          </a:xfrm>
          <a:prstGeom prst="rect">
            <a:avLst/>
          </a:prstGeom>
          <a:noFill/>
          <a:ln/>
        </p:spPr>
        <p:txBody>
          <a:bodyPr wrap="square" lIns="0" tIns="0" rIns="0" bIns="0" rtlCol="0" anchor="t"/>
          <a:lstStyle/>
          <a:p>
            <a:pPr algn="l" indent="0" marL="0">
              <a:buNone/>
            </a:pPr>
            <a:r>
              <a:rPr lang="en-US" sz="1400" dirty="0">
                <a:solidFill>
                  <a:schemeClr val="tx2"/>
                </a:solidFill>
              </a:rPr>
              <a:t>One number a between −1 and 1. New rate = old rate × e^(0.3a): up to +35% or −26%, once every 1.5 RTTs.</a:t>
            </a:r>
            <a:endParaRPr lang="en-US" sz="1400" dirty="0"/>
          </a:p>
        </p:txBody>
      </p:sp>
      <p:sp>
        <p:nvSpPr>
          <p:cNvPr id="21" name="RL card REWARD"/>
          <p:cNvSpPr/>
          <p:nvPr/>
        </p:nvSpPr>
        <p:spPr>
          <a:xfrm>
            <a:off x="6071616" y="1371600"/>
            <a:ext cx="2624328" cy="2011680"/>
          </a:xfrm>
          <a:prstGeom prst="roundRect">
            <a:avLst>
              <a:gd name="adj" fmla="val 3636"/>
            </a:avLst>
          </a:prstGeom>
          <a:solidFill>
            <a:schemeClr val="bg2"/>
          </a:solidFill>
          <a:ln w="6350">
            <a:solidFill>
              <a:schemeClr val="bg2"/>
            </a:solidFill>
            <a:prstDash val="solid"/>
          </a:ln>
        </p:spPr>
      </p:sp>
      <p:sp>
        <p:nvSpPr>
          <p:cNvPr id="22" name="Text 19"/>
          <p:cNvSpPr txBox="1"/>
          <p:nvPr/>
        </p:nvSpPr>
        <p:spPr>
          <a:xfrm>
            <a:off x="6254496" y="1490472"/>
            <a:ext cx="2258568" cy="228600"/>
          </a:xfrm>
          <a:prstGeom prst="rect">
            <a:avLst/>
          </a:prstGeom>
          <a:noFill/>
          <a:ln/>
        </p:spPr>
        <p:txBody>
          <a:bodyPr wrap="square" lIns="0" tIns="0" rIns="0" bIns="0" rtlCol="0" anchor="ctr"/>
          <a:lstStyle/>
          <a:p>
            <a:pPr algn="l" indent="0" marL="0">
              <a:buNone/>
            </a:pPr>
            <a:r>
              <a:rPr lang="en-US" sz="1100" b="1" spc="200" kern="0" dirty="0">
                <a:solidFill>
                  <a:schemeClr val="accent1"/>
                </a:solidFill>
              </a:rPr>
              <a:t>REWARD</a:t>
            </a:r>
            <a:endParaRPr lang="en-US" sz="1100" dirty="0"/>
          </a:p>
        </p:txBody>
      </p:sp>
      <p:sp>
        <p:nvSpPr>
          <p:cNvPr id="23" name="Text 20"/>
          <p:cNvSpPr txBox="1"/>
          <p:nvPr/>
        </p:nvSpPr>
        <p:spPr>
          <a:xfrm>
            <a:off x="6254496" y="1755648"/>
            <a:ext cx="2258568" cy="365760"/>
          </a:xfrm>
          <a:prstGeom prst="rect">
            <a:avLst/>
          </a:prstGeom>
          <a:noFill/>
          <a:ln/>
        </p:spPr>
        <p:txBody>
          <a:bodyPr wrap="square" lIns="0" tIns="0" rIns="0" bIns="0" rtlCol="0" anchor="ctr"/>
          <a:lstStyle/>
          <a:p>
            <a:pPr algn="l" indent="0" marL="0">
              <a:buNone/>
            </a:pPr>
            <a:r>
              <a:rPr lang="en-US" sz="1800" b="1" dirty="0">
                <a:solidFill>
                  <a:schemeClr val="tx1"/>
                </a:solidFill>
              </a:rPr>
              <a:t>What it wants</a:t>
            </a:r>
            <a:endParaRPr lang="en-US" sz="1800" dirty="0"/>
          </a:p>
        </p:txBody>
      </p:sp>
      <p:sp>
        <p:nvSpPr>
          <p:cNvPr id="24" name="Text 21"/>
          <p:cNvSpPr txBox="1"/>
          <p:nvPr/>
        </p:nvSpPr>
        <p:spPr>
          <a:xfrm>
            <a:off x="6254496" y="2194560"/>
            <a:ext cx="2258568" cy="1097280"/>
          </a:xfrm>
          <a:prstGeom prst="rect">
            <a:avLst/>
          </a:prstGeom>
          <a:noFill/>
          <a:ln/>
        </p:spPr>
        <p:txBody>
          <a:bodyPr wrap="square" lIns="0" tIns="0" rIns="0" bIns="0" rtlCol="0" anchor="t"/>
          <a:lstStyle/>
          <a:p>
            <a:pPr algn="l" indent="0" marL="0">
              <a:buNone/>
            </a:pPr>
            <a:r>
              <a:rPr lang="en-US" sz="1400" dirty="0">
                <a:solidFill>
                  <a:schemeClr val="tx2"/>
                </a:solidFill>
              </a:rPr>
              <a:t>Throughput − 0.5 × queueing delay − 5 × congestion loss, each normalised per link.</a:t>
            </a:r>
            <a:endParaRPr lang="en-US" sz="1400" dirty="0"/>
          </a:p>
        </p:txBody>
      </p:sp>
      <p:sp>
        <p:nvSpPr>
          <p:cNvPr id="25" name="Text 22"/>
          <p:cNvSpPr txBox="1"/>
          <p:nvPr/>
        </p:nvSpPr>
        <p:spPr>
          <a:xfrm>
            <a:off x="457200" y="3611880"/>
            <a:ext cx="8229600" cy="86868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Every reward term is divided by the link's own capacity or base RTT, so one policy works on slow and fast links</a:t>
            </a:r>
            <a:endParaRPr lang="en-US" sz="1400" dirty="0"/>
          </a:p>
          <a:p>
            <a:pPr algn="l" marL="342900" indent="-342900">
              <a:spcAft>
                <a:spcPts val="600"/>
              </a:spcAft>
              <a:buSzPct val="100000"/>
              <a:buChar char="•"/>
            </a:pPr>
            <a:r>
              <a:rPr lang="en-US" sz="1400" dirty="0">
                <a:solidFill>
                  <a:schemeClr val="tx1"/>
                </a:solidFill>
              </a:rPr>
              <a:t>Random loss is not penalised: the sender did not cause it</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4 · REINFORCEMENT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How the agent was trained</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206240" cy="914400"/>
        </p:xfrm>
        <a:graphic>
          <a:graphicData uri="http://schemas.openxmlformats.org/drawingml/2006/table">
            <a:tbl>
              <a:tblPr/>
              <a:tblGrid>
                <a:gridCol w="1463040"/>
                <a:gridCol w="2743200"/>
              </a:tblGrid>
              <a:tr h="384048">
                <a:tc>
                  <a:txBody>
                    <a:bodyPr/>
                    <a:lstStyle/>
                    <a:p>
                      <a:pPr algn="l" indent="0" marL="0">
                        <a:buNone/>
                      </a:pPr>
                      <a:r>
                        <a:rPr lang="en-US" sz="1400" b="1" dirty="0">
                          <a:solidFill>
                            <a:schemeClr val="bg1"/>
                          </a:solidFill>
                        </a:rPr>
                        <a:t>Setting</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Range in each training episode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r>
              <a:tr h="384048">
                <a:tc>
                  <a:txBody>
                    <a:bodyPr/>
                    <a:lstStyle/>
                    <a:p>
                      <a:pPr algn="l" indent="0" marL="0">
                        <a:buNone/>
                      </a:pPr>
                      <a:r>
                        <a:rPr lang="en-US" sz="1400" b="1" dirty="0">
                          <a:solidFill>
                            <a:schemeClr val="tx1"/>
                          </a:solidFill>
                        </a:rPr>
                        <a:t>Bandwidth</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2 to 40 Mbps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Base RTT</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10 to 150 ms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Queue size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0.2 to 3 pipe sizes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Random loss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None in half, else up to 3%</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Capacity</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Changes in half the episodes</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84048">
                <a:tc>
                  <a:txBody>
                    <a:bodyPr/>
                    <a:lstStyle/>
                    <a:p>
                      <a:pPr algn="l" indent="0" marL="0">
                        <a:buNone/>
                      </a:pPr>
                      <a:r>
                        <a:rPr lang="en-US" sz="1400" b="1" dirty="0">
                          <a:solidFill>
                            <a:schemeClr val="tx1"/>
                          </a:solidFill>
                        </a:rPr>
                        <a:t>Starting rate</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400" dirty="0">
                          <a:solidFill>
                            <a:schemeClr val="tx1"/>
                          </a:solidFill>
                        </a:rPr>
                        <a:t>5% to 150% of capacity</a:t>
                      </a:r>
                      <a:endParaRPr lang="en-US" sz="14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14" name="Loop step 1"/>
          <p:cNvSpPr txBox="1"/>
          <p:nvPr/>
        </p:nvSpPr>
        <p:spPr>
          <a:xfrm>
            <a:off x="4937760" y="1371600"/>
            <a:ext cx="3749040" cy="457200"/>
          </a:xfrm>
          <a:prstGeom prst="roundRect">
            <a:avLst>
              <a:gd name="adj" fmla="val 16000"/>
            </a:avLst>
          </a:prstGeom>
          <a:solidFill>
            <a:schemeClr val="bg2"/>
          </a:solidFill>
          <a:ln w="6350">
            <a:solidFill>
              <a:schemeClr val="bg2"/>
            </a:solidFill>
          </a:ln>
        </p:spPr>
        <p:txBody>
          <a:bodyPr wrap="square" lIns="762" tIns="762" rIns="762" bIns="762" rtlCol="0" anchor="ctr"/>
          <a:lstStyle/>
          <a:p>
            <a:pPr algn="ctr" indent="0" marL="0">
              <a:buNone/>
            </a:pPr>
            <a:r>
              <a:rPr lang="en-US" sz="1300" dirty="0">
                <a:solidFill>
                  <a:schemeClr val="tx1"/>
                </a:solidFill>
              </a:rPr>
              <a:t>8 environments each run 1,024 decisions</a:t>
            </a:r>
            <a:endParaRPr lang="en-US" sz="1300" dirty="0"/>
          </a:p>
        </p:txBody>
      </p:sp>
      <p:sp>
        <p:nvSpPr>
          <p:cNvPr id="15" name="Shape 11"/>
          <p:cNvSpPr/>
          <p:nvPr/>
        </p:nvSpPr>
        <p:spPr>
          <a:xfrm>
            <a:off x="6812280" y="1828800"/>
            <a:ext cx="0" cy="228600"/>
          </a:xfrm>
          <a:prstGeom prst="line">
            <a:avLst/>
          </a:prstGeom>
          <a:noFill/>
          <a:ln w="15875">
            <a:solidFill>
              <a:schemeClr val="tx2"/>
            </a:solidFill>
            <a:prstDash val="solid"/>
            <a:tailEnd type="triangle"/>
          </a:ln>
        </p:spPr>
      </p:sp>
      <p:sp>
        <p:nvSpPr>
          <p:cNvPr id="16" name="Loop step 2"/>
          <p:cNvSpPr txBox="1"/>
          <p:nvPr/>
        </p:nvSpPr>
        <p:spPr>
          <a:xfrm>
            <a:off x="4937760" y="2057400"/>
            <a:ext cx="3749040" cy="457200"/>
          </a:xfrm>
          <a:prstGeom prst="roundRect">
            <a:avLst>
              <a:gd name="adj" fmla="val 16000"/>
            </a:avLst>
          </a:prstGeom>
          <a:solidFill>
            <a:schemeClr val="bg2"/>
          </a:solidFill>
          <a:ln w="6350">
            <a:solidFill>
              <a:schemeClr val="bg2"/>
            </a:solidFill>
          </a:ln>
        </p:spPr>
        <p:txBody>
          <a:bodyPr wrap="square" lIns="762" tIns="762" rIns="762" bIns="762" rtlCol="0" anchor="ctr"/>
          <a:lstStyle/>
          <a:p>
            <a:pPr algn="ctr" indent="0" marL="0">
              <a:buNone/>
            </a:pPr>
            <a:r>
              <a:rPr lang="en-US" sz="1300" dirty="0">
                <a:solidFill>
                  <a:schemeClr val="tx1"/>
                </a:solidFill>
              </a:rPr>
              <a:t>PPO scores each action against what it expected</a:t>
            </a:r>
            <a:endParaRPr lang="en-US" sz="1300" dirty="0"/>
          </a:p>
        </p:txBody>
      </p:sp>
      <p:sp>
        <p:nvSpPr>
          <p:cNvPr id="17" name="Shape 13"/>
          <p:cNvSpPr/>
          <p:nvPr/>
        </p:nvSpPr>
        <p:spPr>
          <a:xfrm>
            <a:off x="6812280" y="2514600"/>
            <a:ext cx="0" cy="228600"/>
          </a:xfrm>
          <a:prstGeom prst="line">
            <a:avLst/>
          </a:prstGeom>
          <a:noFill/>
          <a:ln w="15875">
            <a:solidFill>
              <a:schemeClr val="tx2"/>
            </a:solidFill>
            <a:prstDash val="solid"/>
            <a:tailEnd type="triangle"/>
          </a:ln>
        </p:spPr>
      </p:sp>
      <p:sp>
        <p:nvSpPr>
          <p:cNvPr id="18" name="Loop step 3"/>
          <p:cNvSpPr txBox="1"/>
          <p:nvPr/>
        </p:nvSpPr>
        <p:spPr>
          <a:xfrm>
            <a:off x="4937760" y="2743200"/>
            <a:ext cx="3749040" cy="457200"/>
          </a:xfrm>
          <a:prstGeom prst="roundRect">
            <a:avLst>
              <a:gd name="adj" fmla="val 16000"/>
            </a:avLst>
          </a:prstGeom>
          <a:solidFill>
            <a:schemeClr val="bg2"/>
          </a:solidFill>
          <a:ln w="6350">
            <a:solidFill>
              <a:schemeClr val="bg2"/>
            </a:solidFill>
          </a:ln>
        </p:spPr>
        <p:txBody>
          <a:bodyPr wrap="square" lIns="762" tIns="762" rIns="762" bIns="762" rtlCol="0" anchor="ctr"/>
          <a:lstStyle/>
          <a:p>
            <a:pPr algn="ctr" indent="0" marL="0">
              <a:buNone/>
            </a:pPr>
            <a:r>
              <a:rPr lang="en-US" sz="1300" dirty="0">
                <a:solidFill>
                  <a:schemeClr val="tx1"/>
                </a:solidFill>
              </a:rPr>
              <a:t>Policy network updated: 10 passes, batches of 256</a:t>
            </a:r>
            <a:endParaRPr lang="en-US" sz="1300" dirty="0"/>
          </a:p>
        </p:txBody>
      </p:sp>
      <p:sp>
        <p:nvSpPr>
          <p:cNvPr id="19" name="Text 15"/>
          <p:cNvSpPr txBox="1"/>
          <p:nvPr/>
        </p:nvSpPr>
        <p:spPr>
          <a:xfrm>
            <a:off x="4937760" y="3255264"/>
            <a:ext cx="3749040" cy="274320"/>
          </a:xfrm>
          <a:prstGeom prst="rect">
            <a:avLst/>
          </a:prstGeom>
          <a:noFill/>
          <a:ln/>
        </p:spPr>
        <p:txBody>
          <a:bodyPr wrap="square" lIns="0" tIns="0" rIns="0" bIns="0" rtlCol="0" anchor="ctr"/>
          <a:lstStyle/>
          <a:p>
            <a:pPr algn="ctr" indent="0" marL="0">
              <a:buNone/>
            </a:pPr>
            <a:r>
              <a:rPr lang="en-US" sz="1200" dirty="0">
                <a:solidFill>
                  <a:schemeClr val="tx2"/>
                </a:solidFill>
              </a:rPr>
              <a:t>Repeated about 120 times</a:t>
            </a:r>
            <a:endParaRPr lang="en-US" sz="1200" dirty="0"/>
          </a:p>
        </p:txBody>
      </p:sp>
      <p:sp>
        <p:nvSpPr>
          <p:cNvPr id="20" name="Text 16"/>
          <p:cNvSpPr txBox="1"/>
          <p:nvPr/>
        </p:nvSpPr>
        <p:spPr>
          <a:xfrm>
            <a:off x="4937760" y="3611880"/>
            <a:ext cx="1828800" cy="502920"/>
          </a:xfrm>
          <a:prstGeom prst="rect">
            <a:avLst/>
          </a:prstGeom>
          <a:noFill/>
          <a:ln/>
        </p:spPr>
        <p:txBody>
          <a:bodyPr wrap="square" lIns="0" tIns="0" rIns="0" bIns="0" rtlCol="0" anchor="ctr"/>
          <a:lstStyle/>
          <a:p>
            <a:pPr algn="l" indent="0" marL="0">
              <a:buNone/>
            </a:pPr>
            <a:r>
              <a:rPr lang="en-US" sz="2400" b="1" dirty="0">
                <a:solidFill>
                  <a:schemeClr val="accent1"/>
                </a:solidFill>
              </a:rPr>
              <a:t>1,000,000</a:t>
            </a:r>
            <a:endParaRPr lang="en-US" sz="2400" dirty="0"/>
          </a:p>
        </p:txBody>
      </p:sp>
      <p:sp>
        <p:nvSpPr>
          <p:cNvPr id="21" name="Text 17"/>
          <p:cNvSpPr txBox="1"/>
          <p:nvPr/>
        </p:nvSpPr>
        <p:spPr>
          <a:xfrm>
            <a:off x="4937760" y="4133088"/>
            <a:ext cx="1828800" cy="274320"/>
          </a:xfrm>
          <a:prstGeom prst="rect">
            <a:avLst/>
          </a:prstGeom>
          <a:noFill/>
          <a:ln/>
        </p:spPr>
        <p:txBody>
          <a:bodyPr wrap="square" lIns="0" tIns="0" rIns="0" bIns="0" rtlCol="0" anchor="t"/>
          <a:lstStyle/>
          <a:p>
            <a:pPr algn="l" indent="0" marL="0">
              <a:buNone/>
            </a:pPr>
            <a:r>
              <a:rPr lang="en-US" sz="1200" dirty="0">
                <a:solidFill>
                  <a:schemeClr val="tx2"/>
                </a:solidFill>
              </a:rPr>
              <a:t>decisions for the main agent</a:t>
            </a:r>
            <a:endParaRPr lang="en-US" sz="1200" dirty="0"/>
          </a:p>
        </p:txBody>
      </p:sp>
      <p:sp>
        <p:nvSpPr>
          <p:cNvPr id="22" name="Text 18"/>
          <p:cNvSpPr txBox="1"/>
          <p:nvPr/>
        </p:nvSpPr>
        <p:spPr>
          <a:xfrm>
            <a:off x="6949440" y="3611880"/>
            <a:ext cx="1737360" cy="502920"/>
          </a:xfrm>
          <a:prstGeom prst="rect">
            <a:avLst/>
          </a:prstGeom>
          <a:noFill/>
          <a:ln/>
        </p:spPr>
        <p:txBody>
          <a:bodyPr wrap="square" lIns="0" tIns="0" rIns="0" bIns="0" rtlCol="0" anchor="ctr"/>
          <a:lstStyle/>
          <a:p>
            <a:pPr algn="l" indent="0" marL="0">
              <a:buNone/>
            </a:pPr>
            <a:r>
              <a:rPr lang="en-US" sz="2400" b="1" dirty="0">
                <a:solidFill>
                  <a:schemeClr val="accent1"/>
                </a:solidFill>
              </a:rPr>
              <a:t>≈ 20 min</a:t>
            </a:r>
            <a:endParaRPr lang="en-US" sz="2400" dirty="0"/>
          </a:p>
        </p:txBody>
      </p:sp>
      <p:sp>
        <p:nvSpPr>
          <p:cNvPr id="23" name="Text 19"/>
          <p:cNvSpPr txBox="1"/>
          <p:nvPr/>
        </p:nvSpPr>
        <p:spPr>
          <a:xfrm>
            <a:off x="6949440" y="4133088"/>
            <a:ext cx="1737360" cy="274320"/>
          </a:xfrm>
          <a:prstGeom prst="rect">
            <a:avLst/>
          </a:prstGeom>
          <a:noFill/>
          <a:ln/>
        </p:spPr>
        <p:txBody>
          <a:bodyPr wrap="square" lIns="0" tIns="0" rIns="0" bIns="0" rtlCol="0" anchor="t"/>
          <a:lstStyle/>
          <a:p>
            <a:pPr algn="l" indent="0" marL="0">
              <a:buNone/>
            </a:pPr>
            <a:r>
              <a:rPr lang="en-US" sz="1200" dirty="0">
                <a:solidFill>
                  <a:schemeClr val="tx2"/>
                </a:solidFill>
              </a:rPr>
              <a:t>on a laptop CPU, no GPU</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4 · REINFORCEMENT LEARNING</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Learning curves</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pic>
        <p:nvPicPr>
          <p:cNvPr id="13" name="Image 0" descr="Learning curves of PPO and CUBIC+PPO: reward, share of capacity used and queueing delay against training steps.">    </p:cNvPr>
          <p:cNvPicPr>
            <a:picLocks noChangeAspect="1"/>
          </p:cNvPicPr>
          <p:nvPr/>
        </p:nvPicPr>
        <p:blipFill>
          <a:blip r:embed="rId1"/>
          <a:stretch>
            <a:fillRect/>
          </a:stretch>
        </p:blipFill>
        <p:spPr>
          <a:xfrm>
            <a:off x="457200" y="1356766"/>
            <a:ext cx="8229600" cy="2407108"/>
          </a:xfrm>
          <a:prstGeom prst="rect">
            <a:avLst/>
          </a:prstGeom>
        </p:spPr>
      </p:pic>
      <p:sp>
        <p:nvSpPr>
          <p:cNvPr id="14" name="Text 10"/>
          <p:cNvSpPr txBox="1"/>
          <p:nvPr/>
        </p:nvSpPr>
        <p:spPr>
          <a:xfrm>
            <a:off x="457200" y="3931920"/>
            <a:ext cx="8229600" cy="548640"/>
          </a:xfrm>
          <a:prstGeom prst="rect">
            <a:avLst/>
          </a:prstGeom>
          <a:noFill/>
          <a:ln/>
        </p:spPr>
        <p:txBody>
          <a:bodyPr wrap="square" lIns="0" tIns="0" rIns="0" bIns="0" rtlCol="0" anchor="t"/>
          <a:lstStyle/>
          <a:p>
            <a:pPr algn="l" indent="0" marL="0">
              <a:buNone/>
            </a:pPr>
            <a:r>
              <a:rPr lang="en-US" sz="1400" dirty="0">
                <a:solidFill>
                  <a:schemeClr val="tx1"/>
                </a:solidFill>
              </a:rPr>
              <a:t>PPO passes 90% of link capacity after about 200,000 decisions and keeps lowering delay. The hybrid's curve is lower partly because 30% of its episodes include a competing flow.</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3"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4"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5"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6" name="Stage 5"/>
          <p:cNvSpPr txBox="1"/>
          <p:nvPr/>
        </p:nvSpPr>
        <p:spPr>
          <a:xfrm>
            <a:off x="760780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7" name="Stage 6"/>
          <p:cNvSpPr txBox="1"/>
          <p:nvPr/>
        </p:nvSpPr>
        <p:spPr>
          <a:xfrm>
            <a:off x="788212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8" name="Stage 7"/>
          <p:cNvSpPr txBox="1"/>
          <p:nvPr/>
        </p:nvSpPr>
        <p:spPr>
          <a:xfrm>
            <a:off x="815644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9" name="Stage 8"/>
          <p:cNvSpPr txBox="1"/>
          <p:nvPr/>
        </p:nvSpPr>
        <p:spPr>
          <a:xfrm>
            <a:off x="843076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0" name="Text 8"/>
          <p:cNvSpPr txBox="1"/>
          <p:nvPr/>
        </p:nvSpPr>
        <p:spPr>
          <a:xfrm>
            <a:off x="548640" y="1234440"/>
            <a:ext cx="5486400" cy="274320"/>
          </a:xfrm>
          <a:prstGeom prst="rect">
            <a:avLst/>
          </a:prstGeom>
          <a:noFill/>
          <a:ln/>
        </p:spPr>
        <p:txBody>
          <a:bodyPr wrap="square" lIns="0" tIns="0" rIns="0" bIns="0" rtlCol="0" anchor="t"/>
          <a:lstStyle/>
          <a:p>
            <a:pPr algn="l" indent="0" marL="0">
              <a:buNone/>
            </a:pPr>
            <a:r>
              <a:rPr lang="en-US" sz="1300" b="1" spc="300" kern="0" dirty="0">
                <a:solidFill>
                  <a:schemeClr val="accent2"/>
                </a:solidFill>
              </a:rPr>
              <a:t>STAGE 5 OF 8</a:t>
            </a:r>
            <a:endParaRPr lang="en-US" sz="1300" dirty="0"/>
          </a:p>
        </p:txBody>
      </p:sp>
      <p:sp>
        <p:nvSpPr>
          <p:cNvPr id="11" name="Text 9"/>
          <p:cNvSpPr txBox="1"/>
          <p:nvPr/>
        </p:nvSpPr>
        <p:spPr>
          <a:xfrm>
            <a:off x="548640" y="16002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Comparison</a:t>
            </a:r>
            <a:endParaRPr lang="en-US" sz="4000" dirty="0"/>
          </a:p>
        </p:txBody>
      </p:sp>
      <p:sp>
        <p:nvSpPr>
          <p:cNvPr id="12" name="Text 10"/>
          <p:cNvSpPr txBox="1"/>
          <p:nvPr/>
        </p:nvSpPr>
        <p:spPr>
          <a:xfrm>
            <a:off x="548640" y="2788920"/>
            <a:ext cx="5486400" cy="256032"/>
          </a:xfrm>
          <a:prstGeom prst="rect">
            <a:avLst/>
          </a:prstGeom>
          <a:noFill/>
          <a:ln/>
        </p:spPr>
        <p:txBody>
          <a:bodyPr wrap="square" lIns="0" tIns="0" rIns="0" bIns="0" rtlCol="0" anchor="t"/>
          <a:lstStyle/>
          <a:p>
            <a:pPr algn="l" indent="0" marL="0">
              <a:buNone/>
            </a:pPr>
            <a:r>
              <a:rPr lang="en-US" sz="1100" b="1" spc="200" kern="0" dirty="0">
                <a:solidFill>
                  <a:schemeClr val="accent5"/>
                </a:solidFill>
              </a:rPr>
              <a:t>WHY THIS STAGE</a:t>
            </a:r>
            <a:endParaRPr lang="en-US" sz="1100" dirty="0"/>
          </a:p>
        </p:txBody>
      </p:sp>
      <p:sp>
        <p:nvSpPr>
          <p:cNvPr id="13" name="Text 11"/>
          <p:cNvSpPr txBox="1"/>
          <p:nvPr/>
        </p:nvSpPr>
        <p:spPr>
          <a:xfrm>
            <a:off x="548640" y="3090672"/>
            <a:ext cx="7863840" cy="1005840"/>
          </a:xfrm>
          <a:prstGeom prst="rect">
            <a:avLst/>
          </a:prstGeom>
          <a:noFill/>
          <a:ln/>
        </p:spPr>
        <p:txBody>
          <a:bodyPr wrap="square" lIns="0" tIns="0" rIns="0" bIns="0" rtlCol="0" anchor="t"/>
          <a:lstStyle/>
          <a:p>
            <a:pPr algn="l" indent="0" marL="0">
              <a:buNone/>
            </a:pPr>
            <a:r>
              <a:rPr lang="en-US" sz="1800" dirty="0">
                <a:solidFill>
                  <a:schemeClr val="bg2"/>
                </a:solidFill>
              </a:rPr>
              <a:t>Four learned and classical controllers are ready. How do all six compare on the same links?</a:t>
            </a:r>
            <a:endParaRPr lang="en-US" sz="1800" dirty="0"/>
          </a:p>
        </p:txBody>
      </p:sp>
      <p:sp>
        <p:nvSpPr>
          <p:cNvPr id="15"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endParaRPr lang="en-US" sz="4400" dirty="0"/>
          </a:p>
        </p:txBody>
      </p:sp>
      <p:sp>
        <p:nvSpPr>
          <p:cNvPr id="16"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5 · COMPARISON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Results: unseen links</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13" name="Chart 0" descr=""/>
          <p:cNvGraphicFramePr/>
          <p:nvPr/>
        </p:nvGraphicFramePr>
        <p:xfrm>
          <a:off x="457200" y="1280160"/>
          <a:ext cx="402336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Chart 1" descr=""/>
          <p:cNvGraphicFramePr/>
          <p:nvPr/>
        </p:nvGraphicFramePr>
        <p:xfrm>
          <a:off x="4663440" y="1280160"/>
          <a:ext cx="4023360" cy="2651760"/>
        </p:xfrm>
        <a:graphic xmlns:a="http://schemas.openxmlformats.org/drawingml/2006/main">
          <a:graphicData uri="http://schemas.openxmlformats.org/drawingml/2006/chart">
            <c:chart xmlns:c="http://schemas.openxmlformats.org/drawingml/2006/chart" r:id="rId2"/>
          </a:graphicData>
        </a:graphic>
      </p:graphicFrame>
      <p:sp>
        <p:nvSpPr>
          <p:cNvPr id="15" name="Text 10"/>
          <p:cNvSpPr txBox="1"/>
          <p:nvPr/>
        </p:nvSpPr>
        <p:spPr>
          <a:xfrm>
            <a:off x="457200" y="4005072"/>
            <a:ext cx="8229600" cy="502920"/>
          </a:xfrm>
          <a:prstGeom prst="rect">
            <a:avLst/>
          </a:prstGeom>
          <a:noFill/>
          <a:ln/>
        </p:spPr>
        <p:txBody>
          <a:bodyPr wrap="square" lIns="0" tIns="0" rIns="0" bIns="0" rtlCol="0" anchor="t"/>
          <a:lstStyle/>
          <a:p>
            <a:pPr algn="l" indent="0" marL="0">
              <a:buNone/>
            </a:pPr>
            <a:r>
              <a:rPr lang="en-US" sz="1400" dirty="0">
                <a:solidFill>
                  <a:schemeClr val="tx1"/>
                </a:solidFill>
              </a:rPr>
              <a:t>PPO uses 98.8% of capacity at only 1.07× the base RTT. Reno and CUBIC lose throughput on lossy links and still nearly double the delay.</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5 · COMPARISON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Results: random loss</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13" name="Chart 0" descr=""/>
          <p:cNvGraphicFramePr/>
          <p:nvPr/>
        </p:nvGraphicFramePr>
        <p:xfrm>
          <a:off x="457200" y="1280160"/>
          <a:ext cx="4023360" cy="2697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Chart 1" descr=""/>
          <p:cNvGraphicFramePr/>
          <p:nvPr/>
        </p:nvGraphicFramePr>
        <p:xfrm>
          <a:off x="4663440" y="1280160"/>
          <a:ext cx="4023360" cy="2697480"/>
        </p:xfrm>
        <a:graphic xmlns:a="http://schemas.openxmlformats.org/drawingml/2006/main">
          <a:graphicData uri="http://schemas.openxmlformats.org/drawingml/2006/chart">
            <c:chart xmlns:c="http://schemas.openxmlformats.org/drawingml/2006/chart" r:id="rId2"/>
          </a:graphicData>
        </a:graphic>
      </p:graphicFrame>
      <p:sp>
        <p:nvSpPr>
          <p:cNvPr id="15" name="Text 10"/>
          <p:cNvSpPr txBox="1"/>
          <p:nvPr/>
        </p:nvSpPr>
        <p:spPr>
          <a:xfrm>
            <a:off x="457200" y="4041648"/>
            <a:ext cx="8229600" cy="457200"/>
          </a:xfrm>
          <a:prstGeom prst="rect">
            <a:avLst/>
          </a:prstGeom>
          <a:noFill/>
          <a:ln/>
        </p:spPr>
        <p:txBody>
          <a:bodyPr wrap="square" lIns="0" tIns="0" rIns="0" bIns="0" rtlCol="0" anchor="t"/>
          <a:lstStyle/>
          <a:p>
            <a:pPr algn="l" indent="0" marL="0">
              <a:buNone/>
            </a:pPr>
            <a:r>
              <a:rPr lang="en-US" sz="1400" dirty="0">
                <a:solidFill>
                  <a:schemeClr val="tx1"/>
                </a:solidFill>
              </a:rPr>
              <a:t>At 5% loss CUBIC delivers 1.6 Mbps; CUBIC+ML delivers 9.6 and PPO 9.5. PPO was never told which losses are random.</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5 · COMPARISON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Results: changing capacity</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pic>
        <p:nvPicPr>
          <p:cNvPr id="13" name="Image 0" descr="Six panels, one per controller, showing throughput following a link capacity that steps between 4 and 14 Mbps every 10 seconds.">    </p:cNvPr>
          <p:cNvPicPr>
            <a:picLocks noChangeAspect="1"/>
          </p:cNvPicPr>
          <p:nvPr/>
        </p:nvPicPr>
        <p:blipFill>
          <a:blip r:embed="rId1"/>
          <a:stretch>
            <a:fillRect/>
          </a:stretch>
        </p:blipFill>
        <p:spPr>
          <a:xfrm>
            <a:off x="457200" y="1292569"/>
            <a:ext cx="6126480" cy="2809822"/>
          </a:xfrm>
          <a:prstGeom prst="rect">
            <a:avLst/>
          </a:prstGeom>
        </p:spPr>
      </p:pic>
      <p:sp>
        <p:nvSpPr>
          <p:cNvPr id="14" name="Text 10"/>
          <p:cNvSpPr txBox="1"/>
          <p:nvPr/>
        </p:nvSpPr>
        <p:spPr>
          <a:xfrm>
            <a:off x="457200" y="4187952"/>
            <a:ext cx="6126480" cy="274320"/>
          </a:xfrm>
          <a:prstGeom prst="rect">
            <a:avLst/>
          </a:prstGeom>
          <a:noFill/>
          <a:ln/>
        </p:spPr>
        <p:txBody>
          <a:bodyPr wrap="square" lIns="0" tIns="0" rIns="0" bIns="0" rtlCol="0" anchor="t"/>
          <a:lstStyle/>
          <a:p>
            <a:pPr algn="l" indent="0" marL="0">
              <a:buNone/>
            </a:pPr>
            <a:r>
              <a:rPr lang="en-US" sz="1100" dirty="0">
                <a:solidFill>
                  <a:schemeClr val="tx2"/>
                </a:solidFill>
              </a:rPr>
              <a:t>Capacity steps 10, 4, 14, 7, 12 Mbps. Worst case is the 95th percentile RTT.</a:t>
            </a:r>
            <a:endParaRPr lang="en-US" sz="1100" dirty="0"/>
          </a:p>
        </p:txBody>
      </p:sp>
      <p:sp>
        <p:nvSpPr>
          <p:cNvPr id="15" name="Text 11"/>
          <p:cNvSpPr txBox="1"/>
          <p:nvPr/>
        </p:nvSpPr>
        <p:spPr>
          <a:xfrm>
            <a:off x="6858000" y="1280160"/>
            <a:ext cx="1828800" cy="502920"/>
          </a:xfrm>
          <a:prstGeom prst="rect">
            <a:avLst/>
          </a:prstGeom>
          <a:noFill/>
          <a:ln/>
        </p:spPr>
        <p:txBody>
          <a:bodyPr wrap="square" lIns="0" tIns="0" rIns="0" bIns="0" rtlCol="0" anchor="ctr"/>
          <a:lstStyle/>
          <a:p>
            <a:pPr algn="l" indent="0" marL="0">
              <a:buNone/>
            </a:pPr>
            <a:r>
              <a:rPr lang="en-US" sz="2800" b="1" dirty="0">
                <a:solidFill>
                  <a:schemeClr val="accent1"/>
                </a:solidFill>
              </a:rPr>
              <a:t>1.2×</a:t>
            </a:r>
            <a:endParaRPr lang="en-US" sz="2800" dirty="0"/>
          </a:p>
        </p:txBody>
      </p:sp>
      <p:sp>
        <p:nvSpPr>
          <p:cNvPr id="16" name="Text 12"/>
          <p:cNvSpPr txBox="1"/>
          <p:nvPr/>
        </p:nvSpPr>
        <p:spPr>
          <a:xfrm>
            <a:off x="6858000" y="1801368"/>
            <a:ext cx="1828800" cy="411480"/>
          </a:xfrm>
          <a:prstGeom prst="rect">
            <a:avLst/>
          </a:prstGeom>
          <a:noFill/>
          <a:ln/>
        </p:spPr>
        <p:txBody>
          <a:bodyPr wrap="square" lIns="0" tIns="0" rIns="0" bIns="0" rtlCol="0" anchor="t"/>
          <a:lstStyle/>
          <a:p>
            <a:pPr algn="l" indent="0" marL="0">
              <a:buNone/>
            </a:pPr>
            <a:r>
              <a:rPr lang="en-US" sz="1200" dirty="0">
                <a:solidFill>
                  <a:schemeClr val="tx2"/>
                </a:solidFill>
              </a:rPr>
              <a:t>worst-case RTT with PPO, relative to the base</a:t>
            </a:r>
            <a:endParaRPr lang="en-US" sz="1200" dirty="0"/>
          </a:p>
        </p:txBody>
      </p:sp>
      <p:sp>
        <p:nvSpPr>
          <p:cNvPr id="17" name="Text 13"/>
          <p:cNvSpPr txBox="1"/>
          <p:nvPr/>
        </p:nvSpPr>
        <p:spPr>
          <a:xfrm>
            <a:off x="6858000" y="2331720"/>
            <a:ext cx="1828800" cy="502920"/>
          </a:xfrm>
          <a:prstGeom prst="rect">
            <a:avLst/>
          </a:prstGeom>
          <a:noFill/>
          <a:ln/>
        </p:spPr>
        <p:txBody>
          <a:bodyPr wrap="square" lIns="0" tIns="0" rIns="0" bIns="0" rtlCol="0" anchor="ctr"/>
          <a:lstStyle/>
          <a:p>
            <a:pPr algn="l" indent="0" marL="0">
              <a:buNone/>
            </a:pPr>
            <a:r>
              <a:rPr lang="en-US" sz="2800" b="1" dirty="0">
                <a:solidFill>
                  <a:schemeClr val="accent3"/>
                </a:solidFill>
              </a:rPr>
              <a:t>4.6×</a:t>
            </a:r>
            <a:endParaRPr lang="en-US" sz="2800" dirty="0"/>
          </a:p>
        </p:txBody>
      </p:sp>
      <p:sp>
        <p:nvSpPr>
          <p:cNvPr id="18" name="Text 14"/>
          <p:cNvSpPr txBox="1"/>
          <p:nvPr/>
        </p:nvSpPr>
        <p:spPr>
          <a:xfrm>
            <a:off x="6858000" y="2852928"/>
            <a:ext cx="1828800" cy="274320"/>
          </a:xfrm>
          <a:prstGeom prst="rect">
            <a:avLst/>
          </a:prstGeom>
          <a:noFill/>
          <a:ln/>
        </p:spPr>
        <p:txBody>
          <a:bodyPr wrap="square" lIns="0" tIns="0" rIns="0" bIns="0" rtlCol="0" anchor="t"/>
          <a:lstStyle/>
          <a:p>
            <a:pPr algn="l" indent="0" marL="0">
              <a:buNone/>
            </a:pPr>
            <a:r>
              <a:rPr lang="en-US" sz="1200" dirty="0">
                <a:solidFill>
                  <a:schemeClr val="tx2"/>
                </a:solidFill>
              </a:rPr>
              <a:t>with CUBIC on the same link</a:t>
            </a:r>
            <a:endParaRPr lang="en-US" sz="1200" dirty="0"/>
          </a:p>
        </p:txBody>
      </p:sp>
      <p:sp>
        <p:nvSpPr>
          <p:cNvPr id="19" name="Text 15"/>
          <p:cNvSpPr txBox="1"/>
          <p:nvPr/>
        </p:nvSpPr>
        <p:spPr>
          <a:xfrm>
            <a:off x="6858000" y="3246120"/>
            <a:ext cx="1828800" cy="502920"/>
          </a:xfrm>
          <a:prstGeom prst="rect">
            <a:avLst/>
          </a:prstGeom>
          <a:noFill/>
          <a:ln/>
        </p:spPr>
        <p:txBody>
          <a:bodyPr wrap="square" lIns="0" tIns="0" rIns="0" bIns="0" rtlCol="0" anchor="ctr"/>
          <a:lstStyle/>
          <a:p>
            <a:pPr algn="l" indent="0" marL="0">
              <a:buNone/>
            </a:pPr>
            <a:r>
              <a:rPr lang="en-US" sz="2800" b="1" dirty="0">
                <a:solidFill>
                  <a:schemeClr val="accent1"/>
                </a:solidFill>
              </a:rPr>
              <a:t>97%+</a:t>
            </a:r>
            <a:endParaRPr lang="en-US" sz="2800" dirty="0"/>
          </a:p>
        </p:txBody>
      </p:sp>
      <p:sp>
        <p:nvSpPr>
          <p:cNvPr id="20" name="Text 16"/>
          <p:cNvSpPr txBox="1"/>
          <p:nvPr/>
        </p:nvSpPr>
        <p:spPr>
          <a:xfrm>
            <a:off x="6858000" y="3767328"/>
            <a:ext cx="1828800" cy="411480"/>
          </a:xfrm>
          <a:prstGeom prst="rect">
            <a:avLst/>
          </a:prstGeom>
          <a:noFill/>
          <a:ln/>
        </p:spPr>
        <p:txBody>
          <a:bodyPr wrap="square" lIns="0" tIns="0" rIns="0" bIns="0" rtlCol="0" anchor="t"/>
          <a:lstStyle/>
          <a:p>
            <a:pPr algn="l" indent="0" marL="0">
              <a:buNone/>
            </a:pPr>
            <a:r>
              <a:rPr lang="en-US" sz="1200" dirty="0">
                <a:solidFill>
                  <a:schemeClr val="tx2"/>
                </a:solidFill>
              </a:rPr>
              <a:t>of capacity used by every controller</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5 · COMPARISON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Results: unfamiliar conditions</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pic>
        <p:nvPicPr>
          <p:cNvPr id="13" name="Image 0" descr="Utilisation and delay of the six controllers under five conditions outside the training range.">    </p:cNvPr>
          <p:cNvPicPr>
            <a:picLocks noChangeAspect="1"/>
          </p:cNvPicPr>
          <p:nvPr/>
        </p:nvPicPr>
        <p:blipFill>
          <a:blip r:embed="rId1"/>
          <a:stretch>
            <a:fillRect/>
          </a:stretch>
        </p:blipFill>
        <p:spPr>
          <a:xfrm>
            <a:off x="653826" y="1234440"/>
            <a:ext cx="7836348" cy="3017520"/>
          </a:xfrm>
          <a:prstGeom prst="rect">
            <a:avLst/>
          </a:prstGeom>
        </p:spPr>
      </p:pic>
      <p:sp>
        <p:nvSpPr>
          <p:cNvPr id="14" name="Text 10"/>
          <p:cNvSpPr txBox="1"/>
          <p:nvPr/>
        </p:nvSpPr>
        <p:spPr>
          <a:xfrm>
            <a:off x="457200" y="4315968"/>
            <a:ext cx="8229600" cy="301752"/>
          </a:xfrm>
          <a:prstGeom prst="rect">
            <a:avLst/>
          </a:prstGeom>
          <a:noFill/>
          <a:ln/>
        </p:spPr>
        <p:txBody>
          <a:bodyPr wrap="square" lIns="0" tIns="0" rIns="0" bIns="0" rtlCol="0" anchor="ctr"/>
          <a:lstStyle/>
          <a:p>
            <a:pPr algn="l" indent="0" marL="0">
              <a:buNone/>
            </a:pPr>
            <a:r>
              <a:rPr lang="en-US" sz="1400" dirty="0">
                <a:solidFill>
                  <a:schemeClr val="tx1"/>
                </a:solidFill>
              </a:rPr>
              <a:t>PPO holds at least 98% utilisation in four of five cases. The hybrid fails under 8% loss and with a 5-packet buffer.</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5 · COMPARISON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Results: fairness</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13" name="Chart 0" descr=""/>
          <p:cNvGraphicFramePr/>
          <p:nvPr/>
        </p:nvGraphicFramePr>
        <p:xfrm>
          <a:off x="457200" y="1280160"/>
          <a:ext cx="402336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Chart 1" descr=""/>
          <p:cNvGraphicFramePr/>
          <p:nvPr/>
        </p:nvGraphicFramePr>
        <p:xfrm>
          <a:off x="4663440" y="1280160"/>
          <a:ext cx="4023360" cy="2651760"/>
        </p:xfrm>
        <a:graphic xmlns:a="http://schemas.openxmlformats.org/drawingml/2006/main">
          <a:graphicData uri="http://schemas.openxmlformats.org/drawingml/2006/chart">
            <c:chart xmlns:c="http://schemas.openxmlformats.org/drawingml/2006/chart" r:id="rId2"/>
          </a:graphicData>
        </a:graphic>
      </p:graphicFrame>
      <p:sp>
        <p:nvSpPr>
          <p:cNvPr id="15" name="Text 10"/>
          <p:cNvSpPr txBox="1"/>
          <p:nvPr/>
        </p:nvSpPr>
        <p:spPr>
          <a:xfrm>
            <a:off x="457200" y="4005072"/>
            <a:ext cx="8229600" cy="502920"/>
          </a:xfrm>
          <a:prstGeom prst="rect">
            <a:avLst/>
          </a:prstGeom>
          <a:noFill/>
          <a:ln/>
        </p:spPr>
        <p:txBody>
          <a:bodyPr wrap="square" lIns="0" tIns="0" rIns="0" bIns="0" rtlCol="0" anchor="t"/>
          <a:lstStyle/>
          <a:p>
            <a:pPr algn="l" indent="0" marL="0">
              <a:buNone/>
            </a:pPr>
            <a:r>
              <a:rPr lang="en-US" sz="1400" b="1" dirty="0">
                <a:solidFill>
                  <a:schemeClr val="accent3"/>
                </a:solidFill>
              </a:rPr>
              <a:t>PPO gets 2% beside CUBIC: it reads the delay CUBIC causes as congestion and backs off. CUBIC+ML shares evenly.</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3"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4"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5"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6" name="Stage 5"/>
          <p:cNvSpPr txBox="1"/>
          <p:nvPr/>
        </p:nvSpPr>
        <p:spPr>
          <a:xfrm>
            <a:off x="760780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7" name="Stage 6"/>
          <p:cNvSpPr txBox="1"/>
          <p:nvPr/>
        </p:nvSpPr>
        <p:spPr>
          <a:xfrm>
            <a:off x="788212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6</a:t>
            </a:r>
            <a:endParaRPr lang="en-US" sz="800" dirty="0"/>
          </a:p>
        </p:txBody>
      </p:sp>
      <p:sp>
        <p:nvSpPr>
          <p:cNvPr id="8" name="Stage 7"/>
          <p:cNvSpPr txBox="1"/>
          <p:nvPr/>
        </p:nvSpPr>
        <p:spPr>
          <a:xfrm>
            <a:off x="815644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9" name="Stage 8"/>
          <p:cNvSpPr txBox="1"/>
          <p:nvPr/>
        </p:nvSpPr>
        <p:spPr>
          <a:xfrm>
            <a:off x="843076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0" name="Text 8"/>
          <p:cNvSpPr txBox="1"/>
          <p:nvPr/>
        </p:nvSpPr>
        <p:spPr>
          <a:xfrm>
            <a:off x="548640" y="1234440"/>
            <a:ext cx="5486400" cy="274320"/>
          </a:xfrm>
          <a:prstGeom prst="rect">
            <a:avLst/>
          </a:prstGeom>
          <a:noFill/>
          <a:ln/>
        </p:spPr>
        <p:txBody>
          <a:bodyPr wrap="square" lIns="0" tIns="0" rIns="0" bIns="0" rtlCol="0" anchor="t"/>
          <a:lstStyle/>
          <a:p>
            <a:pPr algn="l" indent="0" marL="0">
              <a:buNone/>
            </a:pPr>
            <a:r>
              <a:rPr lang="en-US" sz="1300" b="1" spc="300" kern="0" dirty="0">
                <a:solidFill>
                  <a:schemeClr val="accent2"/>
                </a:solidFill>
              </a:rPr>
              <a:t>STAGE 6 OF 8</a:t>
            </a:r>
            <a:endParaRPr lang="en-US" sz="1300" dirty="0"/>
          </a:p>
        </p:txBody>
      </p:sp>
      <p:sp>
        <p:nvSpPr>
          <p:cNvPr id="11" name="Text 9"/>
          <p:cNvSpPr txBox="1"/>
          <p:nvPr/>
        </p:nvSpPr>
        <p:spPr>
          <a:xfrm>
            <a:off x="548640" y="16002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Fixing the weaknesses</a:t>
            </a:r>
            <a:endParaRPr lang="en-US" sz="4000" dirty="0"/>
          </a:p>
        </p:txBody>
      </p:sp>
      <p:sp>
        <p:nvSpPr>
          <p:cNvPr id="12" name="Text 10"/>
          <p:cNvSpPr txBox="1"/>
          <p:nvPr/>
        </p:nvSpPr>
        <p:spPr>
          <a:xfrm>
            <a:off x="548640" y="2788920"/>
            <a:ext cx="5486400" cy="256032"/>
          </a:xfrm>
          <a:prstGeom prst="rect">
            <a:avLst/>
          </a:prstGeom>
          <a:noFill/>
          <a:ln/>
        </p:spPr>
        <p:txBody>
          <a:bodyPr wrap="square" lIns="0" tIns="0" rIns="0" bIns="0" rtlCol="0" anchor="t"/>
          <a:lstStyle/>
          <a:p>
            <a:pPr algn="l" indent="0" marL="0">
              <a:buNone/>
            </a:pPr>
            <a:r>
              <a:rPr lang="en-US" sz="1100" b="1" spc="200" kern="0" dirty="0">
                <a:solidFill>
                  <a:schemeClr val="accent5"/>
                </a:solidFill>
              </a:rPr>
              <a:t>WHY THIS STAGE</a:t>
            </a:r>
            <a:endParaRPr lang="en-US" sz="1100" dirty="0"/>
          </a:p>
        </p:txBody>
      </p:sp>
      <p:sp>
        <p:nvSpPr>
          <p:cNvPr id="13" name="Text 11"/>
          <p:cNvSpPr txBox="1"/>
          <p:nvPr/>
        </p:nvSpPr>
        <p:spPr>
          <a:xfrm>
            <a:off x="548640" y="3090672"/>
            <a:ext cx="7863840" cy="1005840"/>
          </a:xfrm>
          <a:prstGeom prst="rect">
            <a:avLst/>
          </a:prstGeom>
          <a:noFill/>
          <a:ln/>
        </p:spPr>
        <p:txBody>
          <a:bodyPr wrap="square" lIns="0" tIns="0" rIns="0" bIns="0" rtlCol="0" anchor="t"/>
          <a:lstStyle/>
          <a:p>
            <a:pPr algn="l" indent="0" marL="0">
              <a:buNone/>
            </a:pPr>
            <a:r>
              <a:rPr lang="en-US" sz="1800" dirty="0">
                <a:solidFill>
                  <a:schemeClr val="bg2"/>
                </a:solidFill>
              </a:rPr>
              <a:t>Stage 5 found that the agent gets 2% of a link beside CUBIC, and that it collapses with 2 ms of RTT jitter. Can both be fixed?</a:t>
            </a:r>
            <a:endParaRPr lang="en-US" sz="1800" dirty="0"/>
          </a:p>
        </p:txBody>
      </p:sp>
      <p:sp>
        <p:nvSpPr>
          <p:cNvPr id="15"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endParaRPr lang="en-US" sz="4400" dirty="0"/>
          </a:p>
        </p:txBody>
      </p:sp>
      <p:sp>
        <p:nvSpPr>
          <p:cNvPr id="16"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6 · FIXES</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Fixing fairness: PPO-Switch</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3" name="PPO mode"/>
          <p:cNvSpPr txBox="1"/>
          <p:nvPr/>
        </p:nvSpPr>
        <p:spPr>
          <a:xfrm>
            <a:off x="457200" y="1325880"/>
            <a:ext cx="1691640" cy="777240"/>
          </a:xfrm>
          <a:prstGeom prst="roundRect">
            <a:avLst>
              <a:gd name="adj" fmla="val 9412"/>
            </a:avLst>
          </a:prstGeom>
          <a:solidFill>
            <a:schemeClr val="bg2"/>
          </a:solidFill>
          <a:ln w="6350">
            <a:solidFill>
              <a:schemeClr val="bg2"/>
            </a:solidFill>
          </a:ln>
        </p:spPr>
        <p:txBody>
          <a:bodyPr wrap="square" lIns="762" tIns="762" rIns="762" bIns="762" rtlCol="0" anchor="ctr"/>
          <a:lstStyle/>
          <a:p>
            <a:pPr algn="ctr" indent="0" marL="0">
              <a:buNone/>
            </a:pPr>
            <a:r>
              <a:rPr lang="en-US" sz="1300" b="1" dirty="0">
                <a:solidFill>
                  <a:schemeClr val="tx1"/>
                </a:solidFill>
              </a:rPr>
              <a:t>Learned policy (PPO-J)</a:t>
            </a:r>
            <a:endParaRPr lang="en-US" sz="1300" dirty="0"/>
          </a:p>
          <a:p>
            <a:pPr algn="ctr" indent="0" marL="0">
              <a:buNone/>
            </a:pPr>
            <a:r>
              <a:rPr lang="en-US" sz="1300" b="1" dirty="0">
                <a:solidFill>
                  <a:schemeClr val="tx1"/>
                </a:solidFill>
              </a:rPr>
              <a:t>low delay</a:t>
            </a:r>
            <a:endParaRPr lang="en-US" sz="1300" dirty="0"/>
          </a:p>
        </p:txBody>
      </p:sp>
      <p:sp>
        <p:nvSpPr>
          <p:cNvPr id="14" name="TCP mode"/>
          <p:cNvSpPr txBox="1"/>
          <p:nvPr/>
        </p:nvSpPr>
        <p:spPr>
          <a:xfrm>
            <a:off x="2788920" y="1325880"/>
            <a:ext cx="1691640" cy="777240"/>
          </a:xfrm>
          <a:prstGeom prst="roundRect">
            <a:avLst>
              <a:gd name="adj" fmla="val 9412"/>
            </a:avLst>
          </a:prstGeom>
          <a:solidFill>
            <a:schemeClr val="bg2"/>
          </a:solidFill>
          <a:ln w="6350">
            <a:solidFill>
              <a:schemeClr val="bg2"/>
            </a:solidFill>
          </a:ln>
        </p:spPr>
        <p:txBody>
          <a:bodyPr wrap="square" lIns="762" tIns="762" rIns="762" bIns="762" rtlCol="0" anchor="ctr"/>
          <a:lstStyle/>
          <a:p>
            <a:pPr algn="ctr" indent="0" marL="0">
              <a:buNone/>
            </a:pPr>
            <a:r>
              <a:rPr lang="en-US" sz="1300" b="1" dirty="0">
                <a:solidFill>
                  <a:schemeClr val="tx1"/>
                </a:solidFill>
              </a:rPr>
              <a:t>CUBIC+ML</a:t>
            </a:r>
            <a:endParaRPr lang="en-US" sz="1300" dirty="0"/>
          </a:p>
          <a:p>
            <a:pPr algn="ctr" indent="0" marL="0">
              <a:buNone/>
            </a:pPr>
            <a:r>
              <a:rPr lang="en-US" sz="1300" b="1" dirty="0">
                <a:solidFill>
                  <a:schemeClr val="tx1"/>
                </a:solidFill>
              </a:rPr>
              <a:t>competes fairly</a:t>
            </a:r>
            <a:endParaRPr lang="en-US" sz="1300" dirty="0"/>
          </a:p>
        </p:txBody>
      </p:sp>
      <p:sp>
        <p:nvSpPr>
          <p:cNvPr id="15" name="Shape 12"/>
          <p:cNvSpPr/>
          <p:nvPr/>
        </p:nvSpPr>
        <p:spPr>
          <a:xfrm>
            <a:off x="2194560" y="1536192"/>
            <a:ext cx="548640" cy="0"/>
          </a:xfrm>
          <a:prstGeom prst="line">
            <a:avLst/>
          </a:prstGeom>
          <a:noFill/>
          <a:ln w="15875">
            <a:solidFill>
              <a:schemeClr val="tx2"/>
            </a:solidFill>
            <a:prstDash val="solid"/>
            <a:tailEnd type="triangle"/>
          </a:ln>
        </p:spPr>
      </p:sp>
      <p:sp>
        <p:nvSpPr>
          <p:cNvPr id="16" name="Shape 13"/>
          <p:cNvSpPr/>
          <p:nvPr/>
        </p:nvSpPr>
        <p:spPr>
          <a:xfrm>
            <a:off x="2194560" y="1892808"/>
            <a:ext cx="548640" cy="0"/>
          </a:xfrm>
          <a:prstGeom prst="line">
            <a:avLst/>
          </a:prstGeom>
          <a:noFill/>
          <a:ln w="15875">
            <a:solidFill>
              <a:schemeClr val="tx2"/>
            </a:solidFill>
            <a:prstDash val="solid"/>
            <a:headEnd type="triangle"/>
          </a:ln>
        </p:spPr>
      </p:sp>
      <p:sp>
        <p:nvSpPr>
          <p:cNvPr id="17" name="Text 14"/>
          <p:cNvSpPr txBox="1"/>
          <p:nvPr/>
        </p:nvSpPr>
        <p:spPr>
          <a:xfrm>
            <a:off x="457200" y="2157984"/>
            <a:ext cx="4023360" cy="228600"/>
          </a:xfrm>
          <a:prstGeom prst="rect">
            <a:avLst/>
          </a:prstGeom>
          <a:noFill/>
          <a:ln/>
        </p:spPr>
        <p:txBody>
          <a:bodyPr wrap="square" lIns="0" tIns="0" rIns="0" bIns="0" rtlCol="0" anchor="t"/>
          <a:lstStyle/>
          <a:p>
            <a:pPr algn="ctr" indent="0" marL="0">
              <a:buNone/>
            </a:pPr>
            <a:r>
              <a:rPr lang="en-US" sz="1100" dirty="0">
                <a:solidFill>
                  <a:schemeClr val="tx2"/>
                </a:solidFill>
              </a:rPr>
              <a:t>another flow holds the queue</a:t>
            </a:r>
            <a:endParaRPr lang="en-US" sz="1100" dirty="0"/>
          </a:p>
        </p:txBody>
      </p:sp>
      <p:sp>
        <p:nvSpPr>
          <p:cNvPr id="18" name="Text 15"/>
          <p:cNvSpPr txBox="1"/>
          <p:nvPr/>
        </p:nvSpPr>
        <p:spPr>
          <a:xfrm>
            <a:off x="457200" y="2377440"/>
            <a:ext cx="4023360" cy="228600"/>
          </a:xfrm>
          <a:prstGeom prst="rect">
            <a:avLst/>
          </a:prstGeom>
          <a:noFill/>
          <a:ln/>
        </p:spPr>
        <p:txBody>
          <a:bodyPr wrap="square" lIns="0" tIns="0" rIns="0" bIns="0" rtlCol="0" anchor="t"/>
          <a:lstStyle/>
          <a:p>
            <a:pPr algn="ctr" indent="0" marL="0">
              <a:buNone/>
            </a:pPr>
            <a:r>
              <a:rPr lang="en-US" sz="1100" dirty="0">
                <a:solidFill>
                  <a:schemeClr val="tx2"/>
                </a:solidFill>
              </a:rPr>
              <a:t>probe drains the queue: it was ours, switch back</a:t>
            </a:r>
            <a:endParaRPr lang="en-US" sz="1100" dirty="0"/>
          </a:p>
        </p:txBody>
      </p:sp>
      <p:sp>
        <p:nvSpPr>
          <p:cNvPr id="19" name="Text 16"/>
          <p:cNvSpPr txBox="1"/>
          <p:nvPr/>
        </p:nvSpPr>
        <p:spPr>
          <a:xfrm>
            <a:off x="4846320" y="1234440"/>
            <a:ext cx="1325880" cy="502920"/>
          </a:xfrm>
          <a:prstGeom prst="rect">
            <a:avLst/>
          </a:prstGeom>
          <a:noFill/>
          <a:ln/>
        </p:spPr>
        <p:txBody>
          <a:bodyPr wrap="square" lIns="0" tIns="0" rIns="0" bIns="0" rtlCol="0" anchor="ctr"/>
          <a:lstStyle/>
          <a:p>
            <a:pPr algn="l" indent="0" marL="0">
              <a:buNone/>
            </a:pPr>
            <a:r>
              <a:rPr lang="en-US" sz="2200" b="1" dirty="0">
                <a:solidFill>
                  <a:schemeClr val="accent1"/>
                </a:solidFill>
              </a:rPr>
              <a:t>2% → 47%</a:t>
            </a:r>
            <a:endParaRPr lang="en-US" sz="2200" dirty="0"/>
          </a:p>
        </p:txBody>
      </p:sp>
      <p:sp>
        <p:nvSpPr>
          <p:cNvPr id="20" name="Text 17"/>
          <p:cNvSpPr txBox="1"/>
          <p:nvPr/>
        </p:nvSpPr>
        <p:spPr>
          <a:xfrm>
            <a:off x="4846320" y="1755648"/>
            <a:ext cx="1325880" cy="411480"/>
          </a:xfrm>
          <a:prstGeom prst="rect">
            <a:avLst/>
          </a:prstGeom>
          <a:noFill/>
          <a:ln/>
        </p:spPr>
        <p:txBody>
          <a:bodyPr wrap="square" lIns="0" tIns="0" rIns="0" bIns="0" rtlCol="0" anchor="t"/>
          <a:lstStyle/>
          <a:p>
            <a:pPr algn="l" indent="0" marL="0">
              <a:buNone/>
            </a:pPr>
            <a:r>
              <a:rPr lang="en-US" sz="1200" dirty="0">
                <a:solidFill>
                  <a:schemeClr val="tx2"/>
                </a:solidFill>
              </a:rPr>
              <a:t>share beside one CUBIC flow</a:t>
            </a:r>
            <a:endParaRPr lang="en-US" sz="1200" dirty="0"/>
          </a:p>
        </p:txBody>
      </p:sp>
      <p:sp>
        <p:nvSpPr>
          <p:cNvPr id="21" name="Text 18"/>
          <p:cNvSpPr txBox="1"/>
          <p:nvPr/>
        </p:nvSpPr>
        <p:spPr>
          <a:xfrm>
            <a:off x="6263640" y="1234440"/>
            <a:ext cx="1234440" cy="502920"/>
          </a:xfrm>
          <a:prstGeom prst="rect">
            <a:avLst/>
          </a:prstGeom>
          <a:noFill/>
          <a:ln/>
        </p:spPr>
        <p:txBody>
          <a:bodyPr wrap="square" lIns="0" tIns="0" rIns="0" bIns="0" rtlCol="0" anchor="ctr"/>
          <a:lstStyle/>
          <a:p>
            <a:pPr algn="l" indent="0" marL="0">
              <a:buNone/>
            </a:pPr>
            <a:r>
              <a:rPr lang="en-US" sz="2200" b="1" dirty="0">
                <a:solidFill>
                  <a:schemeClr val="accent1"/>
                </a:solidFill>
              </a:rPr>
              <a:t>49% · 43%</a:t>
            </a:r>
            <a:endParaRPr lang="en-US" sz="2200" dirty="0"/>
          </a:p>
        </p:txBody>
      </p:sp>
      <p:sp>
        <p:nvSpPr>
          <p:cNvPr id="22" name="Text 19"/>
          <p:cNvSpPr txBox="1"/>
          <p:nvPr/>
        </p:nvSpPr>
        <p:spPr>
          <a:xfrm>
            <a:off x="6263640" y="1755648"/>
            <a:ext cx="1234440" cy="411480"/>
          </a:xfrm>
          <a:prstGeom prst="rect">
            <a:avLst/>
          </a:prstGeom>
          <a:noFill/>
          <a:ln/>
        </p:spPr>
        <p:txBody>
          <a:bodyPr wrap="square" lIns="0" tIns="0" rIns="0" bIns="0" rtlCol="0" anchor="t"/>
          <a:lstStyle/>
          <a:p>
            <a:pPr algn="l" indent="0" marL="0">
              <a:buNone/>
            </a:pPr>
            <a:r>
              <a:rPr lang="en-US" sz="1200" dirty="0">
                <a:solidFill>
                  <a:schemeClr val="tx2"/>
                </a:solidFill>
              </a:rPr>
              <a:t>beside Reno · beside BBR</a:t>
            </a:r>
            <a:endParaRPr lang="en-US" sz="1200" dirty="0"/>
          </a:p>
        </p:txBody>
      </p:sp>
      <p:sp>
        <p:nvSpPr>
          <p:cNvPr id="23" name="Text 20"/>
          <p:cNvSpPr txBox="1"/>
          <p:nvPr/>
        </p:nvSpPr>
        <p:spPr>
          <a:xfrm>
            <a:off x="7543800" y="1234440"/>
            <a:ext cx="1188720" cy="502920"/>
          </a:xfrm>
          <a:prstGeom prst="rect">
            <a:avLst/>
          </a:prstGeom>
          <a:noFill/>
          <a:ln/>
        </p:spPr>
        <p:txBody>
          <a:bodyPr wrap="square" lIns="0" tIns="0" rIns="0" bIns="0" rtlCol="0" anchor="ctr"/>
          <a:lstStyle/>
          <a:p>
            <a:pPr algn="l" indent="0" marL="0">
              <a:buNone/>
            </a:pPr>
            <a:r>
              <a:rPr lang="en-US" sz="2200" b="1" dirty="0">
                <a:solidFill>
                  <a:schemeClr val="accent1"/>
                </a:solidFill>
              </a:rPr>
              <a:t>0 of 30</a:t>
            </a:r>
            <a:endParaRPr lang="en-US" sz="2200" dirty="0"/>
          </a:p>
        </p:txBody>
      </p:sp>
      <p:sp>
        <p:nvSpPr>
          <p:cNvPr id="24" name="Text 21"/>
          <p:cNvSpPr txBox="1"/>
          <p:nvPr/>
        </p:nvSpPr>
        <p:spPr>
          <a:xfrm>
            <a:off x="7543800" y="1755648"/>
            <a:ext cx="1188720" cy="411480"/>
          </a:xfrm>
          <a:prstGeom prst="rect">
            <a:avLst/>
          </a:prstGeom>
          <a:noFill/>
          <a:ln/>
        </p:spPr>
        <p:txBody>
          <a:bodyPr wrap="square" lIns="0" tIns="0" rIns="0" bIns="0" rtlCol="0" anchor="t"/>
          <a:lstStyle/>
          <a:p>
            <a:pPr algn="l" indent="0" marL="0">
              <a:buNone/>
            </a:pPr>
            <a:r>
              <a:rPr lang="en-US" sz="1200" dirty="0">
                <a:solidFill>
                  <a:schemeClr val="tx2"/>
                </a:solidFill>
              </a:rPr>
              <a:t>mistaken switches when alone</a:t>
            </a:r>
            <a:endParaRPr lang="en-US" sz="1200" dirty="0"/>
          </a:p>
        </p:txBody>
      </p:sp>
      <p:pic>
        <p:nvPicPr>
          <p:cNvPr id="25" name="Image 0" descr="Throughput over 60 s while a CUBIC flow joins at 20 s and leaves at 40 s. PPO falls to 0.2 Mbps; PPO-Switch switches mode and shares the link, then returns to the full rate.">    </p:cNvPr>
          <p:cNvPicPr>
            <a:picLocks noChangeAspect="1"/>
          </p:cNvPicPr>
          <p:nvPr/>
        </p:nvPicPr>
        <p:blipFill>
          <a:blip r:embed="rId1"/>
          <a:stretch>
            <a:fillRect/>
          </a:stretch>
        </p:blipFill>
        <p:spPr>
          <a:xfrm>
            <a:off x="1669932" y="2743200"/>
            <a:ext cx="5804136" cy="1783080"/>
          </a:xfrm>
          <a:prstGeom prst="rect">
            <a:avLst/>
          </a:prstGeom>
        </p:spPr>
      </p:pic>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6 · FIXES</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Real networks jitter: PPO-J</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6</a:t>
            </a:r>
            <a:endParaRPr lang="en-US" sz="800" dirty="0"/>
          </a:p>
        </p:txBody>
      </p:sp>
      <p:sp>
        <p:nvSpPr>
          <p:cNvPr id="11" name="Stage 7"/>
          <p:cNvSpPr txBox="1"/>
          <p:nvPr/>
        </p:nvSpPr>
        <p:spPr>
          <a:xfrm>
            <a:off x="815644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graphicFrame>
        <p:nvGraphicFramePr>
          <p:cNvPr id="13" name="Chart 0" descr=""/>
          <p:cNvGraphicFramePr/>
          <p:nvPr/>
        </p:nvGraphicFramePr>
        <p:xfrm>
          <a:off x="457200" y="128016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5394960" y="1280160"/>
            <a:ext cx="3291840" cy="502920"/>
          </a:xfrm>
          <a:prstGeom prst="rect">
            <a:avLst/>
          </a:prstGeom>
          <a:noFill/>
          <a:ln/>
        </p:spPr>
        <p:txBody>
          <a:bodyPr wrap="square" lIns="0" tIns="0" rIns="0" bIns="0" rtlCol="0" anchor="ctr"/>
          <a:lstStyle/>
          <a:p>
            <a:pPr algn="l" indent="0" marL="0">
              <a:buNone/>
            </a:pPr>
            <a:r>
              <a:rPr lang="en-US" sz="2800" b="1" dirty="0">
                <a:solidFill>
                  <a:schemeClr val="accent1"/>
                </a:solidFill>
              </a:rPr>
              <a:t>3% → 99%</a:t>
            </a:r>
            <a:endParaRPr lang="en-US" sz="2800" dirty="0"/>
          </a:p>
        </p:txBody>
      </p:sp>
      <p:sp>
        <p:nvSpPr>
          <p:cNvPr id="15" name="Text 11"/>
          <p:cNvSpPr txBox="1"/>
          <p:nvPr/>
        </p:nvSpPr>
        <p:spPr>
          <a:xfrm>
            <a:off x="5394960" y="1801368"/>
            <a:ext cx="3291840" cy="411480"/>
          </a:xfrm>
          <a:prstGeom prst="rect">
            <a:avLst/>
          </a:prstGeom>
          <a:noFill/>
          <a:ln/>
        </p:spPr>
        <p:txBody>
          <a:bodyPr wrap="square" lIns="0" tIns="0" rIns="0" bIns="0" rtlCol="0" anchor="t"/>
          <a:lstStyle/>
          <a:p>
            <a:pPr algn="l" indent="0" marL="0">
              <a:buNone/>
            </a:pPr>
            <a:r>
              <a:rPr lang="en-US" sz="1200" dirty="0">
                <a:solidFill>
                  <a:schemeClr val="tx2"/>
                </a:solidFill>
              </a:rPr>
              <a:t>utilisation at 4 ms of jitter, PPO → PPO-J</a:t>
            </a:r>
            <a:endParaRPr lang="en-US" sz="1200" dirty="0"/>
          </a:p>
        </p:txBody>
      </p:sp>
      <p:sp>
        <p:nvSpPr>
          <p:cNvPr id="16" name="Text 12"/>
          <p:cNvSpPr txBox="1"/>
          <p:nvPr/>
        </p:nvSpPr>
        <p:spPr>
          <a:xfrm>
            <a:off x="5394960" y="2331720"/>
            <a:ext cx="3291840" cy="210312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Trained with random jitter in 75% of episodes</a:t>
            </a:r>
            <a:endParaRPr lang="en-US" sz="1400" dirty="0"/>
          </a:p>
          <a:p>
            <a:pPr algn="l" marL="342900" indent="-342900">
              <a:spcAft>
                <a:spcPts val="600"/>
              </a:spcAft>
              <a:buSzPct val="100000"/>
              <a:buChar char="•"/>
            </a:pPr>
            <a:r>
              <a:rPr lang="en-US" sz="1400" dirty="0">
                <a:solidFill>
                  <a:schemeClr val="tx1"/>
                </a:solidFill>
              </a:rPr>
              <a:t>Reads the minimum RTT, not the average, as Copa does</a:t>
            </a:r>
            <a:endParaRPr lang="en-US" sz="1400" dirty="0"/>
          </a:p>
          <a:p>
            <a:pPr algn="l" marL="342900" indent="-342900">
              <a:spcAft>
                <a:spcPts val="600"/>
              </a:spcAft>
              <a:buSzPct val="100000"/>
              <a:buChar char="•"/>
            </a:pPr>
            <a:r>
              <a:rPr lang="en-US" sz="1400" dirty="0">
                <a:solidFill>
                  <a:schemeClr val="tx1"/>
                </a:solidFill>
              </a:rPr>
              <a:t>Clean links: 98.5% utilisation, RTT 1.17× base (PPO: 98.8%, 1.07×)</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3"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4"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5"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6" name="Stage 5"/>
          <p:cNvSpPr txBox="1"/>
          <p:nvPr/>
        </p:nvSpPr>
        <p:spPr>
          <a:xfrm>
            <a:off x="760780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7" name="Stage 6"/>
          <p:cNvSpPr txBox="1"/>
          <p:nvPr/>
        </p:nvSpPr>
        <p:spPr>
          <a:xfrm>
            <a:off x="78821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6</a:t>
            </a:r>
            <a:endParaRPr lang="en-US" sz="800" dirty="0"/>
          </a:p>
        </p:txBody>
      </p:sp>
      <p:sp>
        <p:nvSpPr>
          <p:cNvPr id="8" name="Stage 7"/>
          <p:cNvSpPr txBox="1"/>
          <p:nvPr/>
        </p:nvSpPr>
        <p:spPr>
          <a:xfrm>
            <a:off x="815644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7</a:t>
            </a:r>
            <a:endParaRPr lang="en-US" sz="800" dirty="0"/>
          </a:p>
        </p:txBody>
      </p:sp>
      <p:sp>
        <p:nvSpPr>
          <p:cNvPr id="9" name="Stage 8"/>
          <p:cNvSpPr txBox="1"/>
          <p:nvPr/>
        </p:nvSpPr>
        <p:spPr>
          <a:xfrm>
            <a:off x="8430768" y="274320"/>
            <a:ext cx="219456" cy="219456"/>
          </a:xfrm>
          <a:prstGeom prst="ellipse">
            <a:avLst/>
          </a:prstGeom>
          <a:solidFill>
            <a:schemeClr val="tx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0" name="Text 8"/>
          <p:cNvSpPr txBox="1"/>
          <p:nvPr/>
        </p:nvSpPr>
        <p:spPr>
          <a:xfrm>
            <a:off x="548640" y="1234440"/>
            <a:ext cx="5486400" cy="274320"/>
          </a:xfrm>
          <a:prstGeom prst="rect">
            <a:avLst/>
          </a:prstGeom>
          <a:noFill/>
          <a:ln/>
        </p:spPr>
        <p:txBody>
          <a:bodyPr wrap="square" lIns="0" tIns="0" rIns="0" bIns="0" rtlCol="0" anchor="t"/>
          <a:lstStyle/>
          <a:p>
            <a:pPr algn="l" indent="0" marL="0">
              <a:buNone/>
            </a:pPr>
            <a:r>
              <a:rPr lang="en-US" sz="1300" b="1" spc="300" kern="0" dirty="0">
                <a:solidFill>
                  <a:schemeClr val="accent2"/>
                </a:solidFill>
              </a:rPr>
              <a:t>STAGE 7 OF 8</a:t>
            </a:r>
            <a:endParaRPr lang="en-US" sz="1300" dirty="0"/>
          </a:p>
        </p:txBody>
      </p:sp>
      <p:sp>
        <p:nvSpPr>
          <p:cNvPr id="11" name="Text 9"/>
          <p:cNvSpPr txBox="1"/>
          <p:nvPr/>
        </p:nvSpPr>
        <p:spPr>
          <a:xfrm>
            <a:off x="548640" y="16002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A real Wi-Fi network</a:t>
            </a:r>
            <a:endParaRPr lang="en-US" sz="4000" dirty="0"/>
          </a:p>
        </p:txBody>
      </p:sp>
      <p:sp>
        <p:nvSpPr>
          <p:cNvPr id="12" name="Text 10"/>
          <p:cNvSpPr txBox="1"/>
          <p:nvPr/>
        </p:nvSpPr>
        <p:spPr>
          <a:xfrm>
            <a:off x="548640" y="2788920"/>
            <a:ext cx="5486400" cy="256032"/>
          </a:xfrm>
          <a:prstGeom prst="rect">
            <a:avLst/>
          </a:prstGeom>
          <a:noFill/>
          <a:ln/>
        </p:spPr>
        <p:txBody>
          <a:bodyPr wrap="square" lIns="0" tIns="0" rIns="0" bIns="0" rtlCol="0" anchor="t"/>
          <a:lstStyle/>
          <a:p>
            <a:pPr algn="l" indent="0" marL="0">
              <a:buNone/>
            </a:pPr>
            <a:r>
              <a:rPr lang="en-US" sz="1100" b="1" spc="200" kern="0" dirty="0">
                <a:solidFill>
                  <a:schemeClr val="accent5"/>
                </a:solidFill>
              </a:rPr>
              <a:t>WHY THIS STAGE</a:t>
            </a:r>
            <a:endParaRPr lang="en-US" sz="1100" dirty="0"/>
          </a:p>
        </p:txBody>
      </p:sp>
      <p:sp>
        <p:nvSpPr>
          <p:cNvPr id="13" name="Text 11"/>
          <p:cNvSpPr txBox="1"/>
          <p:nvPr/>
        </p:nvSpPr>
        <p:spPr>
          <a:xfrm>
            <a:off x="548640" y="3090672"/>
            <a:ext cx="7863840" cy="1005840"/>
          </a:xfrm>
          <a:prstGeom prst="rect">
            <a:avLst/>
          </a:prstGeom>
          <a:noFill/>
          <a:ln/>
        </p:spPr>
        <p:txBody>
          <a:bodyPr wrap="square" lIns="0" tIns="0" rIns="0" bIns="0" rtlCol="0" anchor="t"/>
          <a:lstStyle/>
          <a:p>
            <a:pPr algn="l" indent="0" marL="0">
              <a:buNone/>
            </a:pPr>
            <a:r>
              <a:rPr lang="en-US" sz="1800" dirty="0">
                <a:solidFill>
                  <a:schemeClr val="bg2"/>
                </a:solidFill>
              </a:rPr>
              <a:t>Both weaknesses are fixed in simulation. Does any of it hold on a real network?</a:t>
            </a:r>
            <a:endParaRPr lang="en-US" sz="1800" dirty="0"/>
          </a:p>
        </p:txBody>
      </p:sp>
      <p:sp>
        <p:nvSpPr>
          <p:cNvPr id="15"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endParaRPr lang="en-US" sz="4400" dirty="0"/>
          </a:p>
        </p:txBody>
      </p:sp>
      <p:sp>
        <p:nvSpPr>
          <p:cNvPr id="16"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7 · REAL NETWORK</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Testing over a real network</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6</a:t>
            </a:r>
            <a:endParaRPr lang="en-US" sz="800" dirty="0"/>
          </a:p>
        </p:txBody>
      </p:sp>
      <p:sp>
        <p:nvSpPr>
          <p:cNvPr id="11" name="Stage 7"/>
          <p:cNvSpPr txBox="1"/>
          <p:nvPr/>
        </p:nvSpPr>
        <p:spPr>
          <a:xfrm>
            <a:off x="815644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sp>
        <p:nvSpPr>
          <p:cNvPr id="13" name="Sender laptop"/>
          <p:cNvSpPr txBox="1"/>
          <p:nvPr/>
        </p:nvSpPr>
        <p:spPr>
          <a:xfrm>
            <a:off x="457200" y="1325880"/>
            <a:ext cx="2377440" cy="777240"/>
          </a:xfrm>
          <a:prstGeom prst="roundRect">
            <a:avLst>
              <a:gd name="adj" fmla="val 9412"/>
            </a:avLst>
          </a:prstGeom>
          <a:solidFill>
            <a:schemeClr val="bg2"/>
          </a:solidFill>
          <a:ln w="6350">
            <a:solidFill>
              <a:schemeClr val="bg2"/>
            </a:solidFill>
          </a:ln>
        </p:spPr>
        <p:txBody>
          <a:bodyPr wrap="square" lIns="762" tIns="762" rIns="762" bIns="762" rtlCol="0" anchor="ctr"/>
          <a:lstStyle/>
          <a:p>
            <a:pPr algn="ctr" indent="0" marL="0">
              <a:buNone/>
            </a:pPr>
            <a:r>
              <a:rPr lang="en-US" sz="1300" b="1" dirty="0">
                <a:solidFill>
                  <a:schemeClr val="tx1"/>
                </a:solidFill>
              </a:rPr>
              <a:t>Windows laptop</a:t>
            </a:r>
            <a:endParaRPr lang="en-US" sz="1300" dirty="0"/>
          </a:p>
          <a:p>
            <a:pPr algn="ctr" indent="0" marL="0">
              <a:buNone/>
            </a:pPr>
            <a:r>
              <a:rPr lang="en-US" sz="1300" b="1" dirty="0">
                <a:solidFill>
                  <a:schemeClr val="tx1"/>
                </a:solidFill>
              </a:rPr>
              <a:t>the controllers (sender)</a:t>
            </a:r>
            <a:endParaRPr lang="en-US" sz="1300" dirty="0"/>
          </a:p>
        </p:txBody>
      </p:sp>
      <p:sp>
        <p:nvSpPr>
          <p:cNvPr id="14" name="Wi-Fi link"/>
          <p:cNvSpPr txBox="1"/>
          <p:nvPr/>
        </p:nvSpPr>
        <p:spPr>
          <a:xfrm>
            <a:off x="3429000" y="1463040"/>
            <a:ext cx="1188720" cy="502920"/>
          </a:xfrm>
          <a:prstGeom prst="roundRect">
            <a:avLst>
              <a:gd name="adj" fmla="val 14545"/>
            </a:avLst>
          </a:prstGeom>
          <a:solidFill>
            <a:schemeClr val="accent4"/>
          </a:solidFill>
          <a:ln w="6350">
            <a:solidFill>
              <a:schemeClr val="accent4"/>
            </a:solidFill>
          </a:ln>
        </p:spPr>
        <p:txBody>
          <a:bodyPr wrap="square" lIns="762" tIns="762" rIns="762" bIns="762" rtlCol="0" anchor="ctr"/>
          <a:lstStyle/>
          <a:p>
            <a:pPr algn="ctr" indent="0" marL="0">
              <a:buNone/>
            </a:pPr>
            <a:r>
              <a:rPr lang="en-US" sz="1300" b="1" dirty="0">
                <a:solidFill>
                  <a:schemeClr val="bg1"/>
                </a:solidFill>
              </a:rPr>
              <a:t>Wi-Fi</a:t>
            </a:r>
            <a:endParaRPr lang="en-US" sz="1300" dirty="0"/>
          </a:p>
        </p:txBody>
      </p:sp>
      <p:sp>
        <p:nvSpPr>
          <p:cNvPr id="15" name="Receiver laptop"/>
          <p:cNvSpPr txBox="1"/>
          <p:nvPr/>
        </p:nvSpPr>
        <p:spPr>
          <a:xfrm>
            <a:off x="5212080" y="1325880"/>
            <a:ext cx="2377440" cy="777240"/>
          </a:xfrm>
          <a:prstGeom prst="roundRect">
            <a:avLst>
              <a:gd name="adj" fmla="val 9412"/>
            </a:avLst>
          </a:prstGeom>
          <a:solidFill>
            <a:schemeClr val="bg2"/>
          </a:solidFill>
          <a:ln w="6350">
            <a:solidFill>
              <a:schemeClr val="bg2"/>
            </a:solidFill>
          </a:ln>
        </p:spPr>
        <p:txBody>
          <a:bodyPr wrap="square" lIns="762" tIns="762" rIns="762" bIns="762" rtlCol="0" anchor="ctr"/>
          <a:lstStyle/>
          <a:p>
            <a:pPr algn="ctr" indent="0" marL="0">
              <a:buNone/>
            </a:pPr>
            <a:r>
              <a:rPr lang="en-US" sz="1300" b="1" dirty="0">
                <a:solidFill>
                  <a:schemeClr val="tx1"/>
                </a:solidFill>
              </a:rPr>
              <a:t>MacBook</a:t>
            </a:r>
            <a:endParaRPr lang="en-US" sz="1300" dirty="0"/>
          </a:p>
          <a:p>
            <a:pPr algn="ctr" indent="0" marL="0">
              <a:buNone/>
            </a:pPr>
            <a:r>
              <a:rPr lang="en-US" sz="1300" b="1" dirty="0">
                <a:solidFill>
                  <a:schemeClr val="tx1"/>
                </a:solidFill>
              </a:rPr>
              <a:t>receiver + 10 Mbps queue</a:t>
            </a:r>
            <a:endParaRPr lang="en-US" sz="1300" dirty="0"/>
          </a:p>
        </p:txBody>
      </p:sp>
      <p:sp>
        <p:nvSpPr>
          <p:cNvPr id="16" name="Shape 13"/>
          <p:cNvSpPr/>
          <p:nvPr/>
        </p:nvSpPr>
        <p:spPr>
          <a:xfrm>
            <a:off x="2880360" y="1709928"/>
            <a:ext cx="502920" cy="0"/>
          </a:xfrm>
          <a:prstGeom prst="line">
            <a:avLst/>
          </a:prstGeom>
          <a:noFill/>
          <a:ln w="15875">
            <a:solidFill>
              <a:schemeClr val="tx2"/>
            </a:solidFill>
            <a:prstDash val="solid"/>
            <a:tailEnd type="triangle"/>
          </a:ln>
        </p:spPr>
      </p:sp>
      <p:sp>
        <p:nvSpPr>
          <p:cNvPr id="17" name="Shape 14"/>
          <p:cNvSpPr/>
          <p:nvPr/>
        </p:nvSpPr>
        <p:spPr>
          <a:xfrm>
            <a:off x="4663440" y="1709928"/>
            <a:ext cx="502920" cy="0"/>
          </a:xfrm>
          <a:prstGeom prst="line">
            <a:avLst/>
          </a:prstGeom>
          <a:noFill/>
          <a:ln w="15875">
            <a:solidFill>
              <a:schemeClr val="tx2"/>
            </a:solidFill>
            <a:prstDash val="solid"/>
            <a:tailEnd type="triangle"/>
          </a:ln>
        </p:spPr>
      </p:sp>
      <p:sp>
        <p:nvSpPr>
          <p:cNvPr id="18" name="Text 15"/>
          <p:cNvSpPr txBox="1"/>
          <p:nvPr/>
        </p:nvSpPr>
        <p:spPr>
          <a:xfrm>
            <a:off x="457200" y="2157984"/>
            <a:ext cx="7132320" cy="256032"/>
          </a:xfrm>
          <a:prstGeom prst="rect">
            <a:avLst/>
          </a:prstGeom>
          <a:noFill/>
          <a:ln/>
        </p:spPr>
        <p:txBody>
          <a:bodyPr wrap="square" lIns="0" tIns="0" rIns="0" bIns="0" rtlCol="0" anchor="t"/>
          <a:lstStyle/>
          <a:p>
            <a:pPr algn="ctr" indent="0" marL="0">
              <a:buNone/>
            </a:pPr>
            <a:r>
              <a:rPr lang="en-US" sz="1200" dirty="0">
                <a:solidFill>
                  <a:schemeClr val="tx2"/>
                </a:solidFill>
              </a:rPr>
              <a:t>data packets →   ← ACKs with real RTT, jitter and loss</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6035040" cy="914400"/>
        </p:xfrm>
        <a:graphic>
          <a:graphicData uri="http://schemas.openxmlformats.org/drawingml/2006/table">
            <a:tbl>
              <a:tblPr/>
              <a:tblGrid>
                <a:gridCol w="2468880"/>
                <a:gridCol w="1645920"/>
                <a:gridCol w="1920240"/>
              </a:tblGrid>
              <a:tr h="301752">
                <a:tc>
                  <a:txBody>
                    <a:bodyPr/>
                    <a:lstStyle/>
                    <a:p>
                      <a:pPr algn="l" indent="0" marL="0">
                        <a:buNone/>
                      </a:pPr>
                      <a:r>
                        <a:rPr lang="en-US" sz="1200" b="1" dirty="0">
                          <a:solidFill>
                            <a:schemeClr val="bg1"/>
                          </a:solidFill>
                        </a:rPr>
                        <a:t>On real Wi-Fi (second run)</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Simulator</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Real Wi-Fi</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r>
              <a:tr h="301752">
                <a:tc>
                  <a:txBody>
                    <a:bodyPr/>
                    <a:lstStyle/>
                    <a:p>
                      <a:pPr algn="l" indent="0" marL="0">
                        <a:buNone/>
                      </a:pPr>
                      <a:r>
                        <a:rPr lang="en-US" sz="1200" b="1" dirty="0">
                          <a:solidFill>
                            <a:schemeClr val="tx1"/>
                          </a:solidFill>
                        </a:rPr>
                        <a:t>CUBIC alone</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10.0 Mbps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8.6 Mbps, 70 ms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01752">
                <a:tc>
                  <a:txBody>
                    <a:bodyPr/>
                    <a:lstStyle/>
                    <a:p>
                      <a:pPr algn="l" indent="0" marL="0">
                        <a:buNone/>
                      </a:pPr>
                      <a:r>
                        <a:rPr lang="en-US" sz="1200" b="1" dirty="0">
                          <a:solidFill>
                            <a:schemeClr val="tx1"/>
                          </a:solidFill>
                        </a:rPr>
                        <a:t>CUBIC+ML / CUBIC, 1% loss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9.9 / 3.4 Mbps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8.7 / 2.9 Mbps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r>
              <a:tr h="301752">
                <a:tc>
                  <a:txBody>
                    <a:bodyPr/>
                    <a:lstStyle/>
                    <a:p>
                      <a:pPr algn="l" indent="0" marL="0">
                        <a:buNone/>
                      </a:pPr>
                      <a:r>
                        <a:rPr lang="en-US" sz="1200" b="1" dirty="0">
                          <a:solidFill>
                            <a:schemeClr val="tx1"/>
                          </a:solidFill>
                        </a:rPr>
                        <a:t>BBR alone</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9.9 Mbps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9.4 Mbps, 33% loss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01752">
                <a:tc>
                  <a:txBody>
                    <a:bodyPr/>
                    <a:lstStyle/>
                    <a:p>
                      <a:pPr algn="l" indent="0" marL="0">
                        <a:buNone/>
                      </a:pPr>
                      <a:r>
                        <a:rPr lang="en-US" sz="1200" b="1" dirty="0">
                          <a:solidFill>
                            <a:schemeClr val="tx1"/>
                          </a:solidFill>
                        </a:rPr>
                        <a:t>PPO / PPO-J alone</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10.0 Mbps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0.3 / 3.3 Mbps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01752">
                <a:tc>
                  <a:txBody>
                    <a:bodyPr/>
                    <a:lstStyle/>
                    <a:p>
                      <a:pPr algn="l" indent="0" marL="0">
                        <a:buNone/>
                      </a:pPr>
                      <a:r>
                        <a:rPr lang="en-US" sz="1200" b="1" dirty="0">
                          <a:solidFill>
                            <a:schemeClr val="tx1"/>
                          </a:solidFill>
                        </a:rPr>
                        <a:t>PPO-Switch beside CUBIC</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44% of the link</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45% of the link</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r>
            </a:tbl>
          </a:graphicData>
        </a:graphic>
      </p:graphicFrame>
      <p:sp>
        <p:nvSpPr>
          <p:cNvPr id="20" name="What carried over"/>
          <p:cNvSpPr/>
          <p:nvPr/>
        </p:nvSpPr>
        <p:spPr>
          <a:xfrm>
            <a:off x="6675120" y="2560320"/>
            <a:ext cx="2011680" cy="1828800"/>
          </a:xfrm>
          <a:prstGeom prst="roundRect">
            <a:avLst>
              <a:gd name="adj" fmla="val 4000"/>
            </a:avLst>
          </a:prstGeom>
          <a:solidFill>
            <a:schemeClr val="bg2"/>
          </a:solidFill>
          <a:ln w="6350">
            <a:solidFill>
              <a:schemeClr val="bg2"/>
            </a:solidFill>
            <a:prstDash val="solid"/>
          </a:ln>
        </p:spPr>
      </p:sp>
      <p:sp>
        <p:nvSpPr>
          <p:cNvPr id="21" name="Text 17"/>
          <p:cNvSpPr txBox="1"/>
          <p:nvPr/>
        </p:nvSpPr>
        <p:spPr>
          <a:xfrm>
            <a:off x="6812280" y="2651760"/>
            <a:ext cx="1783080" cy="228600"/>
          </a:xfrm>
          <a:prstGeom prst="rect">
            <a:avLst/>
          </a:prstGeom>
          <a:noFill/>
          <a:ln/>
        </p:spPr>
        <p:txBody>
          <a:bodyPr wrap="square" lIns="0" tIns="0" rIns="0" bIns="0" rtlCol="0" anchor="t"/>
          <a:lstStyle/>
          <a:p>
            <a:pPr algn="l" indent="0" marL="0">
              <a:buNone/>
            </a:pPr>
            <a:r>
              <a:rPr lang="en-US" sz="1000" b="1" spc="200" kern="0" dirty="0">
                <a:solidFill>
                  <a:schemeClr val="accent1"/>
                </a:solidFill>
              </a:rPr>
              <a:t>CARRIED OVER</a:t>
            </a:r>
            <a:endParaRPr lang="en-US" sz="1000" dirty="0"/>
          </a:p>
        </p:txBody>
      </p:sp>
      <p:sp>
        <p:nvSpPr>
          <p:cNvPr id="22" name="Text 18"/>
          <p:cNvSpPr txBox="1"/>
          <p:nvPr/>
        </p:nvSpPr>
        <p:spPr>
          <a:xfrm>
            <a:off x="6812280" y="2926080"/>
            <a:ext cx="1783080" cy="1417320"/>
          </a:xfrm>
          <a:prstGeom prst="rect">
            <a:avLst/>
          </a:prstGeom>
          <a:noFill/>
          <a:ln/>
        </p:spPr>
        <p:txBody>
          <a:bodyPr wrap="square" lIns="0" tIns="0" rIns="0" bIns="0" rtlCol="0" anchor="t"/>
          <a:lstStyle/>
          <a:p>
            <a:pPr algn="l" indent="0" marL="0">
              <a:buNone/>
            </a:pPr>
            <a:r>
              <a:rPr lang="en-US" sz="1200" dirty="0">
                <a:solidFill>
                  <a:schemeClr val="tx1"/>
                </a:solidFill>
              </a:rPr>
              <a:t>The loss classifier and the fairness fix.</a:t>
            </a:r>
            <a:endParaRPr lang="en-US" sz="1200" dirty="0"/>
          </a:p>
          <a:p>
            <a:pPr algn="l" indent="0" marL="0">
              <a:buNone/>
            </a:pPr>
            <a:endParaRPr lang="en-US" sz="1200" dirty="0"/>
          </a:p>
          <a:p>
            <a:pPr algn="l" indent="0" marL="0">
              <a:buNone/>
            </a:pPr>
            <a:r>
              <a:rPr lang="en-US" sz="1200" dirty="0">
                <a:solidFill>
                  <a:schemeClr val="tx1"/>
                </a:solidFill>
              </a:rPr>
              <a:t>Not the learned rate controllers: why, on the next slide.</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7 · REAL NETWORK</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What real Wi-Fi does</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6</a:t>
            </a:r>
            <a:endParaRPr lang="en-US" sz="800" dirty="0"/>
          </a:p>
        </p:txBody>
      </p:sp>
      <p:sp>
        <p:nvSpPr>
          <p:cNvPr id="11" name="Stage 7"/>
          <p:cNvSpPr txBox="1"/>
          <p:nvPr/>
        </p:nvSpPr>
        <p:spPr>
          <a:xfrm>
            <a:off x="815644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7</a:t>
            </a:r>
            <a:endParaRPr lang="en-US" sz="800" dirty="0"/>
          </a:p>
        </p:txBody>
      </p:sp>
      <p:sp>
        <p:nvSpPr>
          <p:cNvPr id="12" name="Stage 8"/>
          <p:cNvSpPr txBox="1"/>
          <p:nvPr/>
        </p:nvSpPr>
        <p:spPr>
          <a:xfrm>
            <a:off x="8430768" y="274320"/>
            <a:ext cx="219456" cy="219456"/>
          </a:xfrm>
          <a:prstGeom prst="ellipse">
            <a:avLst/>
          </a:prstGeom>
          <a:solidFill>
            <a:schemeClr val="bg1"/>
          </a:solidFill>
          <a:ln w="9525">
            <a:solidFill>
              <a:schemeClr val="accent5"/>
            </a:solidFill>
          </a:ln>
        </p:spPr>
        <p:txBody>
          <a:bodyPr wrap="square" lIns="0" tIns="0" rIns="0" bIns="0" rtlCol="0" anchor="ctr"/>
          <a:lstStyle/>
          <a:p>
            <a:pPr algn="ctr" indent="0" marL="0">
              <a:buNone/>
            </a:pPr>
            <a:r>
              <a:rPr lang="en-US" sz="800" b="1" dirty="0">
                <a:solidFill>
                  <a:schemeClr val="accent5"/>
                </a:solidFill>
              </a:rPr>
              <a:t>8</a:t>
            </a:r>
            <a:endParaRPr lang="en-US" sz="800" dirty="0"/>
          </a:p>
        </p:txBody>
      </p:sp>
      <p:pic>
        <p:nvPicPr>
          <p:cNvPr id="13" name="Image 0" descr="RTT of every packet on the recorded Wi-Fi path: spikes to 80 ms twice a second, and a close-up of two stalls with the RTT falling back linearly.">    </p:cNvPr>
          <p:cNvPicPr>
            <a:picLocks noChangeAspect="1"/>
          </p:cNvPicPr>
          <p:nvPr/>
        </p:nvPicPr>
        <p:blipFill>
          <a:blip r:embed="rId1"/>
          <a:stretch>
            <a:fillRect/>
          </a:stretch>
        </p:blipFill>
        <p:spPr>
          <a:xfrm>
            <a:off x="457200" y="1547818"/>
            <a:ext cx="5852160" cy="2619363"/>
          </a:xfrm>
          <a:prstGeom prst="rect">
            <a:avLst/>
          </a:prstGeom>
        </p:spPr>
      </p:pic>
      <p:sp>
        <p:nvSpPr>
          <p:cNvPr id="14" name="Text 10"/>
          <p:cNvSpPr txBox="1"/>
          <p:nvPr/>
        </p:nvSpPr>
        <p:spPr>
          <a:xfrm>
            <a:off x="6583680" y="1234440"/>
            <a:ext cx="2103120" cy="502920"/>
          </a:xfrm>
          <a:prstGeom prst="rect">
            <a:avLst/>
          </a:prstGeom>
          <a:noFill/>
          <a:ln/>
        </p:spPr>
        <p:txBody>
          <a:bodyPr wrap="square" lIns="0" tIns="0" rIns="0" bIns="0" rtlCol="0" anchor="ctr"/>
          <a:lstStyle/>
          <a:p>
            <a:pPr algn="l" indent="0" marL="0">
              <a:buNone/>
            </a:pPr>
            <a:r>
              <a:rPr lang="en-US" sz="2800" b="1" dirty="0">
                <a:solidFill>
                  <a:schemeClr val="accent1"/>
                </a:solidFill>
              </a:rPr>
              <a:t>75 ms</a:t>
            </a:r>
            <a:endParaRPr lang="en-US" sz="2800" dirty="0"/>
          </a:p>
        </p:txBody>
      </p:sp>
      <p:sp>
        <p:nvSpPr>
          <p:cNvPr id="15" name="Text 11"/>
          <p:cNvSpPr txBox="1"/>
          <p:nvPr/>
        </p:nvSpPr>
        <p:spPr>
          <a:xfrm>
            <a:off x="6583680" y="1755648"/>
            <a:ext cx="2103120" cy="320040"/>
          </a:xfrm>
          <a:prstGeom prst="rect">
            <a:avLst/>
          </a:prstGeom>
          <a:noFill/>
          <a:ln/>
        </p:spPr>
        <p:txBody>
          <a:bodyPr wrap="square" lIns="0" tIns="0" rIns="0" bIns="0" rtlCol="0" anchor="t"/>
          <a:lstStyle/>
          <a:p>
            <a:pPr algn="l" indent="0" marL="0">
              <a:buNone/>
            </a:pPr>
            <a:r>
              <a:rPr lang="en-US" sz="1200" dirty="0">
                <a:solidFill>
                  <a:schemeClr val="tx2"/>
                </a:solidFill>
              </a:rPr>
              <a:t>stalls, about twice a second</a:t>
            </a:r>
            <a:endParaRPr lang="en-US" sz="1200" dirty="0"/>
          </a:p>
        </p:txBody>
      </p:sp>
      <p:sp>
        <p:nvSpPr>
          <p:cNvPr id="16" name="Text 12"/>
          <p:cNvSpPr txBox="1"/>
          <p:nvPr/>
        </p:nvSpPr>
        <p:spPr>
          <a:xfrm>
            <a:off x="6583680" y="2286000"/>
            <a:ext cx="2103120" cy="502920"/>
          </a:xfrm>
          <a:prstGeom prst="rect">
            <a:avLst/>
          </a:prstGeom>
          <a:noFill/>
          <a:ln/>
        </p:spPr>
        <p:txBody>
          <a:bodyPr wrap="square" lIns="0" tIns="0" rIns="0" bIns="0" rtlCol="0" anchor="ctr"/>
          <a:lstStyle/>
          <a:p>
            <a:pPr algn="l" indent="0" marL="0">
              <a:buNone/>
            </a:pPr>
            <a:r>
              <a:rPr lang="en-US" sz="2800" b="1" dirty="0">
                <a:solidFill>
                  <a:schemeClr val="accent1"/>
                </a:solidFill>
              </a:rPr>
              <a:t>18%</a:t>
            </a:r>
            <a:endParaRPr lang="en-US" sz="2800" dirty="0"/>
          </a:p>
        </p:txBody>
      </p:sp>
      <p:sp>
        <p:nvSpPr>
          <p:cNvPr id="17" name="Text 13"/>
          <p:cNvSpPr txBox="1"/>
          <p:nvPr/>
        </p:nvSpPr>
        <p:spPr>
          <a:xfrm>
            <a:off x="6583680" y="2807208"/>
            <a:ext cx="2103120" cy="320040"/>
          </a:xfrm>
          <a:prstGeom prst="rect">
            <a:avLst/>
          </a:prstGeom>
          <a:noFill/>
          <a:ln/>
        </p:spPr>
        <p:txBody>
          <a:bodyPr wrap="square" lIns="0" tIns="0" rIns="0" bIns="0" rtlCol="0" anchor="t"/>
          <a:lstStyle/>
          <a:p>
            <a:pPr algn="l" indent="0" marL="0">
              <a:buNone/>
            </a:pPr>
            <a:r>
              <a:rPr lang="en-US" sz="1200" dirty="0">
                <a:solidFill>
                  <a:schemeClr val="tx2"/>
                </a:solidFill>
              </a:rPr>
              <a:t>of packets more than 20 ms late</a:t>
            </a:r>
            <a:endParaRPr lang="en-US" sz="1200" dirty="0"/>
          </a:p>
        </p:txBody>
      </p:sp>
      <p:sp>
        <p:nvSpPr>
          <p:cNvPr id="18" name="Text 14"/>
          <p:cNvSpPr txBox="1"/>
          <p:nvPr/>
        </p:nvSpPr>
        <p:spPr>
          <a:xfrm>
            <a:off x="6583680" y="3337560"/>
            <a:ext cx="2103120" cy="502920"/>
          </a:xfrm>
          <a:prstGeom prst="rect">
            <a:avLst/>
          </a:prstGeom>
          <a:noFill/>
          <a:ln/>
        </p:spPr>
        <p:txBody>
          <a:bodyPr wrap="square" lIns="0" tIns="0" rIns="0" bIns="0" rtlCol="0" anchor="ctr"/>
          <a:lstStyle/>
          <a:p>
            <a:pPr algn="l" indent="0" marL="0">
              <a:buNone/>
            </a:pPr>
            <a:r>
              <a:rPr lang="en-US" sz="2800" b="1" dirty="0">
                <a:solidFill>
                  <a:schemeClr val="accent1"/>
                </a:solidFill>
              </a:rPr>
              <a:t>±1.3 Mbps</a:t>
            </a:r>
            <a:endParaRPr lang="en-US" sz="2800" dirty="0"/>
          </a:p>
        </p:txBody>
      </p:sp>
      <p:sp>
        <p:nvSpPr>
          <p:cNvPr id="19" name="Text 15"/>
          <p:cNvSpPr txBox="1"/>
          <p:nvPr/>
        </p:nvSpPr>
        <p:spPr>
          <a:xfrm>
            <a:off x="6583680" y="3858768"/>
            <a:ext cx="2103120" cy="411480"/>
          </a:xfrm>
          <a:prstGeom prst="rect">
            <a:avLst/>
          </a:prstGeom>
          <a:noFill/>
          <a:ln/>
        </p:spPr>
        <p:txBody>
          <a:bodyPr wrap="square" lIns="0" tIns="0" rIns="0" bIns="0" rtlCol="0" anchor="t"/>
          <a:lstStyle/>
          <a:p>
            <a:pPr algn="l" indent="0" marL="0">
              <a:buNone/>
            </a:pPr>
            <a:r>
              <a:rPr lang="en-US" sz="1200" dirty="0">
                <a:solidFill>
                  <a:schemeClr val="tx2"/>
                </a:solidFill>
              </a:rPr>
              <a:t>replay of the recordings vs the real test</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3"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4"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5"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6" name="Stage 5"/>
          <p:cNvSpPr txBox="1"/>
          <p:nvPr/>
        </p:nvSpPr>
        <p:spPr>
          <a:xfrm>
            <a:off x="760780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7" name="Stage 6"/>
          <p:cNvSpPr txBox="1"/>
          <p:nvPr/>
        </p:nvSpPr>
        <p:spPr>
          <a:xfrm>
            <a:off x="78821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6</a:t>
            </a:r>
            <a:endParaRPr lang="en-US" sz="800" dirty="0"/>
          </a:p>
        </p:txBody>
      </p:sp>
      <p:sp>
        <p:nvSpPr>
          <p:cNvPr id="8" name="Stage 7"/>
          <p:cNvSpPr txBox="1"/>
          <p:nvPr/>
        </p:nvSpPr>
        <p:spPr>
          <a:xfrm>
            <a:off x="81564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7</a:t>
            </a:r>
            <a:endParaRPr lang="en-US" sz="800" dirty="0"/>
          </a:p>
        </p:txBody>
      </p:sp>
      <p:sp>
        <p:nvSpPr>
          <p:cNvPr id="9" name="Stage 8"/>
          <p:cNvSpPr txBox="1"/>
          <p:nvPr/>
        </p:nvSpPr>
        <p:spPr>
          <a:xfrm>
            <a:off x="843076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8</a:t>
            </a:r>
            <a:endParaRPr lang="en-US" sz="800" dirty="0"/>
          </a:p>
        </p:txBody>
      </p:sp>
      <p:sp>
        <p:nvSpPr>
          <p:cNvPr id="10" name="Text 8"/>
          <p:cNvSpPr txBox="1"/>
          <p:nvPr/>
        </p:nvSpPr>
        <p:spPr>
          <a:xfrm>
            <a:off x="548640" y="1234440"/>
            <a:ext cx="5486400" cy="274320"/>
          </a:xfrm>
          <a:prstGeom prst="rect">
            <a:avLst/>
          </a:prstGeom>
          <a:noFill/>
          <a:ln/>
        </p:spPr>
        <p:txBody>
          <a:bodyPr wrap="square" lIns="0" tIns="0" rIns="0" bIns="0" rtlCol="0" anchor="t"/>
          <a:lstStyle/>
          <a:p>
            <a:pPr algn="l" indent="0" marL="0">
              <a:buNone/>
            </a:pPr>
            <a:r>
              <a:rPr lang="en-US" sz="1300" b="1" spc="300" kern="0" dirty="0">
                <a:solidFill>
                  <a:schemeClr val="accent2"/>
                </a:solidFill>
              </a:rPr>
              <a:t>STAGE 8 OF 8</a:t>
            </a:r>
            <a:endParaRPr lang="en-US" sz="1300" dirty="0"/>
          </a:p>
        </p:txBody>
      </p:sp>
      <p:sp>
        <p:nvSpPr>
          <p:cNvPr id="11" name="Text 9"/>
          <p:cNvSpPr txBox="1"/>
          <p:nvPr/>
        </p:nvSpPr>
        <p:spPr>
          <a:xfrm>
            <a:off x="548640" y="1600200"/>
            <a:ext cx="804672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Learning from the real network</a:t>
            </a:r>
            <a:endParaRPr lang="en-US" sz="4000" dirty="0"/>
          </a:p>
        </p:txBody>
      </p:sp>
      <p:sp>
        <p:nvSpPr>
          <p:cNvPr id="12" name="Text 10"/>
          <p:cNvSpPr txBox="1"/>
          <p:nvPr/>
        </p:nvSpPr>
        <p:spPr>
          <a:xfrm>
            <a:off x="548640" y="2788920"/>
            <a:ext cx="5486400" cy="256032"/>
          </a:xfrm>
          <a:prstGeom prst="rect">
            <a:avLst/>
          </a:prstGeom>
          <a:noFill/>
          <a:ln/>
        </p:spPr>
        <p:txBody>
          <a:bodyPr wrap="square" lIns="0" tIns="0" rIns="0" bIns="0" rtlCol="0" anchor="t"/>
          <a:lstStyle/>
          <a:p>
            <a:pPr algn="l" indent="0" marL="0">
              <a:buNone/>
            </a:pPr>
            <a:r>
              <a:rPr lang="en-US" sz="1100" b="1" spc="200" kern="0" dirty="0">
                <a:solidFill>
                  <a:schemeClr val="accent5"/>
                </a:solidFill>
              </a:rPr>
              <a:t>WHY THIS STAGE</a:t>
            </a:r>
            <a:endParaRPr lang="en-US" sz="1100" dirty="0"/>
          </a:p>
        </p:txBody>
      </p:sp>
      <p:sp>
        <p:nvSpPr>
          <p:cNvPr id="13" name="Text 11"/>
          <p:cNvSpPr txBox="1"/>
          <p:nvPr/>
        </p:nvSpPr>
        <p:spPr>
          <a:xfrm>
            <a:off x="548640" y="3090672"/>
            <a:ext cx="7863840" cy="1005840"/>
          </a:xfrm>
          <a:prstGeom prst="rect">
            <a:avLst/>
          </a:prstGeom>
          <a:noFill/>
          <a:ln/>
        </p:spPr>
        <p:txBody>
          <a:bodyPr wrap="square" lIns="0" tIns="0" rIns="0" bIns="0" rtlCol="0" anchor="t"/>
          <a:lstStyle/>
          <a:p>
            <a:pPr algn="l" indent="0" marL="0">
              <a:buNone/>
            </a:pPr>
            <a:r>
              <a:rPr lang="en-US" sz="1800" dirty="0">
                <a:solidFill>
                  <a:schemeClr val="bg2"/>
                </a:solidFill>
              </a:rPr>
              <a:t>On real Wi-Fi the agent fell to 0.3 Mbps, because the Wi-Fi stalls for 75 ms twice a second. Can it learn from recordings of that network?</a:t>
            </a:r>
            <a:endParaRPr lang="en-US" sz="1800" dirty="0"/>
          </a:p>
        </p:txBody>
      </p:sp>
      <p:sp>
        <p:nvSpPr>
          <p:cNvPr id="15"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endParaRPr lang="en-US" sz="4400" dirty="0"/>
          </a:p>
        </p:txBody>
      </p:sp>
      <p:sp>
        <p:nvSpPr>
          <p:cNvPr id="16"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STAGE 8 · LEARNING FROM WI-FI</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Training on recorded Wi-Fi: PPO-W</a:t>
            </a:r>
            <a:endParaRPr lang="en-US" sz="3600" dirty="0"/>
          </a:p>
        </p:txBody>
      </p:sp>
      <p:sp>
        <p:nvSpPr>
          <p:cNvPr id="5" name="Stage 1"/>
          <p:cNvSpPr txBox="1"/>
          <p:nvPr/>
        </p:nvSpPr>
        <p:spPr>
          <a:xfrm>
            <a:off x="65105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1</a:t>
            </a:r>
            <a:endParaRPr lang="en-US" sz="800" dirty="0"/>
          </a:p>
        </p:txBody>
      </p:sp>
      <p:sp>
        <p:nvSpPr>
          <p:cNvPr id="6" name="Stage 2"/>
          <p:cNvSpPr txBox="1"/>
          <p:nvPr/>
        </p:nvSpPr>
        <p:spPr>
          <a:xfrm>
            <a:off x="67848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2</a:t>
            </a:r>
            <a:endParaRPr lang="en-US" sz="800" dirty="0"/>
          </a:p>
        </p:txBody>
      </p:sp>
      <p:sp>
        <p:nvSpPr>
          <p:cNvPr id="7" name="Stage 3"/>
          <p:cNvSpPr txBox="1"/>
          <p:nvPr/>
        </p:nvSpPr>
        <p:spPr>
          <a:xfrm>
            <a:off x="705916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3</a:t>
            </a:r>
            <a:endParaRPr lang="en-US" sz="800" dirty="0"/>
          </a:p>
        </p:txBody>
      </p:sp>
      <p:sp>
        <p:nvSpPr>
          <p:cNvPr id="8" name="Stage 4"/>
          <p:cNvSpPr txBox="1"/>
          <p:nvPr/>
        </p:nvSpPr>
        <p:spPr>
          <a:xfrm>
            <a:off x="733348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4</a:t>
            </a:r>
            <a:endParaRPr lang="en-US" sz="800" dirty="0"/>
          </a:p>
        </p:txBody>
      </p:sp>
      <p:sp>
        <p:nvSpPr>
          <p:cNvPr id="9" name="Stage 5"/>
          <p:cNvSpPr txBox="1"/>
          <p:nvPr/>
        </p:nvSpPr>
        <p:spPr>
          <a:xfrm>
            <a:off x="760780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5</a:t>
            </a:r>
            <a:endParaRPr lang="en-US" sz="800" dirty="0"/>
          </a:p>
        </p:txBody>
      </p:sp>
      <p:sp>
        <p:nvSpPr>
          <p:cNvPr id="10" name="Stage 6"/>
          <p:cNvSpPr txBox="1"/>
          <p:nvPr/>
        </p:nvSpPr>
        <p:spPr>
          <a:xfrm>
            <a:off x="788212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6</a:t>
            </a:r>
            <a:endParaRPr lang="en-US" sz="800" dirty="0"/>
          </a:p>
        </p:txBody>
      </p:sp>
      <p:sp>
        <p:nvSpPr>
          <p:cNvPr id="11" name="Stage 7"/>
          <p:cNvSpPr txBox="1"/>
          <p:nvPr/>
        </p:nvSpPr>
        <p:spPr>
          <a:xfrm>
            <a:off x="8156448" y="274320"/>
            <a:ext cx="219456" cy="219456"/>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800" b="1" dirty="0">
                <a:solidFill>
                  <a:schemeClr val="bg1"/>
                </a:solidFill>
              </a:rPr>
              <a:t>7</a:t>
            </a:r>
            <a:endParaRPr lang="en-US" sz="800" dirty="0"/>
          </a:p>
        </p:txBody>
      </p:sp>
      <p:sp>
        <p:nvSpPr>
          <p:cNvPr id="12" name="Stage 8"/>
          <p:cNvSpPr txBox="1"/>
          <p:nvPr/>
        </p:nvSpPr>
        <p:spPr>
          <a:xfrm>
            <a:off x="8430768" y="274320"/>
            <a:ext cx="219456" cy="219456"/>
          </a:xfrm>
          <a:prstGeom prst="ellipse">
            <a:avLst/>
          </a:prstGeom>
          <a:solidFill>
            <a:schemeClr val="accent2"/>
          </a:solidFill>
          <a:ln w="9525">
            <a:solidFill>
              <a:schemeClr val="accent2"/>
            </a:solidFill>
          </a:ln>
        </p:spPr>
        <p:txBody>
          <a:bodyPr wrap="square" lIns="0" tIns="0" rIns="0" bIns="0" rtlCol="0" anchor="ctr"/>
          <a:lstStyle/>
          <a:p>
            <a:pPr algn="ctr" indent="0" marL="0">
              <a:buNone/>
            </a:pPr>
            <a:r>
              <a:rPr lang="en-US" sz="800" b="1" dirty="0">
                <a:solidFill>
                  <a:schemeClr val="bg1"/>
                </a:solidFill>
              </a:rPr>
              <a:t>8</a:t>
            </a:r>
            <a:endParaRPr lang="en-US" sz="800" dirty="0"/>
          </a:p>
        </p:txBody>
      </p:sp>
      <p:pic>
        <p:nvPicPr>
          <p:cNvPr id="13" name="Image 0" descr="Bar charts: each controller's throughput in the clean simulator, in the replay of the recorded Wi-Fi and on the real Wi-Fi, and its real RTT. PPO-W reaches 5.8 Mbps on real Wi-Fi.">    </p:cNvPr>
          <p:cNvPicPr>
            <a:picLocks noChangeAspect="1"/>
          </p:cNvPicPr>
          <p:nvPr/>
        </p:nvPicPr>
        <p:blipFill>
          <a:blip r:embed="rId1"/>
          <a:stretch>
            <a:fillRect/>
          </a:stretch>
        </p:blipFill>
        <p:spPr>
          <a:xfrm>
            <a:off x="457200" y="1654580"/>
            <a:ext cx="6035040" cy="2405841"/>
          </a:xfrm>
          <a:prstGeom prst="rect">
            <a:avLst/>
          </a:prstGeom>
        </p:spPr>
      </p:pic>
      <p:sp>
        <p:nvSpPr>
          <p:cNvPr id="14" name="Text 10"/>
          <p:cNvSpPr txBox="1"/>
          <p:nvPr/>
        </p:nvSpPr>
        <p:spPr>
          <a:xfrm>
            <a:off x="6720840" y="1234440"/>
            <a:ext cx="1965960" cy="502920"/>
          </a:xfrm>
          <a:prstGeom prst="rect">
            <a:avLst/>
          </a:prstGeom>
          <a:noFill/>
          <a:ln/>
        </p:spPr>
        <p:txBody>
          <a:bodyPr wrap="square" lIns="0" tIns="0" rIns="0" bIns="0" rtlCol="0" anchor="ctr"/>
          <a:lstStyle/>
          <a:p>
            <a:pPr algn="l" indent="0" marL="0">
              <a:buNone/>
            </a:pPr>
            <a:r>
              <a:rPr lang="en-US" sz="2600" b="1" dirty="0">
                <a:solidFill>
                  <a:schemeClr val="accent1"/>
                </a:solidFill>
              </a:rPr>
              <a:t>0.3 → 5.8</a:t>
            </a:r>
            <a:endParaRPr lang="en-US" sz="2600" dirty="0"/>
          </a:p>
        </p:txBody>
      </p:sp>
      <p:sp>
        <p:nvSpPr>
          <p:cNvPr id="15" name="Text 11"/>
          <p:cNvSpPr txBox="1"/>
          <p:nvPr/>
        </p:nvSpPr>
        <p:spPr>
          <a:xfrm>
            <a:off x="6720840" y="1755648"/>
            <a:ext cx="1965960" cy="411480"/>
          </a:xfrm>
          <a:prstGeom prst="rect">
            <a:avLst/>
          </a:prstGeom>
          <a:noFill/>
          <a:ln/>
        </p:spPr>
        <p:txBody>
          <a:bodyPr wrap="square" lIns="0" tIns="0" rIns="0" bIns="0" rtlCol="0" anchor="t"/>
          <a:lstStyle/>
          <a:p>
            <a:pPr algn="l" indent="0" marL="0">
              <a:buNone/>
            </a:pPr>
            <a:r>
              <a:rPr lang="en-US" sz="1200" dirty="0">
                <a:solidFill>
                  <a:schemeClr val="tx2"/>
                </a:solidFill>
              </a:rPr>
              <a:t>Mbps on real Wi-Fi, PPO → PPO-W</a:t>
            </a:r>
            <a:endParaRPr lang="en-US" sz="1200" dirty="0"/>
          </a:p>
        </p:txBody>
      </p:sp>
      <p:sp>
        <p:nvSpPr>
          <p:cNvPr id="16" name="Text 12"/>
          <p:cNvSpPr txBox="1"/>
          <p:nvPr/>
        </p:nvSpPr>
        <p:spPr>
          <a:xfrm>
            <a:off x="6720840" y="2286000"/>
            <a:ext cx="1965960" cy="502920"/>
          </a:xfrm>
          <a:prstGeom prst="rect">
            <a:avLst/>
          </a:prstGeom>
          <a:noFill/>
          <a:ln/>
        </p:spPr>
        <p:txBody>
          <a:bodyPr wrap="square" lIns="0" tIns="0" rIns="0" bIns="0" rtlCol="0" anchor="ctr"/>
          <a:lstStyle/>
          <a:p>
            <a:pPr algn="l" indent="0" marL="0">
              <a:buNone/>
            </a:pPr>
            <a:r>
              <a:rPr lang="en-US" sz="2600" b="1" dirty="0">
                <a:solidFill>
                  <a:schemeClr val="tx1"/>
                </a:solidFill>
              </a:rPr>
              <a:t>6.0</a:t>
            </a:r>
            <a:endParaRPr lang="en-US" sz="2600" dirty="0"/>
          </a:p>
        </p:txBody>
      </p:sp>
      <p:sp>
        <p:nvSpPr>
          <p:cNvPr id="17" name="Text 13"/>
          <p:cNvSpPr txBox="1"/>
          <p:nvPr/>
        </p:nvSpPr>
        <p:spPr>
          <a:xfrm>
            <a:off x="6720840" y="2807208"/>
            <a:ext cx="1965960" cy="320040"/>
          </a:xfrm>
          <a:prstGeom prst="rect">
            <a:avLst/>
          </a:prstGeom>
          <a:noFill/>
          <a:ln/>
        </p:spPr>
        <p:txBody>
          <a:bodyPr wrap="square" lIns="0" tIns="0" rIns="0" bIns="0" rtlCol="0" anchor="t"/>
          <a:lstStyle/>
          <a:p>
            <a:pPr algn="l" indent="0" marL="0">
              <a:buNone/>
            </a:pPr>
            <a:r>
              <a:rPr lang="en-US" sz="1200" dirty="0">
                <a:solidFill>
                  <a:schemeClr val="tx2"/>
                </a:solidFill>
              </a:rPr>
              <a:t>Mbps predicted by the replay</a:t>
            </a:r>
            <a:endParaRPr lang="en-US" sz="1200" dirty="0"/>
          </a:p>
        </p:txBody>
      </p:sp>
      <p:sp>
        <p:nvSpPr>
          <p:cNvPr id="18" name="Text 14"/>
          <p:cNvSpPr txBox="1"/>
          <p:nvPr/>
        </p:nvSpPr>
        <p:spPr>
          <a:xfrm>
            <a:off x="6720840" y="3200400"/>
            <a:ext cx="1965960" cy="502920"/>
          </a:xfrm>
          <a:prstGeom prst="rect">
            <a:avLst/>
          </a:prstGeom>
          <a:noFill/>
          <a:ln/>
        </p:spPr>
        <p:txBody>
          <a:bodyPr wrap="square" lIns="0" tIns="0" rIns="0" bIns="0" rtlCol="0" anchor="ctr"/>
          <a:lstStyle/>
          <a:p>
            <a:pPr algn="l" indent="0" marL="0">
              <a:buNone/>
            </a:pPr>
            <a:r>
              <a:rPr lang="en-US" sz="2600" b="1" dirty="0">
                <a:solidFill>
                  <a:schemeClr val="accent1"/>
                </a:solidFill>
              </a:rPr>
              <a:t>63 ms</a:t>
            </a:r>
            <a:endParaRPr lang="en-US" sz="2600" dirty="0"/>
          </a:p>
        </p:txBody>
      </p:sp>
      <p:sp>
        <p:nvSpPr>
          <p:cNvPr id="19" name="Text 15"/>
          <p:cNvSpPr txBox="1"/>
          <p:nvPr/>
        </p:nvSpPr>
        <p:spPr>
          <a:xfrm>
            <a:off x="6720840" y="3721608"/>
            <a:ext cx="1965960" cy="320040"/>
          </a:xfrm>
          <a:prstGeom prst="rect">
            <a:avLst/>
          </a:prstGeom>
          <a:noFill/>
          <a:ln/>
        </p:spPr>
        <p:txBody>
          <a:bodyPr wrap="square" lIns="0" tIns="0" rIns="0" bIns="0" rtlCol="0" anchor="t"/>
          <a:lstStyle/>
          <a:p>
            <a:pPr algn="l" indent="0" marL="0">
              <a:buNone/>
            </a:pPr>
            <a:r>
              <a:rPr lang="en-US" sz="1200" dirty="0">
                <a:solidFill>
                  <a:schemeClr val="tx2"/>
                </a:solidFill>
              </a:rPr>
              <a:t>RTT, vs 70 ms for CUBIC</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CONCLUSION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Live dashboard</a:t>
            </a:r>
            <a:endParaRPr lang="en-US" sz="3600" dirty="0"/>
          </a:p>
        </p:txBody>
      </p:sp>
      <p:pic>
        <p:nvPicPr>
          <p:cNvPr id="5" name="Image 0" descr="Dashboard charts: throughput, round-trip time, queue length and congestion window over time for CUBIC, BBR and PPO.">    </p:cNvPr>
          <p:cNvPicPr>
            <a:picLocks noChangeAspect="1"/>
          </p:cNvPicPr>
          <p:nvPr/>
        </p:nvPicPr>
        <p:blipFill>
          <a:blip r:embed="rId1"/>
          <a:stretch>
            <a:fillRect/>
          </a:stretch>
        </p:blipFill>
        <p:spPr>
          <a:xfrm>
            <a:off x="457200" y="1297745"/>
            <a:ext cx="4572000" cy="3165231"/>
          </a:xfrm>
          <a:prstGeom prst="rect">
            <a:avLst/>
          </a:prstGeom>
        </p:spPr>
      </p:pic>
      <p:sp>
        <p:nvSpPr>
          <p:cNvPr id="6" name="Text 2"/>
          <p:cNvSpPr txBox="1"/>
          <p:nvPr/>
        </p:nvSpPr>
        <p:spPr>
          <a:xfrm>
            <a:off x="5303520" y="1325880"/>
            <a:ext cx="3383280" cy="25146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Network presets, or set bandwidth, delay, queue size and loss by hand</a:t>
            </a:r>
            <a:endParaRPr lang="en-US" sz="1400" dirty="0"/>
          </a:p>
          <a:p>
            <a:pPr algn="l" marL="342900" indent="-342900">
              <a:spcAft>
                <a:spcPts val="600"/>
              </a:spcAft>
              <a:buSzPct val="100000"/>
              <a:buChar char="•"/>
            </a:pPr>
            <a:r>
              <a:rPr lang="en-US" sz="1400" dirty="0">
                <a:solidFill>
                  <a:schemeClr val="tx1"/>
                </a:solidFill>
              </a:rPr>
              <a:t>Up to four controllers, side by side or competing on one link</a:t>
            </a:r>
            <a:endParaRPr lang="en-US" sz="1400" dirty="0"/>
          </a:p>
          <a:p>
            <a:pPr algn="l" marL="342900" indent="-342900">
              <a:spcAft>
                <a:spcPts val="600"/>
              </a:spcAft>
              <a:buSzPct val="100000"/>
              <a:buChar char="•"/>
            </a:pPr>
            <a:r>
              <a:rPr lang="en-US" sz="1400" dirty="0">
                <a:solidFill>
                  <a:schemeClr val="tx1"/>
                </a:solidFill>
              </a:rPr>
              <a:t>Throughput, RTT, queue and window update while it runs</a:t>
            </a:r>
            <a:endParaRPr lang="en-US" sz="1400" dirty="0"/>
          </a:p>
          <a:p>
            <a:pPr algn="l" marL="342900" indent="-342900">
              <a:spcAft>
                <a:spcPts val="600"/>
              </a:spcAft>
              <a:buSzPct val="100000"/>
              <a:buChar char="•"/>
            </a:pPr>
            <a:r>
              <a:rPr lang="en-US" sz="1400" dirty="0">
                <a:solidFill>
                  <a:schemeClr val="tx1"/>
                </a:solidFill>
              </a:rPr>
              <a:t>Summary table and Jain fairness index after each run</a:t>
            </a:r>
            <a:endParaRPr lang="en-US" sz="1400" dirty="0"/>
          </a:p>
        </p:txBody>
      </p:sp>
      <p:sp>
        <p:nvSpPr>
          <p:cNvPr id="7" name="Run command"/>
          <p:cNvSpPr txBox="1"/>
          <p:nvPr/>
        </p:nvSpPr>
        <p:spPr>
          <a:xfrm>
            <a:off x="5303520" y="3977640"/>
            <a:ext cx="3383280" cy="457200"/>
          </a:xfrm>
          <a:prstGeom prst="roundRect">
            <a:avLst>
              <a:gd name="adj" fmla="val 16000"/>
            </a:avLst>
          </a:prstGeom>
          <a:solidFill>
            <a:schemeClr val="bg2"/>
          </a:solidFill>
          <a:ln w="6350">
            <a:solidFill>
              <a:schemeClr val="bg2"/>
            </a:solidFill>
          </a:ln>
        </p:spPr>
        <p:txBody>
          <a:bodyPr wrap="square" lIns="762" tIns="762" rIns="762" bIns="762" rtlCol="0" anchor="ctr"/>
          <a:lstStyle/>
          <a:p>
            <a:pPr algn="ctr" indent="0" marL="0">
              <a:buNone/>
            </a:pPr>
            <a:r>
              <a:rPr lang="en-US" sz="1300" b="1" dirty="0">
                <a:solidFill>
                  <a:schemeClr val="tx1"/>
                </a:solidFill>
              </a:rPr>
              <a:t>streamlit run dashboard/app.py</a:t>
            </a:r>
            <a:endParaRPr lang="en-US" sz="13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CONCLUSION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What each stage achieved</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685800"/>
                <a:gridCol w="2514600"/>
                <a:gridCol w="3108960"/>
                <a:gridCol w="1920240"/>
              </a:tblGrid>
              <a:tr h="347472">
                <a:tc>
                  <a:txBody>
                    <a:bodyPr/>
                    <a:lstStyle/>
                    <a:p>
                      <a:pPr algn="l" indent="0" marL="0">
                        <a:buNone/>
                      </a:pPr>
                      <a:r>
                        <a:rPr lang="en-US" sz="1200" b="1" dirty="0">
                          <a:solidFill>
                            <a:schemeClr val="bg1"/>
                          </a:solidFill>
                        </a:rPr>
                        <a:t>Stage</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What we did</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What we found</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What it led to</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r>
              <a:tr h="347472">
                <a:tc>
                  <a:txBody>
                    <a:bodyPr/>
                    <a:lstStyle/>
                    <a:p>
                      <a:pPr algn="l" indent="0" marL="0">
                        <a:buNone/>
                      </a:pPr>
                      <a:r>
                        <a:rPr lang="en-US" sz="1200" b="1" dirty="0">
                          <a:solidFill>
                            <a:schemeClr val="tx1"/>
                          </a:solidFill>
                        </a:rPr>
                        <a:t>1</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Simulator; Reno, CUBIC, BBR</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Queues kept full; CUBIC 3.7 Mbps at 1% loss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Two weaknesses to fix</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2</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Loss classifier inside CUBIC</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9.6 Mbps at 5% loss (CUBIC 1.6); fair</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Random loss fixed</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3</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LSTM forecast of the RTT</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12% better than the last value</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A modest gain</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4</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PPO agent sets the rate</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98.8% of capacity at 1.07× base RTT</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Full queues fixed, alone</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5</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Six controllers compared</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b="1" dirty="0">
                          <a:solidFill>
                            <a:schemeClr val="tx1"/>
                          </a:solidFill>
                        </a:rPr>
                        <a:t>Agent gets 2% beside CUBIC</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Fix the agent</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6</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PPO-Switch; PPO-J</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47% beside CUBIC; 99% at 4 ms jitter</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Test for real</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7</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Real Wi-Fi, two laptops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b="1" dirty="0">
                          <a:solidFill>
                            <a:schemeClr val="tx1"/>
                          </a:solidFill>
                        </a:rPr>
                        <a:t>ML and fairness hold; agent 0.3 Mbps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Learn from the network</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8</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PPO-W on 29 min of Wi-Fi</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5.8 Mbps real (6.0 predicted)</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l" indent="0" marL="0">
                        <a:buNone/>
                      </a:pPr>
                      <a:r>
                        <a:rPr lang="en-US" sz="1200" dirty="0">
                          <a:solidFill>
                            <a:schemeClr val="tx1"/>
                          </a:solidFill>
                        </a:rPr>
                        <a:t>The conclusions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CONCLUSION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The numbers at a glance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377440"/>
                <a:gridCol w="731520"/>
                <a:gridCol w="731520"/>
                <a:gridCol w="731520"/>
                <a:gridCol w="914400"/>
                <a:gridCol w="731520"/>
                <a:gridCol w="1005840"/>
                <a:gridCol w="1005840"/>
              </a:tblGrid>
              <a:tr h="347472">
                <a:tc>
                  <a:txBody>
                    <a:bodyPr/>
                    <a:lstStyle/>
                    <a:p>
                      <a:pPr algn="l" indent="0" marL="0">
                        <a:buNone/>
                      </a:pPr>
                      <a:r>
                        <a:rPr lang="en-US" sz="1200" b="1" dirty="0">
                          <a:solidFill>
                            <a:schemeClr val="bg1"/>
                          </a:solidFill>
                        </a:rPr>
                        <a:t>Measure</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Reno</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CUBIC</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BBR</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CUBIC+ML</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PPO</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CUBIC+PPO</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PPO-Switch</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1"/>
                    </a:solidFill>
                  </a:tcPr>
                </a:tc>
              </a:tr>
              <a:tr h="347472">
                <a:tc>
                  <a:txBody>
                    <a:bodyPr/>
                    <a:lstStyle/>
                    <a:p>
                      <a:pPr algn="l" indent="0" marL="0">
                        <a:buNone/>
                      </a:pPr>
                      <a:r>
                        <a:rPr lang="en-US" sz="1200" b="1" dirty="0">
                          <a:solidFill>
                            <a:schemeClr val="tx1"/>
                          </a:solidFill>
                        </a:rPr>
                        <a:t>Utilisation, 30 unseen links (%)</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81.6</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83.2</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98.3</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99.5</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98.8</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95.8</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98.5</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Average RTT ÷ base RTT</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1.63</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1.77</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1.18</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1.88</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1.07</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1.15</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1.17</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Mbps at 5% random loss (of 10)</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1.7</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1.6</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9.5</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9.6</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9.5</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4.4</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9.7</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r>
              <a:tr h="347472">
                <a:tc>
                  <a:txBody>
                    <a:bodyPr/>
                    <a:lstStyle/>
                    <a:p>
                      <a:pPr algn="l" indent="0" marL="0">
                        <a:buNone/>
                      </a:pPr>
                      <a:r>
                        <a:rPr lang="en-US" sz="1200" b="1" dirty="0">
                          <a:solidFill>
                            <a:schemeClr val="tx1"/>
                          </a:solidFill>
                        </a:rPr>
                        <a:t>Share beside one CUBIC flow (%)</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42</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50</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61</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51</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2</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5</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47</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Jain index, two of its own kind</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1.000</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1.000</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0.999</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1.000</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0.609</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0.992</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0.645</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Utilisation with 4 ms jitter (%)</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99.7</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100.0</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98.1</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chemeClr val="tx1"/>
                          </a:solidFill>
                        </a:rPr>
                        <a:t>100.0</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2.8</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22.9</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99.2</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347472">
                <a:tc>
                  <a:txBody>
                    <a:bodyPr/>
                    <a:lstStyle/>
                    <a:p>
                      <a:pPr algn="l" indent="0" marL="0">
                        <a:buNone/>
                      </a:pPr>
                      <a:r>
                        <a:rPr lang="en-US" sz="1200" b="1" dirty="0">
                          <a:solidFill>
                            <a:schemeClr val="tx1"/>
                          </a:solidFill>
                        </a:rPr>
                        <a:t>Real Wi-Fi, alone (Mbps)</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7.6</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8.6</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9.4*</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8.8</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0.3</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1.2</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chemeClr val="tx1"/>
                          </a:solidFill>
                        </a:rPr>
                        <a:t>3.6</a:t>
                      </a:r>
                      <a:endParaRPr lang="en-US" sz="1200" dirty="0"/>
                    </a:p>
                  </a:txBody>
                  <a:tcPr marL="91440" marR="91440" marT="27432" marB="2743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6" name="Text 2"/>
          <p:cNvSpPr txBox="1"/>
          <p:nvPr/>
        </p:nvSpPr>
        <p:spPr>
          <a:xfrm>
            <a:off x="457200" y="4206240"/>
            <a:ext cx="8229600" cy="274320"/>
          </a:xfrm>
          <a:prstGeom prst="rect">
            <a:avLst/>
          </a:prstGeom>
          <a:noFill/>
          <a:ln/>
        </p:spPr>
        <p:txBody>
          <a:bodyPr wrap="square" lIns="0" tIns="0" rIns="0" bIns="0" rtlCol="0" anchor="ctr"/>
          <a:lstStyle/>
          <a:p>
            <a:pPr algn="l" indent="0" marL="0">
              <a:buNone/>
            </a:pPr>
            <a:r>
              <a:rPr lang="en-US" sz="1200" dirty="0">
                <a:solidFill>
                  <a:schemeClr val="tx2"/>
                </a:solidFill>
              </a:rPr>
              <a:t>Shaded = best in the row. For sharing, best means closest to an equal 50%. *BBR lost 33% of its packets on real Wi-Fi.</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CONCLUSION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Limitations</a:t>
            </a:r>
            <a:endParaRPr lang="en-US" sz="3600" dirty="0"/>
          </a:p>
        </p:txBody>
      </p:sp>
      <p:sp>
        <p:nvSpPr>
          <p:cNvPr id="5" name="Limit card 1"/>
          <p:cNvSpPr/>
          <p:nvPr/>
        </p:nvSpPr>
        <p:spPr>
          <a:xfrm>
            <a:off x="457200" y="1371600"/>
            <a:ext cx="2624328" cy="1325880"/>
          </a:xfrm>
          <a:prstGeom prst="roundRect">
            <a:avLst>
              <a:gd name="adj" fmla="val 5517"/>
            </a:avLst>
          </a:prstGeom>
          <a:solidFill>
            <a:schemeClr val="bg2"/>
          </a:solidFill>
          <a:ln w="6350">
            <a:solidFill>
              <a:schemeClr val="bg2"/>
            </a:solidFill>
            <a:prstDash val="solid"/>
          </a:ln>
        </p:spPr>
      </p:sp>
      <p:sp>
        <p:nvSpPr>
          <p:cNvPr id="6" name="Text 3"/>
          <p:cNvSpPr txBox="1"/>
          <p:nvPr/>
        </p:nvSpPr>
        <p:spPr>
          <a:xfrm>
            <a:off x="640080" y="1481328"/>
            <a:ext cx="2258568" cy="320040"/>
          </a:xfrm>
          <a:prstGeom prst="rect">
            <a:avLst/>
          </a:prstGeom>
          <a:noFill/>
          <a:ln/>
        </p:spPr>
        <p:txBody>
          <a:bodyPr wrap="square" lIns="0" tIns="0" rIns="0" bIns="0" rtlCol="0" anchor="ctr"/>
          <a:lstStyle/>
          <a:p>
            <a:pPr algn="l" indent="0" marL="0">
              <a:buNone/>
            </a:pPr>
            <a:r>
              <a:rPr lang="en-US" sz="1500" b="1" dirty="0">
                <a:solidFill>
                  <a:schemeClr val="tx1"/>
                </a:solidFill>
              </a:rPr>
              <a:t>One real network</a:t>
            </a:r>
            <a:endParaRPr lang="en-US" sz="1500" dirty="0"/>
          </a:p>
        </p:txBody>
      </p:sp>
      <p:sp>
        <p:nvSpPr>
          <p:cNvPr id="7" name="Text 4"/>
          <p:cNvSpPr txBox="1"/>
          <p:nvPr/>
        </p:nvSpPr>
        <p:spPr>
          <a:xfrm>
            <a:off x="640080" y="1847088"/>
            <a:ext cx="2258568" cy="777240"/>
          </a:xfrm>
          <a:prstGeom prst="rect">
            <a:avLst/>
          </a:prstGeom>
          <a:noFill/>
          <a:ln/>
        </p:spPr>
        <p:txBody>
          <a:bodyPr wrap="square" lIns="0" tIns="0" rIns="0" bIns="0" rtlCol="0" anchor="t"/>
          <a:lstStyle/>
          <a:p>
            <a:pPr algn="l" indent="0" marL="0">
              <a:buNone/>
            </a:pPr>
            <a:r>
              <a:rPr lang="en-US" sz="1400" dirty="0">
                <a:solidFill>
                  <a:schemeClr val="tx2"/>
                </a:solidFill>
              </a:rPr>
              <a:t>The Wi-Fi test covers one path, in user-space UDP; PPO-W is trained on it.</a:t>
            </a:r>
            <a:endParaRPr lang="en-US" sz="1400" dirty="0"/>
          </a:p>
        </p:txBody>
      </p:sp>
      <p:sp>
        <p:nvSpPr>
          <p:cNvPr id="8" name="Limit card 2"/>
          <p:cNvSpPr/>
          <p:nvPr/>
        </p:nvSpPr>
        <p:spPr>
          <a:xfrm>
            <a:off x="3264408" y="1371600"/>
            <a:ext cx="2624328" cy="1325880"/>
          </a:xfrm>
          <a:prstGeom prst="roundRect">
            <a:avLst>
              <a:gd name="adj" fmla="val 5517"/>
            </a:avLst>
          </a:prstGeom>
          <a:solidFill>
            <a:schemeClr val="bg2"/>
          </a:solidFill>
          <a:ln w="6350">
            <a:solidFill>
              <a:schemeClr val="bg2"/>
            </a:solidFill>
            <a:prstDash val="solid"/>
          </a:ln>
        </p:spPr>
      </p:sp>
      <p:sp>
        <p:nvSpPr>
          <p:cNvPr id="9" name="Text 6"/>
          <p:cNvSpPr txBox="1"/>
          <p:nvPr/>
        </p:nvSpPr>
        <p:spPr>
          <a:xfrm>
            <a:off x="3447288" y="1481328"/>
            <a:ext cx="2258568" cy="320040"/>
          </a:xfrm>
          <a:prstGeom prst="rect">
            <a:avLst/>
          </a:prstGeom>
          <a:noFill/>
          <a:ln/>
        </p:spPr>
        <p:txBody>
          <a:bodyPr wrap="square" lIns="0" tIns="0" rIns="0" bIns="0" rtlCol="0" anchor="ctr"/>
          <a:lstStyle/>
          <a:p>
            <a:pPr algn="l" indent="0" marL="0">
              <a:buNone/>
            </a:pPr>
            <a:r>
              <a:rPr lang="en-US" sz="1500" b="1" dirty="0">
                <a:solidFill>
                  <a:schemeClr val="tx1"/>
                </a:solidFill>
              </a:rPr>
              <a:t>Two learned flows</a:t>
            </a:r>
            <a:endParaRPr lang="en-US" sz="1500" dirty="0"/>
          </a:p>
        </p:txBody>
      </p:sp>
      <p:sp>
        <p:nvSpPr>
          <p:cNvPr id="10" name="Text 7"/>
          <p:cNvSpPr txBox="1"/>
          <p:nvPr/>
        </p:nvSpPr>
        <p:spPr>
          <a:xfrm>
            <a:off x="3447288" y="1847088"/>
            <a:ext cx="2258568" cy="777240"/>
          </a:xfrm>
          <a:prstGeom prst="rect">
            <a:avLst/>
          </a:prstGeom>
          <a:noFill/>
          <a:ln/>
        </p:spPr>
        <p:txBody>
          <a:bodyPr wrap="square" lIns="0" tIns="0" rIns="0" bIns="0" rtlCol="0" anchor="t"/>
          <a:lstStyle/>
          <a:p>
            <a:pPr algn="l" indent="0" marL="0">
              <a:buNone/>
            </a:pPr>
            <a:r>
              <a:rPr lang="en-US" sz="1400" dirty="0">
                <a:solidFill>
                  <a:schemeClr val="tx2"/>
                </a:solidFill>
              </a:rPr>
              <a:t>PPO-Switch fixes sharing with CUBIC; two learned flows still split a link unevenly.</a:t>
            </a:r>
            <a:endParaRPr lang="en-US" sz="1400" dirty="0"/>
          </a:p>
        </p:txBody>
      </p:sp>
      <p:sp>
        <p:nvSpPr>
          <p:cNvPr id="11" name="Limit card 3"/>
          <p:cNvSpPr/>
          <p:nvPr/>
        </p:nvSpPr>
        <p:spPr>
          <a:xfrm>
            <a:off x="6071616" y="1371600"/>
            <a:ext cx="2624328" cy="1325880"/>
          </a:xfrm>
          <a:prstGeom prst="roundRect">
            <a:avLst>
              <a:gd name="adj" fmla="val 5517"/>
            </a:avLst>
          </a:prstGeom>
          <a:solidFill>
            <a:schemeClr val="bg2"/>
          </a:solidFill>
          <a:ln w="6350">
            <a:solidFill>
              <a:schemeClr val="bg2"/>
            </a:solidFill>
            <a:prstDash val="solid"/>
          </a:ln>
        </p:spPr>
      </p:sp>
      <p:sp>
        <p:nvSpPr>
          <p:cNvPr id="12" name="Text 9"/>
          <p:cNvSpPr txBox="1"/>
          <p:nvPr/>
        </p:nvSpPr>
        <p:spPr>
          <a:xfrm>
            <a:off x="6254496" y="1481328"/>
            <a:ext cx="2258568" cy="320040"/>
          </a:xfrm>
          <a:prstGeom prst="rect">
            <a:avLst/>
          </a:prstGeom>
          <a:noFill/>
          <a:ln/>
        </p:spPr>
        <p:txBody>
          <a:bodyPr wrap="square" lIns="0" tIns="0" rIns="0" bIns="0" rtlCol="0" anchor="ctr"/>
          <a:lstStyle/>
          <a:p>
            <a:pPr algn="l" indent="0" marL="0">
              <a:buNone/>
            </a:pPr>
            <a:r>
              <a:rPr lang="en-US" sz="1500" b="1" dirty="0">
                <a:solidFill>
                  <a:schemeClr val="tx1"/>
                </a:solidFill>
              </a:rPr>
              <a:t>The hybrid is not robust</a:t>
            </a:r>
            <a:endParaRPr lang="en-US" sz="1500" dirty="0"/>
          </a:p>
        </p:txBody>
      </p:sp>
      <p:sp>
        <p:nvSpPr>
          <p:cNvPr id="13" name="Text 10"/>
          <p:cNvSpPr txBox="1"/>
          <p:nvPr/>
        </p:nvSpPr>
        <p:spPr>
          <a:xfrm>
            <a:off x="6254496" y="1847088"/>
            <a:ext cx="2258568" cy="777240"/>
          </a:xfrm>
          <a:prstGeom prst="rect">
            <a:avLst/>
          </a:prstGeom>
          <a:noFill/>
          <a:ln/>
        </p:spPr>
        <p:txBody>
          <a:bodyPr wrap="square" lIns="0" tIns="0" rIns="0" bIns="0" rtlCol="0" anchor="t"/>
          <a:lstStyle/>
          <a:p>
            <a:pPr algn="l" indent="0" marL="0">
              <a:buNone/>
            </a:pPr>
            <a:r>
              <a:rPr lang="en-US" sz="1400" dirty="0">
                <a:solidFill>
                  <a:schemeClr val="tx2"/>
                </a:solidFill>
              </a:rPr>
              <a:t>CUBIC+PPO fails at 8% loss and with very small buffers.</a:t>
            </a:r>
            <a:endParaRPr lang="en-US" sz="1400" dirty="0"/>
          </a:p>
        </p:txBody>
      </p:sp>
      <p:sp>
        <p:nvSpPr>
          <p:cNvPr id="14" name="Limit card 4"/>
          <p:cNvSpPr/>
          <p:nvPr/>
        </p:nvSpPr>
        <p:spPr>
          <a:xfrm>
            <a:off x="457200" y="2880360"/>
            <a:ext cx="2624328" cy="1325880"/>
          </a:xfrm>
          <a:prstGeom prst="roundRect">
            <a:avLst>
              <a:gd name="adj" fmla="val 5517"/>
            </a:avLst>
          </a:prstGeom>
          <a:solidFill>
            <a:schemeClr val="bg2"/>
          </a:solidFill>
          <a:ln w="6350">
            <a:solidFill>
              <a:schemeClr val="bg2"/>
            </a:solidFill>
            <a:prstDash val="solid"/>
          </a:ln>
        </p:spPr>
      </p:sp>
      <p:sp>
        <p:nvSpPr>
          <p:cNvPr id="15" name="Text 12"/>
          <p:cNvSpPr txBox="1"/>
          <p:nvPr/>
        </p:nvSpPr>
        <p:spPr>
          <a:xfrm>
            <a:off x="640080" y="2990088"/>
            <a:ext cx="2258568" cy="320040"/>
          </a:xfrm>
          <a:prstGeom prst="rect">
            <a:avLst/>
          </a:prstGeom>
          <a:noFill/>
          <a:ln/>
        </p:spPr>
        <p:txBody>
          <a:bodyPr wrap="square" lIns="0" tIns="0" rIns="0" bIns="0" rtlCol="0" anchor="ctr"/>
          <a:lstStyle/>
          <a:p>
            <a:pPr algn="l" indent="0" marL="0">
              <a:buNone/>
            </a:pPr>
            <a:r>
              <a:rPr lang="en-US" sz="1500" b="1" dirty="0">
                <a:solidFill>
                  <a:schemeClr val="tx1"/>
                </a:solidFill>
              </a:rPr>
              <a:t>Below CUBIC on Wi-Fi</a:t>
            </a:r>
            <a:endParaRPr lang="en-US" sz="1500" dirty="0"/>
          </a:p>
        </p:txBody>
      </p:sp>
      <p:sp>
        <p:nvSpPr>
          <p:cNvPr id="16" name="Text 13"/>
          <p:cNvSpPr txBox="1"/>
          <p:nvPr/>
        </p:nvSpPr>
        <p:spPr>
          <a:xfrm>
            <a:off x="640080" y="3355848"/>
            <a:ext cx="2258568" cy="777240"/>
          </a:xfrm>
          <a:prstGeom prst="rect">
            <a:avLst/>
          </a:prstGeom>
          <a:noFill/>
          <a:ln/>
        </p:spPr>
        <p:txBody>
          <a:bodyPr wrap="square" lIns="0" tIns="0" rIns="0" bIns="0" rtlCol="0" anchor="t"/>
          <a:lstStyle/>
          <a:p>
            <a:pPr algn="l" indent="0" marL="0">
              <a:buNone/>
            </a:pPr>
            <a:r>
              <a:rPr lang="en-US" sz="1400" dirty="0">
                <a:solidFill>
                  <a:schemeClr val="tx2"/>
                </a:solidFill>
              </a:rPr>
              <a:t>PPO-W gets 5.8 Mbps against CUBIC's 8.6 there, with less delay.</a:t>
            </a:r>
            <a:endParaRPr lang="en-US" sz="1400" dirty="0"/>
          </a:p>
        </p:txBody>
      </p:sp>
      <p:sp>
        <p:nvSpPr>
          <p:cNvPr id="17" name="Limit card 5"/>
          <p:cNvSpPr/>
          <p:nvPr/>
        </p:nvSpPr>
        <p:spPr>
          <a:xfrm>
            <a:off x="3264408" y="2880360"/>
            <a:ext cx="2624328" cy="1325880"/>
          </a:xfrm>
          <a:prstGeom prst="roundRect">
            <a:avLst>
              <a:gd name="adj" fmla="val 5517"/>
            </a:avLst>
          </a:prstGeom>
          <a:solidFill>
            <a:schemeClr val="bg2"/>
          </a:solidFill>
          <a:ln w="6350">
            <a:solidFill>
              <a:schemeClr val="bg2"/>
            </a:solidFill>
            <a:prstDash val="solid"/>
          </a:ln>
        </p:spPr>
      </p:sp>
      <p:sp>
        <p:nvSpPr>
          <p:cNvPr id="18" name="Text 15"/>
          <p:cNvSpPr txBox="1"/>
          <p:nvPr/>
        </p:nvSpPr>
        <p:spPr>
          <a:xfrm>
            <a:off x="3447288" y="2990088"/>
            <a:ext cx="2258568" cy="320040"/>
          </a:xfrm>
          <a:prstGeom prst="rect">
            <a:avLst/>
          </a:prstGeom>
          <a:noFill/>
          <a:ln/>
        </p:spPr>
        <p:txBody>
          <a:bodyPr wrap="square" lIns="0" tIns="0" rIns="0" bIns="0" rtlCol="0" anchor="ctr"/>
          <a:lstStyle/>
          <a:p>
            <a:pPr algn="l" indent="0" marL="0">
              <a:buNone/>
            </a:pPr>
            <a:r>
              <a:rPr lang="en-US" sz="1500" b="1" dirty="0">
                <a:solidFill>
                  <a:schemeClr val="tx1"/>
                </a:solidFill>
              </a:rPr>
              <a:t>One run per policy</a:t>
            </a:r>
            <a:endParaRPr lang="en-US" sz="1500" dirty="0"/>
          </a:p>
        </p:txBody>
      </p:sp>
      <p:sp>
        <p:nvSpPr>
          <p:cNvPr id="19" name="Text 16"/>
          <p:cNvSpPr txBox="1"/>
          <p:nvPr/>
        </p:nvSpPr>
        <p:spPr>
          <a:xfrm>
            <a:off x="3447288" y="3355848"/>
            <a:ext cx="2258568" cy="777240"/>
          </a:xfrm>
          <a:prstGeom prst="rect">
            <a:avLst/>
          </a:prstGeom>
          <a:noFill/>
          <a:ln/>
        </p:spPr>
        <p:txBody>
          <a:bodyPr wrap="square" lIns="0" tIns="0" rIns="0" bIns="0" rtlCol="0" anchor="t"/>
          <a:lstStyle/>
          <a:p>
            <a:pPr algn="l" indent="0" marL="0">
              <a:buNone/>
            </a:pPr>
            <a:r>
              <a:rPr lang="en-US" sz="1400" dirty="0">
                <a:solidFill>
                  <a:schemeClr val="tx2"/>
                </a:solidFill>
              </a:rPr>
              <a:t>Small gaps between variants could change with another seed.</a:t>
            </a:r>
            <a:endParaRPr lang="en-US" sz="1400" dirty="0"/>
          </a:p>
        </p:txBody>
      </p:sp>
      <p:sp>
        <p:nvSpPr>
          <p:cNvPr id="20" name="Limit card 6"/>
          <p:cNvSpPr/>
          <p:nvPr/>
        </p:nvSpPr>
        <p:spPr>
          <a:xfrm>
            <a:off x="6071616" y="2880360"/>
            <a:ext cx="2624328" cy="1325880"/>
          </a:xfrm>
          <a:prstGeom prst="roundRect">
            <a:avLst>
              <a:gd name="adj" fmla="val 5517"/>
            </a:avLst>
          </a:prstGeom>
          <a:solidFill>
            <a:schemeClr val="bg2"/>
          </a:solidFill>
          <a:ln w="6350">
            <a:solidFill>
              <a:schemeClr val="bg2"/>
            </a:solidFill>
            <a:prstDash val="solid"/>
          </a:ln>
        </p:spPr>
      </p:sp>
      <p:sp>
        <p:nvSpPr>
          <p:cNvPr id="21" name="Text 18"/>
          <p:cNvSpPr txBox="1"/>
          <p:nvPr/>
        </p:nvSpPr>
        <p:spPr>
          <a:xfrm>
            <a:off x="6254496" y="2990088"/>
            <a:ext cx="2258568" cy="320040"/>
          </a:xfrm>
          <a:prstGeom prst="rect">
            <a:avLst/>
          </a:prstGeom>
          <a:noFill/>
          <a:ln/>
        </p:spPr>
        <p:txBody>
          <a:bodyPr wrap="square" lIns="0" tIns="0" rIns="0" bIns="0" rtlCol="0" anchor="ctr"/>
          <a:lstStyle/>
          <a:p>
            <a:pPr algn="l" indent="0" marL="0">
              <a:buNone/>
            </a:pPr>
            <a:r>
              <a:rPr lang="en-US" sz="1500" b="1" dirty="0">
                <a:solidFill>
                  <a:schemeClr val="tx1"/>
                </a:solidFill>
              </a:rPr>
              <a:t>LSTM not used for control</a:t>
            </a:r>
            <a:endParaRPr lang="en-US" sz="1500" dirty="0"/>
          </a:p>
        </p:txBody>
      </p:sp>
      <p:sp>
        <p:nvSpPr>
          <p:cNvPr id="22" name="Text 19"/>
          <p:cNvSpPr txBox="1"/>
          <p:nvPr/>
        </p:nvSpPr>
        <p:spPr>
          <a:xfrm>
            <a:off x="6254496" y="3355848"/>
            <a:ext cx="2258568" cy="777240"/>
          </a:xfrm>
          <a:prstGeom prst="rect">
            <a:avLst/>
          </a:prstGeom>
          <a:noFill/>
          <a:ln/>
        </p:spPr>
        <p:txBody>
          <a:bodyPr wrap="square" lIns="0" tIns="0" rIns="0" bIns="0" rtlCol="0" anchor="t"/>
          <a:lstStyle/>
          <a:p>
            <a:pPr algn="l" indent="0" marL="0">
              <a:buNone/>
            </a:pPr>
            <a:r>
              <a:rPr lang="en-US" sz="1400" dirty="0">
                <a:solidFill>
                  <a:schemeClr val="tx2"/>
                </a:solidFill>
              </a:rPr>
              <a:t>Its gain is modest and no controller uses it yet.</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CONCLUSION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bg1"/>
                </a:solidFill>
              </a:rPr>
              <a:t>What we take from this project</a:t>
            </a:r>
            <a:endParaRPr lang="en-US" sz="3600" dirty="0"/>
          </a:p>
        </p:txBody>
      </p:sp>
      <p:sp>
        <p:nvSpPr>
          <p:cNvPr id="5" name="Lesson card 1"/>
          <p:cNvSpPr/>
          <p:nvPr/>
        </p:nvSpPr>
        <p:spPr>
          <a:xfrm>
            <a:off x="457200" y="1261872"/>
            <a:ext cx="2624328" cy="1280160"/>
          </a:xfrm>
          <a:prstGeom prst="roundRect">
            <a:avLst>
              <a:gd name="adj" fmla="val 5714"/>
            </a:avLst>
          </a:prstGeom>
          <a:solidFill>
            <a:schemeClr val="accent4"/>
          </a:solidFill>
          <a:ln w="6350">
            <a:solidFill>
              <a:schemeClr val="accent4"/>
            </a:solidFill>
            <a:prstDash val="solid"/>
          </a:ln>
        </p:spPr>
      </p:sp>
      <p:sp>
        <p:nvSpPr>
          <p:cNvPr id="6" name="Text 3"/>
          <p:cNvSpPr txBox="1"/>
          <p:nvPr/>
        </p:nvSpPr>
        <p:spPr>
          <a:xfrm>
            <a:off x="594360" y="1399032"/>
            <a:ext cx="329184" cy="32918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024128" y="1380744"/>
            <a:ext cx="1965960" cy="365760"/>
          </a:xfrm>
          <a:prstGeom prst="rect">
            <a:avLst/>
          </a:prstGeom>
          <a:noFill/>
          <a:ln/>
        </p:spPr>
        <p:txBody>
          <a:bodyPr wrap="square" lIns="0" tIns="0" rIns="0" bIns="0" rtlCol="0" anchor="ctr"/>
          <a:lstStyle/>
          <a:p>
            <a:pPr algn="l" indent="0" marL="0">
              <a:buNone/>
            </a:pPr>
            <a:r>
              <a:rPr lang="en-US" sz="1400" b="1" dirty="0">
                <a:solidFill>
                  <a:schemeClr val="bg1"/>
                </a:solidFill>
              </a:rPr>
              <a:t>Small and inside</a:t>
            </a:r>
            <a:endParaRPr lang="en-US" sz="1400" dirty="0"/>
          </a:p>
        </p:txBody>
      </p:sp>
      <p:sp>
        <p:nvSpPr>
          <p:cNvPr id="8" name="Text 5"/>
          <p:cNvSpPr txBox="1"/>
          <p:nvPr/>
        </p:nvSpPr>
        <p:spPr>
          <a:xfrm>
            <a:off x="640080" y="1810512"/>
            <a:ext cx="2286000" cy="685800"/>
          </a:xfrm>
          <a:prstGeom prst="rect">
            <a:avLst/>
          </a:prstGeom>
          <a:noFill/>
          <a:ln/>
        </p:spPr>
        <p:txBody>
          <a:bodyPr wrap="square" lIns="0" tIns="0" rIns="0" bIns="0" rtlCol="0" anchor="t"/>
          <a:lstStyle/>
          <a:p>
            <a:pPr algn="l" indent="0" marL="0">
              <a:buNone/>
            </a:pPr>
            <a:r>
              <a:rPr lang="en-US" sz="1200" dirty="0">
                <a:solidFill>
                  <a:schemeClr val="bg2"/>
                </a:solidFill>
              </a:rPr>
              <a:t>A learned part inside CUBIC was the most reliable gain, in simulation and on real Wi-Fi.</a:t>
            </a:r>
            <a:endParaRPr lang="en-US" sz="1200" dirty="0"/>
          </a:p>
        </p:txBody>
      </p:sp>
      <p:sp>
        <p:nvSpPr>
          <p:cNvPr id="9" name="Lesson card 2"/>
          <p:cNvSpPr/>
          <p:nvPr/>
        </p:nvSpPr>
        <p:spPr>
          <a:xfrm>
            <a:off x="3264408" y="1261872"/>
            <a:ext cx="2624328" cy="1280160"/>
          </a:xfrm>
          <a:prstGeom prst="roundRect">
            <a:avLst>
              <a:gd name="adj" fmla="val 5714"/>
            </a:avLst>
          </a:prstGeom>
          <a:solidFill>
            <a:schemeClr val="accent4"/>
          </a:solidFill>
          <a:ln w="6350">
            <a:solidFill>
              <a:schemeClr val="accent4"/>
            </a:solidFill>
            <a:prstDash val="solid"/>
          </a:ln>
        </p:spPr>
      </p:sp>
      <p:sp>
        <p:nvSpPr>
          <p:cNvPr id="10" name="Text 7"/>
          <p:cNvSpPr txBox="1"/>
          <p:nvPr/>
        </p:nvSpPr>
        <p:spPr>
          <a:xfrm>
            <a:off x="3401568" y="1399032"/>
            <a:ext cx="329184" cy="32918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831336" y="1380744"/>
            <a:ext cx="1965960" cy="365760"/>
          </a:xfrm>
          <a:prstGeom prst="rect">
            <a:avLst/>
          </a:prstGeom>
          <a:noFill/>
          <a:ln/>
        </p:spPr>
        <p:txBody>
          <a:bodyPr wrap="square" lIns="0" tIns="0" rIns="0" bIns="0" rtlCol="0" anchor="ctr"/>
          <a:lstStyle/>
          <a:p>
            <a:pPr algn="l" indent="0" marL="0">
              <a:buNone/>
            </a:pPr>
            <a:r>
              <a:rPr lang="en-US" sz="1400" b="1" dirty="0">
                <a:solidFill>
                  <a:schemeClr val="bg1"/>
                </a:solidFill>
              </a:rPr>
              <a:t>Sharing needs design</a:t>
            </a:r>
            <a:endParaRPr lang="en-US" sz="1400" dirty="0"/>
          </a:p>
        </p:txBody>
      </p:sp>
      <p:sp>
        <p:nvSpPr>
          <p:cNvPr id="12" name="Text 9"/>
          <p:cNvSpPr txBox="1"/>
          <p:nvPr/>
        </p:nvSpPr>
        <p:spPr>
          <a:xfrm>
            <a:off x="3447288" y="1810512"/>
            <a:ext cx="2286000" cy="685800"/>
          </a:xfrm>
          <a:prstGeom prst="rect">
            <a:avLst/>
          </a:prstGeom>
          <a:noFill/>
          <a:ln/>
        </p:spPr>
        <p:txBody>
          <a:bodyPr wrap="square" lIns="0" tIns="0" rIns="0" bIns="0" rtlCol="0" anchor="t"/>
          <a:lstStyle/>
          <a:p>
            <a:pPr algn="l" indent="0" marL="0">
              <a:buNone/>
            </a:pPr>
            <a:r>
              <a:rPr lang="en-US" sz="1200" dirty="0">
                <a:solidFill>
                  <a:schemeClr val="bg2"/>
                </a:solidFill>
              </a:rPr>
              <a:t>More training did not stop starvation beside CUBIC; a competitive mode did.</a:t>
            </a:r>
            <a:endParaRPr lang="en-US" sz="1200" dirty="0"/>
          </a:p>
        </p:txBody>
      </p:sp>
      <p:sp>
        <p:nvSpPr>
          <p:cNvPr id="13" name="Lesson card 3"/>
          <p:cNvSpPr/>
          <p:nvPr/>
        </p:nvSpPr>
        <p:spPr>
          <a:xfrm>
            <a:off x="6071616" y="1261872"/>
            <a:ext cx="2624328" cy="1280160"/>
          </a:xfrm>
          <a:prstGeom prst="roundRect">
            <a:avLst>
              <a:gd name="adj" fmla="val 5714"/>
            </a:avLst>
          </a:prstGeom>
          <a:solidFill>
            <a:schemeClr val="accent4"/>
          </a:solidFill>
          <a:ln w="6350">
            <a:solidFill>
              <a:schemeClr val="accent4"/>
            </a:solidFill>
            <a:prstDash val="solid"/>
          </a:ln>
        </p:spPr>
      </p:sp>
      <p:sp>
        <p:nvSpPr>
          <p:cNvPr id="14" name="Text 11"/>
          <p:cNvSpPr txBox="1"/>
          <p:nvPr/>
        </p:nvSpPr>
        <p:spPr>
          <a:xfrm>
            <a:off x="6208776" y="1399032"/>
            <a:ext cx="329184" cy="32918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638544" y="1380744"/>
            <a:ext cx="1965960" cy="365760"/>
          </a:xfrm>
          <a:prstGeom prst="rect">
            <a:avLst/>
          </a:prstGeom>
          <a:noFill/>
          <a:ln/>
        </p:spPr>
        <p:txBody>
          <a:bodyPr wrap="square" lIns="0" tIns="0" rIns="0" bIns="0" rtlCol="0" anchor="ctr"/>
          <a:lstStyle/>
          <a:p>
            <a:pPr algn="l" indent="0" marL="0">
              <a:buNone/>
            </a:pPr>
            <a:r>
              <a:rPr lang="en-US" sz="1400" b="1" dirty="0">
                <a:solidFill>
                  <a:schemeClr val="bg1"/>
                </a:solidFill>
              </a:rPr>
              <a:t>Train for reality</a:t>
            </a:r>
            <a:endParaRPr lang="en-US" sz="1400" dirty="0"/>
          </a:p>
        </p:txBody>
      </p:sp>
      <p:sp>
        <p:nvSpPr>
          <p:cNvPr id="16" name="Text 13"/>
          <p:cNvSpPr txBox="1"/>
          <p:nvPr/>
        </p:nvSpPr>
        <p:spPr>
          <a:xfrm>
            <a:off x="6254496" y="1810512"/>
            <a:ext cx="2286000" cy="685800"/>
          </a:xfrm>
          <a:prstGeom prst="rect">
            <a:avLst/>
          </a:prstGeom>
          <a:noFill/>
          <a:ln/>
        </p:spPr>
        <p:txBody>
          <a:bodyPr wrap="square" lIns="0" tIns="0" rIns="0" bIns="0" rtlCol="0" anchor="t"/>
          <a:lstStyle/>
          <a:p>
            <a:pPr algn="l" indent="0" marL="0">
              <a:buNone/>
            </a:pPr>
            <a:r>
              <a:rPr lang="en-US" sz="1200" dirty="0">
                <a:solidFill>
                  <a:schemeClr val="bg2"/>
                </a:solidFill>
              </a:rPr>
              <a:t>Trained on exact RTTs, the agent failed with 2 ms of jitter.</a:t>
            </a:r>
            <a:endParaRPr lang="en-US" sz="1200" dirty="0"/>
          </a:p>
        </p:txBody>
      </p:sp>
      <p:sp>
        <p:nvSpPr>
          <p:cNvPr id="17" name="Lesson card 4"/>
          <p:cNvSpPr/>
          <p:nvPr/>
        </p:nvSpPr>
        <p:spPr>
          <a:xfrm>
            <a:off x="457200" y="2679192"/>
            <a:ext cx="2624328" cy="1280160"/>
          </a:xfrm>
          <a:prstGeom prst="roundRect">
            <a:avLst>
              <a:gd name="adj" fmla="val 5714"/>
            </a:avLst>
          </a:prstGeom>
          <a:solidFill>
            <a:schemeClr val="accent4"/>
          </a:solidFill>
          <a:ln w="6350">
            <a:solidFill>
              <a:schemeClr val="accent4"/>
            </a:solidFill>
            <a:prstDash val="solid"/>
          </a:ln>
        </p:spPr>
      </p:sp>
      <p:sp>
        <p:nvSpPr>
          <p:cNvPr id="18" name="Text 15"/>
          <p:cNvSpPr txBox="1"/>
          <p:nvPr/>
        </p:nvSpPr>
        <p:spPr>
          <a:xfrm>
            <a:off x="594360" y="2816352"/>
            <a:ext cx="329184" cy="32918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1024128" y="2798064"/>
            <a:ext cx="1965960" cy="365760"/>
          </a:xfrm>
          <a:prstGeom prst="rect">
            <a:avLst/>
          </a:prstGeom>
          <a:noFill/>
          <a:ln/>
        </p:spPr>
        <p:txBody>
          <a:bodyPr wrap="square" lIns="0" tIns="0" rIns="0" bIns="0" rtlCol="0" anchor="ctr"/>
          <a:lstStyle/>
          <a:p>
            <a:pPr algn="l" indent="0" marL="0">
              <a:buNone/>
            </a:pPr>
            <a:r>
              <a:rPr lang="en-US" sz="1400" b="1" dirty="0">
                <a:solidFill>
                  <a:schemeClr val="bg1"/>
                </a:solidFill>
              </a:rPr>
              <a:t>Measure, then replay</a:t>
            </a:r>
            <a:endParaRPr lang="en-US" sz="1400" dirty="0"/>
          </a:p>
        </p:txBody>
      </p:sp>
      <p:sp>
        <p:nvSpPr>
          <p:cNvPr id="20" name="Text 17"/>
          <p:cNvSpPr txBox="1"/>
          <p:nvPr/>
        </p:nvSpPr>
        <p:spPr>
          <a:xfrm>
            <a:off x="640080" y="3227832"/>
            <a:ext cx="2286000" cy="685800"/>
          </a:xfrm>
          <a:prstGeom prst="rect">
            <a:avLst/>
          </a:prstGeom>
          <a:noFill/>
          <a:ln/>
        </p:spPr>
        <p:txBody>
          <a:bodyPr wrap="square" lIns="0" tIns="0" rIns="0" bIns="0" rtlCol="0" anchor="t"/>
          <a:lstStyle/>
          <a:p>
            <a:pPr algn="l" indent="0" marL="0">
              <a:buNone/>
            </a:pPr>
            <a:r>
              <a:rPr lang="en-US" sz="1200" dirty="0">
                <a:solidFill>
                  <a:schemeClr val="bg2"/>
                </a:solidFill>
              </a:rPr>
              <a:t>29 min of Wi-Fi predicted real results within 1.3 Mbps, and took the agent 0.3 → 5.8 Mbps.</a:t>
            </a:r>
            <a:endParaRPr lang="en-US" sz="1200" dirty="0"/>
          </a:p>
        </p:txBody>
      </p:sp>
      <p:sp>
        <p:nvSpPr>
          <p:cNvPr id="21" name="Lesson card 5"/>
          <p:cNvSpPr/>
          <p:nvPr/>
        </p:nvSpPr>
        <p:spPr>
          <a:xfrm>
            <a:off x="3264408" y="2679192"/>
            <a:ext cx="2624328" cy="1280160"/>
          </a:xfrm>
          <a:prstGeom prst="roundRect">
            <a:avLst>
              <a:gd name="adj" fmla="val 5714"/>
            </a:avLst>
          </a:prstGeom>
          <a:solidFill>
            <a:schemeClr val="accent4"/>
          </a:solidFill>
          <a:ln w="6350">
            <a:solidFill>
              <a:schemeClr val="accent4"/>
            </a:solidFill>
            <a:prstDash val="solid"/>
          </a:ln>
        </p:spPr>
      </p:sp>
      <p:sp>
        <p:nvSpPr>
          <p:cNvPr id="22" name="Text 19"/>
          <p:cNvSpPr txBox="1"/>
          <p:nvPr/>
        </p:nvSpPr>
        <p:spPr>
          <a:xfrm>
            <a:off x="3401568" y="2816352"/>
            <a:ext cx="329184" cy="32918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 20"/>
          <p:cNvSpPr txBox="1"/>
          <p:nvPr/>
        </p:nvSpPr>
        <p:spPr>
          <a:xfrm>
            <a:off x="3831336" y="2798064"/>
            <a:ext cx="1965960" cy="365760"/>
          </a:xfrm>
          <a:prstGeom prst="rect">
            <a:avLst/>
          </a:prstGeom>
          <a:noFill/>
          <a:ln/>
        </p:spPr>
        <p:txBody>
          <a:bodyPr wrap="square" lIns="0" tIns="0" rIns="0" bIns="0" rtlCol="0" anchor="ctr"/>
          <a:lstStyle/>
          <a:p>
            <a:pPr algn="l" indent="0" marL="0">
              <a:buNone/>
            </a:pPr>
            <a:r>
              <a:rPr lang="en-US" sz="1400" b="1" dirty="0">
                <a:solidFill>
                  <a:schemeClr val="bg1"/>
                </a:solidFill>
              </a:rPr>
              <a:t>Reward what it controls</a:t>
            </a:r>
            <a:endParaRPr lang="en-US" sz="1400" dirty="0"/>
          </a:p>
        </p:txBody>
      </p:sp>
      <p:sp>
        <p:nvSpPr>
          <p:cNvPr id="24" name="Text 21"/>
          <p:cNvSpPr txBox="1"/>
          <p:nvPr/>
        </p:nvSpPr>
        <p:spPr>
          <a:xfrm>
            <a:off x="3447288" y="3227832"/>
            <a:ext cx="2286000" cy="685800"/>
          </a:xfrm>
          <a:prstGeom prst="rect">
            <a:avLst/>
          </a:prstGeom>
          <a:noFill/>
          <a:ln/>
        </p:spPr>
        <p:txBody>
          <a:bodyPr wrap="square" lIns="0" tIns="0" rIns="0" bIns="0" rtlCol="0" anchor="t"/>
          <a:lstStyle/>
          <a:p>
            <a:pPr algn="l" indent="0" marL="0">
              <a:buNone/>
            </a:pPr>
            <a:r>
              <a:rPr lang="en-US" sz="1200" dirty="0">
                <a:solidFill>
                  <a:schemeClr val="bg2"/>
                </a:solidFill>
              </a:rPr>
              <a:t>Counting only its own queue raised the agent from 42% to 60%.</a:t>
            </a:r>
            <a:endParaRPr lang="en-US" sz="1200" dirty="0"/>
          </a:p>
        </p:txBody>
      </p:sp>
      <p:sp>
        <p:nvSpPr>
          <p:cNvPr id="25" name="Lesson card 6"/>
          <p:cNvSpPr/>
          <p:nvPr/>
        </p:nvSpPr>
        <p:spPr>
          <a:xfrm>
            <a:off x="6071616" y="2679192"/>
            <a:ext cx="2624328" cy="1280160"/>
          </a:xfrm>
          <a:prstGeom prst="roundRect">
            <a:avLst>
              <a:gd name="adj" fmla="val 5714"/>
            </a:avLst>
          </a:prstGeom>
          <a:solidFill>
            <a:schemeClr val="accent4"/>
          </a:solidFill>
          <a:ln w="6350">
            <a:solidFill>
              <a:schemeClr val="accent4"/>
            </a:solidFill>
            <a:prstDash val="solid"/>
          </a:ln>
        </p:spPr>
      </p:sp>
      <p:sp>
        <p:nvSpPr>
          <p:cNvPr id="26" name="Text 23"/>
          <p:cNvSpPr txBox="1"/>
          <p:nvPr/>
        </p:nvSpPr>
        <p:spPr>
          <a:xfrm>
            <a:off x="6208776" y="2816352"/>
            <a:ext cx="329184" cy="32918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Text 24"/>
          <p:cNvSpPr txBox="1"/>
          <p:nvPr/>
        </p:nvSpPr>
        <p:spPr>
          <a:xfrm>
            <a:off x="6638544" y="2798064"/>
            <a:ext cx="1965960" cy="365760"/>
          </a:xfrm>
          <a:prstGeom prst="rect">
            <a:avLst/>
          </a:prstGeom>
          <a:noFill/>
          <a:ln/>
        </p:spPr>
        <p:txBody>
          <a:bodyPr wrap="square" lIns="0" tIns="0" rIns="0" bIns="0" rtlCol="0" anchor="ctr"/>
          <a:lstStyle/>
          <a:p>
            <a:pPr algn="l" indent="0" marL="0">
              <a:buNone/>
            </a:pPr>
            <a:r>
              <a:rPr lang="en-US" sz="1400" b="1" dirty="0">
                <a:solidFill>
                  <a:schemeClr val="bg1"/>
                </a:solidFill>
              </a:rPr>
              <a:t>Test on the real thing</a:t>
            </a:r>
            <a:endParaRPr lang="en-US" sz="1400" dirty="0"/>
          </a:p>
        </p:txBody>
      </p:sp>
      <p:sp>
        <p:nvSpPr>
          <p:cNvPr id="28" name="Text 25"/>
          <p:cNvSpPr txBox="1"/>
          <p:nvPr/>
        </p:nvSpPr>
        <p:spPr>
          <a:xfrm>
            <a:off x="6254496" y="3227832"/>
            <a:ext cx="2286000" cy="685800"/>
          </a:xfrm>
          <a:prstGeom prst="rect">
            <a:avLst/>
          </a:prstGeom>
          <a:noFill/>
          <a:ln/>
        </p:spPr>
        <p:txBody>
          <a:bodyPr wrap="square" lIns="0" tIns="0" rIns="0" bIns="0" rtlCol="0" anchor="t"/>
          <a:lstStyle/>
          <a:p>
            <a:pPr algn="l" indent="0" marL="0">
              <a:buNone/>
            </a:pPr>
            <a:r>
              <a:rPr lang="en-US" sz="1200" dirty="0">
                <a:solidFill>
                  <a:schemeClr val="bg2"/>
                </a:solidFill>
              </a:rPr>
              <a:t>The simulator ranked the agent first; real Wi-Fi did not.</a:t>
            </a:r>
            <a:endParaRPr lang="en-US" sz="1200" dirty="0"/>
          </a:p>
        </p:txBody>
      </p:sp>
      <p:sp>
        <p:nvSpPr>
          <p:cNvPr id="29" name="Text 26"/>
          <p:cNvSpPr txBox="1"/>
          <p:nvPr/>
        </p:nvSpPr>
        <p:spPr>
          <a:xfrm>
            <a:off x="457200" y="4160520"/>
            <a:ext cx="8229600" cy="457200"/>
          </a:xfrm>
          <a:prstGeom prst="rect">
            <a:avLst/>
          </a:prstGeom>
          <a:noFill/>
          <a:ln/>
        </p:spPr>
        <p:txBody>
          <a:bodyPr wrap="square" lIns="0" tIns="0" rIns="0" bIns="0" rtlCol="0" anchor="t"/>
          <a:lstStyle/>
          <a:p>
            <a:pPr algn="l" indent="0" marL="0">
              <a:buNone/>
            </a:pPr>
            <a:r>
              <a:rPr lang="en-US" sz="1400" b="1" dirty="0">
                <a:solidFill>
                  <a:schemeClr val="accent2"/>
                </a:solidFill>
              </a:rPr>
              <a:t>Learned components can fix both weaknesses; learned rate control still needs real data, the right reward and a mechanism for sharing.</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algn="l" indent="0" marL="0">
              <a:buNone/>
            </a:pPr>
            <a:r>
              <a:rPr lang="en-US" sz="1100" b="1" spc="200" kern="0" dirty="0">
                <a:solidFill>
                  <a:schemeClr val="accent1"/>
                </a:solidFill>
              </a:rPr>
              <a:t>CONCLUSION</a:t>
            </a:r>
            <a:endParaRPr lang="en-US" sz="1100" dirty="0"/>
          </a:p>
        </p:txBody>
      </p:sp>
      <p:sp>
        <p:nvSpPr>
          <p:cNvPr id="3" name="Text 0"/>
          <p:cNvSpPr/>
          <p:nvPr>
            <p:ph idx="101" type="title" hasCustomPrompt="1"/>
          </p:nvPr>
        </p:nvSpPr>
        <p:spPr>
          <a:xfrm>
            <a:off x="457200" y="530352"/>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Key references</a:t>
            </a:r>
            <a:endParaRPr lang="en-US" sz="3600" dirty="0"/>
          </a:p>
        </p:txBody>
      </p:sp>
      <p:sp>
        <p:nvSpPr>
          <p:cNvPr id="5" name="Text 2"/>
          <p:cNvSpPr txBox="1"/>
          <p:nvPr/>
        </p:nvSpPr>
        <p:spPr>
          <a:xfrm>
            <a:off x="457200" y="1371600"/>
            <a:ext cx="4023360" cy="32004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Jacobson. Congestion avoidance and control. SIGCOMM 1988</a:t>
            </a:r>
            <a:endParaRPr lang="en-US" sz="1400" dirty="0"/>
          </a:p>
          <a:p>
            <a:pPr algn="l" marL="342900" indent="-342900">
              <a:spcAft>
                <a:spcPts val="600"/>
              </a:spcAft>
              <a:buSzPct val="100000"/>
              <a:buChar char="•"/>
            </a:pPr>
            <a:r>
              <a:rPr lang="en-US" sz="1400" dirty="0">
                <a:solidFill>
                  <a:schemeClr val="tx1"/>
                </a:solidFill>
              </a:rPr>
              <a:t>Mathis et al. Macroscopic behavior of TCP congestion avoidance. CCR 1997</a:t>
            </a:r>
            <a:endParaRPr lang="en-US" sz="1400" dirty="0"/>
          </a:p>
          <a:p>
            <a:pPr algn="l" marL="342900" indent="-342900">
              <a:spcAft>
                <a:spcPts val="600"/>
              </a:spcAft>
              <a:buSzPct val="100000"/>
              <a:buChar char="•"/>
            </a:pPr>
            <a:r>
              <a:rPr lang="en-US" sz="1400" dirty="0">
                <a:solidFill>
                  <a:schemeClr val="tx1"/>
                </a:solidFill>
              </a:rPr>
              <a:t>Ha, Rhee, Xu. CUBIC. ACM SIGOPS OSR 2008</a:t>
            </a:r>
            <a:endParaRPr lang="en-US" sz="1400" dirty="0"/>
          </a:p>
          <a:p>
            <a:pPr algn="l" marL="342900" indent="-342900">
              <a:spcAft>
                <a:spcPts val="600"/>
              </a:spcAft>
              <a:buSzPct val="100000"/>
              <a:buChar char="•"/>
            </a:pPr>
            <a:r>
              <a:rPr lang="en-US" sz="1400" dirty="0">
                <a:solidFill>
                  <a:schemeClr val="tx1"/>
                </a:solidFill>
              </a:rPr>
              <a:t>Winstein, Balakrishnan. TCP ex Machina (Remy). SIGCOMM 2013</a:t>
            </a:r>
            <a:endParaRPr lang="en-US" sz="1400" dirty="0"/>
          </a:p>
          <a:p>
            <a:pPr algn="l" marL="342900" indent="-342900">
              <a:spcAft>
                <a:spcPts val="600"/>
              </a:spcAft>
              <a:buSzPct val="100000"/>
              <a:buChar char="•"/>
            </a:pPr>
            <a:r>
              <a:rPr lang="en-US" sz="1400" dirty="0">
                <a:solidFill>
                  <a:schemeClr val="tx1"/>
                </a:solidFill>
              </a:rPr>
              <a:t>Cardwell et al. BBR. ACM Queue 2016</a:t>
            </a:r>
            <a:endParaRPr lang="en-US" sz="1400" dirty="0"/>
          </a:p>
          <a:p>
            <a:pPr algn="l" marL="342900" indent="-342900">
              <a:spcAft>
                <a:spcPts val="600"/>
              </a:spcAft>
              <a:buSzPct val="100000"/>
              <a:buChar char="•"/>
            </a:pPr>
            <a:r>
              <a:rPr lang="en-US" sz="1400" dirty="0">
                <a:solidFill>
                  <a:schemeClr val="tx1"/>
                </a:solidFill>
              </a:rPr>
              <a:t>Schulman et al. Proximal policy optimization. arXiv 2017</a:t>
            </a:r>
            <a:endParaRPr lang="en-US" sz="1400" dirty="0"/>
          </a:p>
        </p:txBody>
      </p:sp>
      <p:sp>
        <p:nvSpPr>
          <p:cNvPr id="6" name="Text 3"/>
          <p:cNvSpPr txBox="1"/>
          <p:nvPr/>
        </p:nvSpPr>
        <p:spPr>
          <a:xfrm>
            <a:off x="4663440" y="1371600"/>
            <a:ext cx="4023360" cy="32004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Arun, Balakrishnan. Copa. NSDI 2018</a:t>
            </a:r>
            <a:endParaRPr lang="en-US" sz="1400" dirty="0"/>
          </a:p>
          <a:p>
            <a:pPr algn="l" marL="342900" indent="-342900">
              <a:spcAft>
                <a:spcPts val="600"/>
              </a:spcAft>
              <a:buSzPct val="100000"/>
              <a:buChar char="•"/>
            </a:pPr>
            <a:r>
              <a:rPr lang="en-US" sz="1400" dirty="0">
                <a:solidFill>
                  <a:schemeClr val="tx1"/>
                </a:solidFill>
              </a:rPr>
              <a:t>Dong et al. PCC Vivace. NSDI 2018</a:t>
            </a:r>
            <a:endParaRPr lang="en-US" sz="1400" dirty="0"/>
          </a:p>
          <a:p>
            <a:pPr algn="l" marL="342900" indent="-342900">
              <a:spcAft>
                <a:spcPts val="600"/>
              </a:spcAft>
              <a:buSzPct val="100000"/>
              <a:buChar char="•"/>
            </a:pPr>
            <a:r>
              <a:rPr lang="en-US" sz="1400" dirty="0">
                <a:solidFill>
                  <a:schemeClr val="tx1"/>
                </a:solidFill>
              </a:rPr>
              <a:t>Jay et al. Aurora: deep RL for congestion control. ICML 2019</a:t>
            </a:r>
            <a:endParaRPr lang="en-US" sz="1400" dirty="0"/>
          </a:p>
          <a:p>
            <a:pPr algn="l" marL="342900" indent="-342900">
              <a:spcAft>
                <a:spcPts val="600"/>
              </a:spcAft>
              <a:buSzPct val="100000"/>
              <a:buChar char="•"/>
            </a:pPr>
            <a:r>
              <a:rPr lang="en-US" sz="1400" dirty="0">
                <a:solidFill>
                  <a:schemeClr val="tx1"/>
                </a:solidFill>
              </a:rPr>
              <a:t>Abbasloo, Yen, Chao. Orca. SIGCOMM 2020</a:t>
            </a:r>
            <a:endParaRPr lang="en-US" sz="1400" dirty="0"/>
          </a:p>
          <a:p>
            <a:pPr algn="l" marL="342900" indent="-342900">
              <a:spcAft>
                <a:spcPts val="600"/>
              </a:spcAft>
              <a:buSzPct val="100000"/>
              <a:buChar char="•"/>
            </a:pPr>
            <a:r>
              <a:rPr lang="en-US" sz="1400" dirty="0">
                <a:solidFill>
                  <a:schemeClr val="tx1"/>
                </a:solidFill>
              </a:rPr>
              <a:t>Yen, Abbasloo, Chao. Sage. SIGCOMM 2023</a:t>
            </a:r>
            <a:endParaRPr lang="en-US" sz="1400" dirty="0"/>
          </a:p>
          <a:p>
            <a:pPr algn="l" marL="342900" indent="-342900">
              <a:spcAft>
                <a:spcPts val="600"/>
              </a:spcAft>
              <a:buSzPct val="100000"/>
              <a:buChar char="•"/>
            </a:pPr>
            <a:r>
              <a:rPr lang="en-US" sz="1400" dirty="0">
                <a:solidFill>
                  <a:schemeClr val="tx1"/>
                </a:solidFill>
              </a:rPr>
              <a:t>Liao et al. Astraea. EuroSys 2024</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Queue packet 1"/>
          <p:cNvSpPr/>
          <p:nvPr/>
        </p:nvSpPr>
        <p:spPr>
          <a:xfrm>
            <a:off x="548640" y="868680"/>
            <a:ext cx="201168" cy="201168"/>
          </a:xfrm>
          <a:prstGeom prst="roundRect">
            <a:avLst>
              <a:gd name="adj" fmla="val 18182"/>
            </a:avLst>
          </a:prstGeom>
          <a:solidFill>
            <a:schemeClr val="accent1"/>
          </a:solidFill>
          <a:ln w="6350">
            <a:solidFill>
              <a:schemeClr val="accent1"/>
            </a:solidFill>
            <a:prstDash val="solid"/>
          </a:ln>
        </p:spPr>
      </p:sp>
      <p:sp>
        <p:nvSpPr>
          <p:cNvPr id="3" name="Queue packet 2"/>
          <p:cNvSpPr/>
          <p:nvPr/>
        </p:nvSpPr>
        <p:spPr>
          <a:xfrm>
            <a:off x="822960" y="868680"/>
            <a:ext cx="201168" cy="201168"/>
          </a:xfrm>
          <a:prstGeom prst="roundRect">
            <a:avLst>
              <a:gd name="adj" fmla="val 18182"/>
            </a:avLst>
          </a:prstGeom>
          <a:solidFill>
            <a:schemeClr val="accent1"/>
          </a:solidFill>
          <a:ln w="6350">
            <a:solidFill>
              <a:schemeClr val="accent1"/>
            </a:solidFill>
            <a:prstDash val="solid"/>
          </a:ln>
        </p:spPr>
      </p:sp>
      <p:sp>
        <p:nvSpPr>
          <p:cNvPr id="4" name="Queue packet 3"/>
          <p:cNvSpPr/>
          <p:nvPr/>
        </p:nvSpPr>
        <p:spPr>
          <a:xfrm>
            <a:off x="1097280" y="868680"/>
            <a:ext cx="201168" cy="201168"/>
          </a:xfrm>
          <a:prstGeom prst="roundRect">
            <a:avLst>
              <a:gd name="adj" fmla="val 18182"/>
            </a:avLst>
          </a:prstGeom>
          <a:solidFill>
            <a:schemeClr val="accent1"/>
          </a:solidFill>
          <a:ln w="6350">
            <a:solidFill>
              <a:schemeClr val="accent1"/>
            </a:solidFill>
            <a:prstDash val="solid"/>
          </a:ln>
        </p:spPr>
      </p:sp>
      <p:sp>
        <p:nvSpPr>
          <p:cNvPr id="5" name="Queue packet 4"/>
          <p:cNvSpPr/>
          <p:nvPr/>
        </p:nvSpPr>
        <p:spPr>
          <a:xfrm>
            <a:off x="1371600" y="868680"/>
            <a:ext cx="201168" cy="201168"/>
          </a:xfrm>
          <a:prstGeom prst="roundRect">
            <a:avLst>
              <a:gd name="adj" fmla="val 18182"/>
            </a:avLst>
          </a:prstGeom>
          <a:solidFill>
            <a:schemeClr val="accent1"/>
          </a:solidFill>
          <a:ln w="6350">
            <a:solidFill>
              <a:schemeClr val="accent1"/>
            </a:solidFill>
            <a:prstDash val="solid"/>
          </a:ln>
        </p:spPr>
      </p:sp>
      <p:sp>
        <p:nvSpPr>
          <p:cNvPr id="6" name="Queue packet 5"/>
          <p:cNvSpPr/>
          <p:nvPr/>
        </p:nvSpPr>
        <p:spPr>
          <a:xfrm>
            <a:off x="1645920" y="868680"/>
            <a:ext cx="201168" cy="201168"/>
          </a:xfrm>
          <a:prstGeom prst="roundRect">
            <a:avLst>
              <a:gd name="adj" fmla="val 18182"/>
            </a:avLst>
          </a:prstGeom>
          <a:solidFill>
            <a:schemeClr val="accent2"/>
          </a:solidFill>
          <a:ln w="6350">
            <a:solidFill>
              <a:schemeClr val="accent2"/>
            </a:solidFill>
            <a:prstDash val="solid"/>
          </a:ln>
        </p:spPr>
      </p:sp>
      <p:sp>
        <p:nvSpPr>
          <p:cNvPr id="7" name="Queue packet 6"/>
          <p:cNvSpPr/>
          <p:nvPr/>
        </p:nvSpPr>
        <p:spPr>
          <a:xfrm>
            <a:off x="1920240" y="868680"/>
            <a:ext cx="201168" cy="201168"/>
          </a:xfrm>
          <a:prstGeom prst="roundRect">
            <a:avLst>
              <a:gd name="adj" fmla="val 18182"/>
            </a:avLst>
          </a:prstGeom>
          <a:solidFill>
            <a:schemeClr val="accent2"/>
          </a:solidFill>
          <a:ln w="6350">
            <a:solidFill>
              <a:schemeClr val="accent2"/>
            </a:solidFill>
            <a:prstDash val="solid"/>
          </a:ln>
        </p:spPr>
      </p:sp>
      <p:sp>
        <p:nvSpPr>
          <p:cNvPr id="8" name="Text 0"/>
          <p:cNvSpPr/>
          <p:nvPr>
            <p:ph idx="100" type="title" hasCustomPrompt="1"/>
          </p:nvPr>
        </p:nvSpPr>
        <p:spPr>
          <a:xfrm>
            <a:off x="548640" y="1417320"/>
            <a:ext cx="8046720" cy="1371600"/>
          </a:xfrm>
          <a:prstGeom prst="rect">
            <a:avLst/>
          </a:prstGeom>
          <a:noFill/>
          <a:ln/>
        </p:spPr>
        <p:txBody>
          <a:bodyPr wrap="square" lIns="0" tIns="0" rIns="0" bIns="0" rtlCol="0" anchor="t"/>
          <a:lstStyle/>
          <a:p>
            <a:pPr algn="l" indent="0" marL="0">
              <a:buNone/>
            </a:pPr>
            <a:r>
              <a:rPr lang="en-US" sz="4400" b="1" dirty="0">
                <a:solidFill>
                  <a:schemeClr val="bg1"/>
                </a:solidFill>
              </a:rPr>
              <a:t>Thank you</a:t>
            </a:r>
            <a:endParaRPr lang="en-US" sz="4400" dirty="0"/>
          </a:p>
        </p:txBody>
      </p:sp>
      <p:sp>
        <p:nvSpPr>
          <p:cNvPr id="9" name="Text 0"/>
          <p:cNvSpPr/>
          <p:nvPr>
            <p:ph idx="101" type="body" hasCustomPrompt="1"/>
          </p:nvPr>
        </p:nvSpPr>
        <p:spPr>
          <a:xfrm>
            <a:off x="548640" y="2880360"/>
            <a:ext cx="7498080" cy="822960"/>
          </a:xfrm>
          <a:prstGeom prst="rect">
            <a:avLst/>
          </a:prstGeom>
          <a:noFill/>
          <a:ln/>
        </p:spPr>
        <p:txBody>
          <a:bodyPr wrap="square" lIns="0" tIns="0" rIns="0" bIns="0" rtlCol="0" anchor="t"/>
          <a:lstStyle/>
          <a:p>
            <a:pPr algn="l" indent="0" marL="0">
              <a:buNone/>
            </a:pPr>
            <a:r>
              <a:rPr lang="en-US" sz="2000" dirty="0">
                <a:solidFill>
                  <a:schemeClr val="bg2"/>
                </a:solidFill>
              </a:rPr>
              <a:t>Questions, and a live demo in the dashboard</a:t>
            </a:r>
            <a:endParaRPr lang="en-US" sz="2000" dirty="0"/>
          </a:p>
        </p:txBody>
      </p:sp>
    </p:spTree>
  </p:cSld>
  <p:clrMapOvr>
    <a:masterClrMapping/>
  </p:clrMapOvr>
</p:sld>
</file>

<file path=ppt/theme/theme1.xml><?xml version="1.0" encoding="utf-8"?>
<a:theme xmlns:a="http://schemas.openxmlformats.org/drawingml/2006/main" name="Congestion Control">
  <a:themeElements>
    <a:clrScheme name="Congestion Control">
      <a:dk1>
        <a:srgbClr val="14213D"/>
      </a:dk1>
      <a:lt1>
        <a:srgbClr val="FCFCFB"/>
      </a:lt1>
      <a:dk2>
        <a:srgbClr val="4A5568"/>
      </a:dk2>
      <a:lt2>
        <a:srgbClr val="EEF1F6"/>
      </a:lt2>
      <a:accent1>
        <a:srgbClr val="0F766E"/>
      </a:accent1>
      <a:accent2>
        <a:srgbClr val="F2A900"/>
      </a:accent2>
      <a:accent3>
        <a:srgbClr val="C2410C"/>
      </a:accent3>
      <a:accent4>
        <a:srgbClr val="1E2D4F"/>
      </a:accent4>
      <a:accent5>
        <a:srgbClr val="9AA5B1"/>
      </a:accent5>
      <a:accent6>
        <a:srgbClr val="2A78D6"/>
      </a:accent6>
      <a:hlink>
        <a:srgbClr val="0F766E"/>
      </a:hlink>
      <a:folHlink>
        <a:srgbClr val="4A5568"/>
      </a:folHlink>
    </a:clrScheme>
    <a:fontScheme name="Congestion Contr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Congestion Control using ML/DL</dc:title>
  <dc:subject>Project presentation</dc:subject>
  <dc:creator/>
  <cp:lastModifiedBy/>
  <cp:revision>1</cp:revision>
  <dcterms:created xsi:type="dcterms:W3CDTF">2026-10-16T19:21:39Z</dcterms:created>
  <dcterms:modified xsi:type="dcterms:W3CDTF">2026-10-16T19:21:39Z</dcterms:modified>
</cp:coreProperties>
</file>